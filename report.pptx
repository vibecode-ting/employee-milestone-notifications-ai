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9144000" cy="5143500"/>
  <p:notesSz cx="6858000" cy="9144000"/>
  <p:embeddedFontLst>
    <p:embeddedFont>
      <p:font typeface="Google Sans Flex SemiBold"/>
      <p:regular r:id="rId18"/>
    </p:embeddedFont>
    <p:embeddedFont>
      <p:font typeface="Google Sans Flex Medium"/>
      <p:regular r:id="rId19"/>
    </p:embeddedFont>
    <p:embeddedFont>
      <p:font typeface="Google Sans Flex"/>
      <p:regular r:id="rId20"/>
      <p:bold r:id="rId21"/>
      <p:italic r:id="rId21"/>
    </p:embeddedFont>
    <p:embeddedFont>
      <p:font typeface="Noto Sans SC"/>
      <p:regular r:id="rId22"/>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font" Target="fonts/Font_1_Google_Sans_Flex_SemiBold_Regular.fntdata"/><Relationship Id="rId19" Type="http://schemas.openxmlformats.org/officeDocument/2006/relationships/font" Target="fonts/Font_2_Google_Sans_Flex_Medium_Regular.fntdata"/><Relationship Id="rId20" Type="http://schemas.openxmlformats.org/officeDocument/2006/relationships/font" Target="fonts/Font_3_Google_Sans_Flex_Regular.fntdata"/><Relationship Id="rId21" Type="http://schemas.openxmlformats.org/officeDocument/2006/relationships/font" Target="fonts/Font_4_Google_Sans_Flex_Bold.fntdata"/><Relationship Id="rId22" Type="http://schemas.openxmlformats.org/officeDocument/2006/relationships/font" Target="fonts/Font_5_Noto_Sans_SC_Regular.fntdata"/><Relationship Id="rId23"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bg>
      <p:bgPr>
        <a:solidFill>
          <a:schemeClr val="lt1"/>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311760" y="744480"/>
            <a:ext cx="8520120" cy="2052360"/>
          </a:xfrm>
          <a:prstGeom prst="rect">
            <a:avLst/>
          </a:prstGeom>
          <a:noFill/>
          <a:ln w="0">
            <a:noFill/>
          </a:ln>
        </p:spPr>
        <p:txBody>
          <a:bodyPr lIns="91440" tIns="91440" rIns="91440" bIns="91440" anchor="b">
            <a:normAutofit/>
          </a:bodyPr>
          <a:lstStyle>
            <a:lvl1pPr indent="0" algn="l">
              <a:buNone/>
              <a:defRPr lang="en-GB" sz="5200" b="0" u="none" strike="noStrike">
                <a:solidFill>
                  <a:srgbClr val="000000"/>
                </a:solidFill>
                <a:effectLst/>
                <a:uFillTx/>
                <a:latin typeface="Arial"/>
              </a:defRPr>
            </a:lvl1pPr>
          </a:lstStyle>
          <a:p>
            <a:pPr indent="0" algn="l">
              <a:buNone/>
            </a:pPr>
            <a:r>
              <a:rPr lang="en-GB" sz="5200" b="0" u="none" strike="noStrike">
                <a:solidFill>
                  <a:srgbClr val="000000"/>
                </a:solidFill>
                <a:effectLst/>
                <a:uFillTx/>
                <a:latin typeface="Arial"/>
              </a:rPr>
              <a:t>Click to edit the title text format</a:t>
            </a:r>
            <a:endParaRPr lang="en-GB" sz="5200" b="0" u="none" strike="noStrike">
              <a:solidFill>
                <a:srgbClr val="000000"/>
              </a:solidFill>
              <a:effectLst/>
              <a:uFillTx/>
              <a:latin typeface="Arial"/>
            </a:endParaRPr>
          </a:p>
        </p:txBody>
      </p:sp>
      <p:sp>
        <p:nvSpPr>
          <p:cNvPr id="3" name="PlaceHolder 2"/>
          <p:cNvSpPr>
            <a:spLocks noGrp="1"/>
          </p:cNvSpPr>
          <p:nvPr>
            <p:ph type="sldNum" idx="1"/>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0C6CD2D9-2AD7-4EC9-85D0-1F5B05C7686A}"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
        <p:nvSpPr>
          <p:cNvPr id="4"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GB" sz="14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GB" sz="14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GB" sz="1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GB" sz="14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GB"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GB"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GB"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endParaRPr lang="en-GB"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endParaRPr lang="en-GB"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endParaRPr lang="en-GB"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IG_NUMBER">
    <p:bg>
      <p:bgPr>
        <a:solidFill>
          <a:schemeClr val="lt1"/>
        </a:solidFill>
      </p:bgPr>
    </p:bg>
    <p:spTree>
      <p:nvGrpSpPr>
        <p:cNvPr id="1" name=""/>
        <p:cNvGrpSpPr/>
        <p:nvPr/>
      </p:nvGrpSpPr>
      <p:grpSpPr>
        <a:xfrm>
          <a:off x="0" y="0"/>
          <a:ext cx="0" cy="0"/>
          <a:chOff x="0" y="0"/>
          <a:chExt cx="0" cy="0"/>
        </a:xfrm>
      </p:grpSpPr>
      <p:sp>
        <p:nvSpPr>
          <p:cNvPr id="5" name="PlaceHolder 1"/>
          <p:cNvSpPr>
            <a:spLocks noGrp="1"/>
          </p:cNvSpPr>
          <p:nvPr>
            <p:ph type="title" hasCustomPrompt="1"/>
          </p:nvPr>
        </p:nvSpPr>
        <p:spPr>
          <a:xfrm>
            <a:off x="311760" y="1106280"/>
            <a:ext cx="8520120" cy="1963080"/>
          </a:xfrm>
          <a:prstGeom prst="rect">
            <a:avLst/>
          </a:prstGeom>
          <a:noFill/>
          <a:ln w="0">
            <a:noFill/>
          </a:ln>
        </p:spPr>
        <p:txBody>
          <a:bodyPr lIns="91440" tIns="91440" rIns="91440" bIns="91440" anchor="b">
            <a:normAutofit lnSpcReduction="9999"/>
          </a:bodyPr>
          <a:lstStyle>
            <a:lvl1pPr indent="0" algn="ctr">
              <a:lnSpc>
                <a:spcPct val="100000"/>
              </a:lnSpc>
              <a:buNone/>
              <a:defRPr lang="en-GB" sz="12000" b="0" u="none" strike="noStrike">
                <a:solidFill>
                  <a:schemeClr val="dk1"/>
                </a:solidFill>
                <a:effectLst/>
                <a:uFillTx/>
                <a:latin typeface="Arial"/>
                <a:ea typeface="Arial"/>
              </a:defRPr>
            </a:lvl1pPr>
          </a:lstStyle>
          <a:p>
            <a:pPr indent="0" algn="ctr">
              <a:lnSpc>
                <a:spcPct val="100000"/>
              </a:lnSpc>
              <a:buNone/>
            </a:pPr>
            <a:r>
              <a:rPr lang="en-GB" sz="12000" b="0" u="none" strike="noStrike">
                <a:solidFill>
                  <a:schemeClr val="dk1"/>
                </a:solidFill>
                <a:effectLst/>
                <a:uFillTx/>
                <a:latin typeface="Arial"/>
                <a:ea typeface="Arial"/>
              </a:rPr>
              <a:t>xx%</a:t>
            </a:r>
            <a:endParaRPr lang="en-GB" sz="12000" b="0" u="none" strike="noStrike">
              <a:solidFill>
                <a:schemeClr val="dk1"/>
              </a:solidFill>
              <a:effectLst/>
              <a:uFillTx/>
              <a:latin typeface="Arial"/>
            </a:endParaRPr>
          </a:p>
        </p:txBody>
      </p:sp>
      <p:sp>
        <p:nvSpPr>
          <p:cNvPr id="6" name="PlaceHolder 2"/>
          <p:cNvSpPr>
            <a:spLocks noGrp="1"/>
          </p:cNvSpPr>
          <p:nvPr>
            <p:ph type="body"/>
          </p:nvPr>
        </p:nvSpPr>
        <p:spPr>
          <a:xfrm>
            <a:off x="311760" y="3152160"/>
            <a:ext cx="8520120" cy="1300320"/>
          </a:xfrm>
          <a:prstGeom prst="rect">
            <a:avLst/>
          </a:prstGeom>
          <a:noFill/>
          <a:ln w="0">
            <a:noFill/>
          </a:ln>
        </p:spPr>
        <p:txBody>
          <a:bodyPr lIns="91440" tIns="91440" rIns="91440" bIns="91440" anchor="t">
            <a:normAutofit fontScale="47500" lnSpcReduction="19999"/>
          </a:bodyPr>
          <a:lstStyle>
            <a:lvl1pPr algn="l">
              <a:spcBef>
                <a:spcPts val="1417"/>
              </a:spcBef>
              <a:buClr>
                <a:srgbClr val="000000"/>
              </a:buClr>
              <a:buSzPct val="45000"/>
              <a:buFont typeface="Wingdings" charset="2"/>
              <a:buChar char=""/>
              <a:defRPr lang="en-GB"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GB"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GB"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GB"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GB"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GB"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GB" sz="1800" b="0" u="none" strike="noStrike">
                <a:solidFill>
                  <a:srgbClr val="000000"/>
                </a:solidFill>
                <a:effectLst/>
                <a:uFillTx/>
                <a:latin typeface="Arial"/>
              </a:defRPr>
            </a:lvl7pPr>
          </a:lstStyle>
          <a:p>
            <a:pPr marL="457200" indent="-343080" algn="l">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371600" lvl="2" indent="-317520" algn="l">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828800" lvl="3" indent="-317520" algn="l">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286000" lvl="4"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743200" lvl="5"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200400" lvl="6"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7" name="PlaceHolder 3"/>
          <p:cNvSpPr>
            <a:spLocks noGrp="1"/>
          </p:cNvSpPr>
          <p:nvPr>
            <p:ph type="sldNum" idx="2"/>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8F596AC9-599A-451D-9DD1-A95BF526D623}"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chemeClr val="lt1"/>
        </a:solidFill>
      </p:bgPr>
    </p:bg>
    <p:spTree>
      <p:nvGrpSpPr>
        <p:cNvPr id="1" name=""/>
        <p:cNvGrpSpPr/>
        <p:nvPr/>
      </p:nvGrpSpPr>
      <p:grpSpPr>
        <a:xfrm>
          <a:off x="0" y="0"/>
          <a:ext cx="0" cy="0"/>
          <a:chOff x="0" y="0"/>
          <a:chExt cx="0" cy="0"/>
        </a:xfrm>
      </p:grpSpPr>
      <p:sp>
        <p:nvSpPr>
          <p:cNvPr id="8" name="PlaceHolder 1"/>
          <p:cNvSpPr>
            <a:spLocks noGrp="1"/>
          </p:cNvSpPr>
          <p:nvPr>
            <p:ph type="sldNum" idx="3"/>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A52BB094-9CAC-474D-8CEC-1BEC39240F12}"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bg>
      <p:bgPr>
        <a:solidFill>
          <a:schemeClr val="lt1"/>
        </a:solidFill>
      </p:bgPr>
    </p:bg>
    <p:spTree>
      <p:nvGrpSpPr>
        <p:cNvPr id="1" name=""/>
        <p:cNvGrpSpPr/>
        <p:nvPr/>
      </p:nvGrpSpPr>
      <p:grpSpPr>
        <a:xfrm>
          <a:off x="0" y="0"/>
          <a:ext cx="0" cy="0"/>
          <a:chOff x="0" y="0"/>
          <a:chExt cx="0" cy="0"/>
        </a:xfrm>
      </p:grpSpPr>
      <p:sp>
        <p:nvSpPr>
          <p:cNvPr id="9" name="PlaceHolder 1"/>
          <p:cNvSpPr>
            <a:spLocks noGrp="1"/>
          </p:cNvSpPr>
          <p:nvPr>
            <p:ph type="title"/>
          </p:nvPr>
        </p:nvSpPr>
        <p:spPr>
          <a:xfrm>
            <a:off x="311760" y="2151000"/>
            <a:ext cx="8520120" cy="841320"/>
          </a:xfrm>
          <a:prstGeom prst="rect">
            <a:avLst/>
          </a:prstGeom>
          <a:noFill/>
          <a:ln w="0">
            <a:noFill/>
          </a:ln>
        </p:spPr>
        <p:txBody>
          <a:bodyPr lIns="91440" tIns="91440" rIns="91440" bIns="91440" anchor="ctr">
            <a:normAutofit/>
          </a:bodyPr>
          <a:lstStyle>
            <a:lvl1pPr indent="0" algn="l">
              <a:buNone/>
              <a:defRPr lang="en-GB" sz="3600" b="0" u="none" strike="noStrike">
                <a:solidFill>
                  <a:srgbClr val="000000"/>
                </a:solidFill>
                <a:effectLst/>
                <a:uFillTx/>
                <a:latin typeface="Arial"/>
              </a:defRPr>
            </a:lvl1pPr>
          </a:lstStyle>
          <a:p>
            <a:pPr indent="0" algn="l">
              <a:buNone/>
            </a:pPr>
            <a:r>
              <a:rPr lang="en-GB" sz="3600" b="0" u="none" strike="noStrike">
                <a:solidFill>
                  <a:srgbClr val="000000"/>
                </a:solidFill>
                <a:effectLst/>
                <a:uFillTx/>
                <a:latin typeface="Arial"/>
              </a:rPr>
              <a:t>Click to edit the title text format</a:t>
            </a:r>
            <a:endParaRPr lang="en-GB" sz="3600" b="0" u="none" strike="noStrike">
              <a:solidFill>
                <a:srgbClr val="000000"/>
              </a:solidFill>
              <a:effectLst/>
              <a:uFillTx/>
              <a:latin typeface="Arial"/>
            </a:endParaRPr>
          </a:p>
        </p:txBody>
      </p:sp>
      <p:sp>
        <p:nvSpPr>
          <p:cNvPr id="10" name="PlaceHolder 2"/>
          <p:cNvSpPr>
            <a:spLocks noGrp="1"/>
          </p:cNvSpPr>
          <p:nvPr>
            <p:ph type="sldNum" idx="4"/>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C020AE74-97F5-42C5-8021-42C195F0246C}"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_AND_BODY">
    <p:bg>
      <p:bgPr>
        <a:solidFill>
          <a:schemeClr val="lt1"/>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311760" y="444960"/>
            <a:ext cx="8520120" cy="572400"/>
          </a:xfrm>
          <a:prstGeom prst="rect">
            <a:avLst/>
          </a:prstGeom>
          <a:noFill/>
          <a:ln w="0">
            <a:noFill/>
          </a:ln>
        </p:spPr>
        <p:txBody>
          <a:bodyPr lIns="91440" tIns="91440" rIns="91440" bIns="91440" anchor="t">
            <a:normAutofit lnSpcReduction="9999"/>
          </a:bodyPr>
          <a:lstStyle>
            <a:lvl1pPr indent="0" algn="l">
              <a:buNone/>
              <a:defRPr lang="en-GB" sz="2800" b="0" u="none" strike="noStrike">
                <a:solidFill>
                  <a:srgbClr val="000000"/>
                </a:solidFill>
                <a:effectLst/>
                <a:uFillTx/>
                <a:latin typeface="Arial"/>
              </a:defRPr>
            </a:lvl1pPr>
          </a:lstStyle>
          <a:p>
            <a:pPr indent="0" algn="l">
              <a:buNone/>
            </a:pPr>
            <a:r>
              <a:rPr lang="en-GB" sz="2800" b="0" u="none" strike="noStrike">
                <a:solidFill>
                  <a:srgbClr val="000000"/>
                </a:solidFill>
                <a:effectLst/>
                <a:uFillTx/>
                <a:latin typeface="Arial"/>
              </a:rPr>
              <a:t>Click to edit the title text format</a:t>
            </a:r>
            <a:endParaRPr lang="en-GB" sz="2800" b="0" u="none" strike="noStrike">
              <a:solidFill>
                <a:srgbClr val="000000"/>
              </a:solidFill>
              <a:effectLst/>
              <a:uFillTx/>
              <a:latin typeface="Arial"/>
            </a:endParaRPr>
          </a:p>
        </p:txBody>
      </p:sp>
      <p:sp>
        <p:nvSpPr>
          <p:cNvPr id="12" name="PlaceHolder 2"/>
          <p:cNvSpPr>
            <a:spLocks noGrp="1"/>
          </p:cNvSpPr>
          <p:nvPr>
            <p:ph type="body"/>
          </p:nvPr>
        </p:nvSpPr>
        <p:spPr>
          <a:xfrm>
            <a:off x="311760" y="1152360"/>
            <a:ext cx="8520120" cy="3416040"/>
          </a:xfrm>
          <a:prstGeom prst="rect">
            <a:avLst/>
          </a:prstGeom>
          <a:noFill/>
          <a:ln w="0">
            <a:noFill/>
          </a:ln>
        </p:spPr>
        <p:txBody>
          <a:bodyPr lIns="91440" tIns="91440" rIns="91440" bIns="91440" anchor="t">
            <a:normAutofit/>
          </a:bodyPr>
          <a:lstStyle>
            <a:lvl1pPr algn="l">
              <a:spcBef>
                <a:spcPts val="1417"/>
              </a:spcBef>
              <a:buClr>
                <a:srgbClr val="000000"/>
              </a:buClr>
              <a:buSzPct val="45000"/>
              <a:buFont typeface="Wingdings" charset="2"/>
              <a:buChar char=""/>
              <a:defRPr lang="en-GB"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GB"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GB"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GB"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GB"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GB"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GB" sz="1800" b="0" u="none" strike="noStrike">
                <a:solidFill>
                  <a:srgbClr val="000000"/>
                </a:solidFill>
                <a:effectLst/>
                <a:uFillTx/>
                <a:latin typeface="Arial"/>
              </a:defRPr>
            </a:lvl7pPr>
          </a:lstStyle>
          <a:p>
            <a:pPr marL="457200" indent="-343080" algn="l">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371600" lvl="2" indent="-317520" algn="l">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828800" lvl="3" indent="-317520" algn="l">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286000" lvl="4"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743200" lvl="5"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200400" lvl="6"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13" name="PlaceHolder 3"/>
          <p:cNvSpPr>
            <a:spLocks noGrp="1"/>
          </p:cNvSpPr>
          <p:nvPr>
            <p:ph type="sldNum" idx="5"/>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E8F016D4-A08A-4289-AFCB-89757F0042F9}"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_AND_TWO_COLUMNS">
    <p:bg>
      <p:bgPr>
        <a:solidFill>
          <a:schemeClr val="lt1"/>
        </a:solidFill>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311760" y="444960"/>
            <a:ext cx="8520120" cy="572400"/>
          </a:xfrm>
          <a:prstGeom prst="rect">
            <a:avLst/>
          </a:prstGeom>
          <a:noFill/>
          <a:ln w="0">
            <a:noFill/>
          </a:ln>
        </p:spPr>
        <p:txBody>
          <a:bodyPr lIns="91440" tIns="91440" rIns="91440" bIns="91440" anchor="t">
            <a:normAutofit lnSpcReduction="9999"/>
          </a:bodyPr>
          <a:lstStyle>
            <a:lvl1pPr indent="0" algn="l">
              <a:buNone/>
              <a:defRPr lang="en-GB" sz="2800" b="0" u="none" strike="noStrike">
                <a:solidFill>
                  <a:srgbClr val="000000"/>
                </a:solidFill>
                <a:effectLst/>
                <a:uFillTx/>
                <a:latin typeface="Arial"/>
              </a:defRPr>
            </a:lvl1pPr>
          </a:lstStyle>
          <a:p>
            <a:pPr indent="0" algn="l">
              <a:buNone/>
            </a:pPr>
            <a:r>
              <a:rPr lang="en-GB" sz="2800" b="0" u="none" strike="noStrike">
                <a:solidFill>
                  <a:srgbClr val="000000"/>
                </a:solidFill>
                <a:effectLst/>
                <a:uFillTx/>
                <a:latin typeface="Arial"/>
              </a:rPr>
              <a:t>Click to edit the title text format</a:t>
            </a:r>
            <a:endParaRPr lang="en-GB" sz="2800" b="0" u="none" strike="noStrike">
              <a:solidFill>
                <a:srgbClr val="000000"/>
              </a:solidFill>
              <a:effectLst/>
              <a:uFillTx/>
              <a:latin typeface="Arial"/>
            </a:endParaRPr>
          </a:p>
        </p:txBody>
      </p:sp>
      <p:sp>
        <p:nvSpPr>
          <p:cNvPr id="15" name="PlaceHolder 2"/>
          <p:cNvSpPr>
            <a:spLocks noGrp="1"/>
          </p:cNvSpPr>
          <p:nvPr>
            <p:ph type="body"/>
          </p:nvPr>
        </p:nvSpPr>
        <p:spPr>
          <a:xfrm>
            <a:off x="311760" y="1152360"/>
            <a:ext cx="3999600" cy="3416040"/>
          </a:xfrm>
          <a:prstGeom prst="rect">
            <a:avLst/>
          </a:prstGeom>
          <a:noFill/>
          <a:ln w="0">
            <a:noFill/>
          </a:ln>
        </p:spPr>
        <p:txBody>
          <a:bodyPr lIns="91440" tIns="91440" rIns="91440" bIns="91440" anchor="t">
            <a:normAutofit/>
          </a:bodyPr>
          <a:lstStyle>
            <a:lvl1pPr algn="l">
              <a:spcBef>
                <a:spcPts val="1417"/>
              </a:spcBef>
              <a:buClr>
                <a:srgbClr val="000000"/>
              </a:buClr>
              <a:buSzPct val="45000"/>
              <a:buFont typeface="Wingdings" charset="2"/>
              <a:buChar char=""/>
              <a:defRPr lang="en-GB" sz="14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GB" sz="14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GB" sz="1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GB" sz="14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GB" sz="14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GB" sz="14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GB" sz="1400" b="0" u="none" strike="noStrike">
                <a:solidFill>
                  <a:srgbClr val="000000"/>
                </a:solidFill>
                <a:effectLst/>
                <a:uFillTx/>
                <a:latin typeface="Arial"/>
              </a:defRPr>
            </a:lvl7pPr>
          </a:lstStyle>
          <a:p>
            <a:pPr marL="457200" indent="-317520" algn="l">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914400" lvl="1" indent="-304920" algn="l">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371600" lvl="2" indent="-304920" algn="l">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828800" lvl="3" indent="-304920" algn="l">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286000" lvl="4" indent="-304920" algn="l">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endParaRPr lang="en-GB" sz="1400" b="0" u="none" strike="noStrike">
              <a:solidFill>
                <a:srgbClr val="000000"/>
              </a:solidFill>
              <a:effectLst/>
              <a:uFillTx/>
              <a:latin typeface="Arial"/>
            </a:endParaRPr>
          </a:p>
          <a:p>
            <a:pPr marL="2743200" lvl="5" indent="-304920" algn="l">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endParaRPr lang="en-GB" sz="1400" b="0" u="none" strike="noStrike">
              <a:solidFill>
                <a:srgbClr val="000000"/>
              </a:solidFill>
              <a:effectLst/>
              <a:uFillTx/>
              <a:latin typeface="Arial"/>
            </a:endParaRPr>
          </a:p>
          <a:p>
            <a:pPr marL="3200400" lvl="6" indent="-304920" algn="l">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endParaRPr lang="en-GB" sz="1400" b="0" u="none" strike="noStrike">
              <a:solidFill>
                <a:srgbClr val="000000"/>
              </a:solidFill>
              <a:effectLst/>
              <a:uFillTx/>
              <a:latin typeface="Arial"/>
            </a:endParaRPr>
          </a:p>
        </p:txBody>
      </p:sp>
      <p:sp>
        <p:nvSpPr>
          <p:cNvPr id="16" name="PlaceHolder 3"/>
          <p:cNvSpPr>
            <a:spLocks noGrp="1"/>
          </p:cNvSpPr>
          <p:nvPr>
            <p:ph type="body"/>
          </p:nvPr>
        </p:nvSpPr>
        <p:spPr>
          <a:xfrm>
            <a:off x="4832280" y="1152360"/>
            <a:ext cx="3999600" cy="3416040"/>
          </a:xfrm>
          <a:prstGeom prst="rect">
            <a:avLst/>
          </a:prstGeom>
          <a:noFill/>
          <a:ln w="0">
            <a:noFill/>
          </a:ln>
        </p:spPr>
        <p:txBody>
          <a:bodyPr lIns="91440" tIns="91440" rIns="91440" bIns="91440" anchor="t">
            <a:normAutofit/>
          </a:bodyPr>
          <a:lstStyle>
            <a:lvl1pPr algn="l">
              <a:spcBef>
                <a:spcPts val="1417"/>
              </a:spcBef>
              <a:buClr>
                <a:srgbClr val="000000"/>
              </a:buClr>
              <a:buSzPct val="45000"/>
              <a:buFont typeface="Wingdings" charset="2"/>
              <a:buChar char=""/>
              <a:defRPr lang="en-GB" sz="14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GB" sz="14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GB" sz="1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GB" sz="14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GB" sz="14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GB" sz="14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GB" sz="1400" b="0" u="none" strike="noStrike">
                <a:solidFill>
                  <a:srgbClr val="000000"/>
                </a:solidFill>
                <a:effectLst/>
                <a:uFillTx/>
                <a:latin typeface="Arial"/>
              </a:defRPr>
            </a:lvl7pPr>
          </a:lstStyle>
          <a:p>
            <a:pPr marL="457200" indent="-317520" algn="l">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914400" lvl="1" indent="-304920" algn="l">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371600" lvl="2" indent="-304920" algn="l">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828800" lvl="3" indent="-304920" algn="l">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286000" lvl="4" indent="-304920" algn="l">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endParaRPr lang="en-GB" sz="1400" b="0" u="none" strike="noStrike">
              <a:solidFill>
                <a:srgbClr val="000000"/>
              </a:solidFill>
              <a:effectLst/>
              <a:uFillTx/>
              <a:latin typeface="Arial"/>
            </a:endParaRPr>
          </a:p>
          <a:p>
            <a:pPr marL="2743200" lvl="5" indent="-304920" algn="l">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endParaRPr lang="en-GB" sz="1400" b="0" u="none" strike="noStrike">
              <a:solidFill>
                <a:srgbClr val="000000"/>
              </a:solidFill>
              <a:effectLst/>
              <a:uFillTx/>
              <a:latin typeface="Arial"/>
            </a:endParaRPr>
          </a:p>
          <a:p>
            <a:pPr marL="3200400" lvl="6" indent="-304920" algn="l">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endParaRPr lang="en-GB" sz="1400" b="0" u="none" strike="noStrike">
              <a:solidFill>
                <a:srgbClr val="000000"/>
              </a:solidFill>
              <a:effectLst/>
              <a:uFillTx/>
              <a:latin typeface="Arial"/>
            </a:endParaRPr>
          </a:p>
        </p:txBody>
      </p:sp>
      <p:sp>
        <p:nvSpPr>
          <p:cNvPr id="17" name="PlaceHolder 4"/>
          <p:cNvSpPr>
            <a:spLocks noGrp="1"/>
          </p:cNvSpPr>
          <p:nvPr>
            <p:ph type="sldNum" idx="6"/>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F78EE460-086E-444D-B4A1-1E6782C1A85D}"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bg>
      <p:bgPr>
        <a:solidFill>
          <a:schemeClr val="lt1"/>
        </a:solid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311760" y="444960"/>
            <a:ext cx="8520120" cy="572400"/>
          </a:xfrm>
          <a:prstGeom prst="rect">
            <a:avLst/>
          </a:prstGeom>
          <a:noFill/>
          <a:ln w="0">
            <a:noFill/>
          </a:ln>
        </p:spPr>
        <p:txBody>
          <a:bodyPr lIns="91440" tIns="91440" rIns="91440" bIns="91440" anchor="t">
            <a:normAutofit lnSpcReduction="9999"/>
          </a:bodyPr>
          <a:lstStyle>
            <a:lvl1pPr indent="0" algn="l">
              <a:buNone/>
              <a:defRPr lang="en-GB" sz="2800" b="0" u="none" strike="noStrike">
                <a:solidFill>
                  <a:srgbClr val="000000"/>
                </a:solidFill>
                <a:effectLst/>
                <a:uFillTx/>
                <a:latin typeface="Arial"/>
              </a:defRPr>
            </a:lvl1pPr>
          </a:lstStyle>
          <a:p>
            <a:pPr indent="0" algn="l">
              <a:buNone/>
            </a:pPr>
            <a:r>
              <a:rPr lang="en-GB" sz="2800" b="0" u="none" strike="noStrike">
                <a:solidFill>
                  <a:srgbClr val="000000"/>
                </a:solidFill>
                <a:effectLst/>
                <a:uFillTx/>
                <a:latin typeface="Arial"/>
              </a:rPr>
              <a:t>Click to edit the title text format</a:t>
            </a:r>
            <a:endParaRPr lang="en-GB" sz="2800" b="0" u="none" strike="noStrike">
              <a:solidFill>
                <a:srgbClr val="000000"/>
              </a:solidFill>
              <a:effectLst/>
              <a:uFillTx/>
              <a:latin typeface="Arial"/>
            </a:endParaRPr>
          </a:p>
        </p:txBody>
      </p:sp>
      <p:sp>
        <p:nvSpPr>
          <p:cNvPr id="19" name="PlaceHolder 2"/>
          <p:cNvSpPr>
            <a:spLocks noGrp="1"/>
          </p:cNvSpPr>
          <p:nvPr>
            <p:ph type="sldNum" idx="7"/>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191DDB9F-E547-4761-BA6A-17B513B2F808}"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NE_COLUMN_TEXT">
    <p:bg>
      <p:bgPr>
        <a:solidFill>
          <a:schemeClr val="lt1"/>
        </a:solidFill>
      </p:bgPr>
    </p:bg>
    <p:spTree>
      <p:nvGrpSpPr>
        <p:cNvPr id="1" name=""/>
        <p:cNvGrpSpPr/>
        <p:nvPr/>
      </p:nvGrpSpPr>
      <p:grpSpPr>
        <a:xfrm>
          <a:off x="0" y="0"/>
          <a:ext cx="0" cy="0"/>
          <a:chOff x="0" y="0"/>
          <a:chExt cx="0" cy="0"/>
        </a:xfrm>
      </p:grpSpPr>
      <p:sp>
        <p:nvSpPr>
          <p:cNvPr id="20" name="PlaceHolder 1"/>
          <p:cNvSpPr>
            <a:spLocks noGrp="1"/>
          </p:cNvSpPr>
          <p:nvPr>
            <p:ph type="title"/>
          </p:nvPr>
        </p:nvSpPr>
        <p:spPr>
          <a:xfrm>
            <a:off x="311760" y="555480"/>
            <a:ext cx="2807640" cy="755280"/>
          </a:xfrm>
          <a:prstGeom prst="rect">
            <a:avLst/>
          </a:prstGeom>
          <a:noFill/>
          <a:ln w="0">
            <a:noFill/>
          </a:ln>
        </p:spPr>
        <p:txBody>
          <a:bodyPr lIns="91440" tIns="91440" rIns="91440" bIns="91440" anchor="b">
            <a:normAutofit fontScale="85000" lnSpcReduction="9999"/>
          </a:bodyPr>
          <a:lstStyle>
            <a:lvl1pPr indent="0" algn="l">
              <a:buNone/>
              <a:defRPr lang="en-GB" sz="2400" b="0" u="none" strike="noStrike">
                <a:solidFill>
                  <a:srgbClr val="000000"/>
                </a:solidFill>
                <a:effectLst/>
                <a:uFillTx/>
                <a:latin typeface="Arial"/>
              </a:defRPr>
            </a:lvl1pPr>
          </a:lstStyle>
          <a:p>
            <a:pPr indent="0" algn="l">
              <a:buNone/>
            </a:pPr>
            <a:r>
              <a:rPr lang="en-GB" sz="2400" b="0" u="none" strike="noStrike">
                <a:solidFill>
                  <a:srgbClr val="000000"/>
                </a:solidFill>
                <a:effectLst/>
                <a:uFillTx/>
                <a:latin typeface="Arial"/>
              </a:rPr>
              <a:t>Click to edit the title text format</a:t>
            </a:r>
            <a:endParaRPr lang="en-GB" sz="2400" b="0" u="none" strike="noStrike">
              <a:solidFill>
                <a:srgbClr val="000000"/>
              </a:solidFill>
              <a:effectLst/>
              <a:uFillTx/>
              <a:latin typeface="Arial"/>
            </a:endParaRPr>
          </a:p>
        </p:txBody>
      </p:sp>
      <p:sp>
        <p:nvSpPr>
          <p:cNvPr id="21" name="PlaceHolder 2"/>
          <p:cNvSpPr>
            <a:spLocks noGrp="1"/>
          </p:cNvSpPr>
          <p:nvPr>
            <p:ph type="body"/>
          </p:nvPr>
        </p:nvSpPr>
        <p:spPr>
          <a:xfrm>
            <a:off x="311760" y="1389600"/>
            <a:ext cx="2807640" cy="3179160"/>
          </a:xfrm>
          <a:prstGeom prst="rect">
            <a:avLst/>
          </a:prstGeom>
          <a:noFill/>
          <a:ln w="0">
            <a:noFill/>
          </a:ln>
        </p:spPr>
        <p:txBody>
          <a:bodyPr lIns="91440" tIns="91440" rIns="91440" bIns="91440" anchor="t">
            <a:normAutofit fontScale="32500" lnSpcReduction="19999"/>
          </a:bodyPr>
          <a:lstStyle>
            <a:lvl1pPr algn="l">
              <a:spcBef>
                <a:spcPts val="1417"/>
              </a:spcBef>
              <a:buClr>
                <a:srgbClr val="000000"/>
              </a:buClr>
              <a:buSzPct val="45000"/>
              <a:buFont typeface="Wingdings" charset="2"/>
              <a:buChar char=""/>
              <a:defRPr lang="en-GB" sz="1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GB" sz="12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GB" sz="12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GB" sz="12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GB" sz="12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GB" sz="12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GB" sz="1200" b="0" u="none" strike="noStrike">
                <a:solidFill>
                  <a:srgbClr val="000000"/>
                </a:solidFill>
                <a:effectLst/>
                <a:uFillTx/>
                <a:latin typeface="Arial"/>
              </a:defRPr>
            </a:lvl7pPr>
          </a:lstStyle>
          <a:p>
            <a:pPr marL="457200" indent="-304920" algn="l">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endParaRPr lang="en-GB" sz="1200" b="0" u="none" strike="noStrike">
              <a:solidFill>
                <a:srgbClr val="000000"/>
              </a:solidFill>
              <a:effectLst/>
              <a:uFillTx/>
              <a:latin typeface="Arial"/>
            </a:endParaRPr>
          </a:p>
          <a:p>
            <a:pPr marL="914400" lvl="1" indent="-304920" algn="l">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endParaRPr lang="en-GB" sz="1200" b="0" u="none" strike="noStrike">
              <a:solidFill>
                <a:srgbClr val="000000"/>
              </a:solidFill>
              <a:effectLst/>
              <a:uFillTx/>
              <a:latin typeface="Arial"/>
            </a:endParaRPr>
          </a:p>
          <a:p>
            <a:pPr marL="1371600" lvl="2" indent="-304920" algn="l">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endParaRPr lang="en-GB" sz="1200" b="0" u="none" strike="noStrike">
              <a:solidFill>
                <a:srgbClr val="000000"/>
              </a:solidFill>
              <a:effectLst/>
              <a:uFillTx/>
              <a:latin typeface="Arial"/>
            </a:endParaRPr>
          </a:p>
          <a:p>
            <a:pPr marL="1828800" lvl="3" indent="-304920" algn="l">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endParaRPr lang="en-GB" sz="1200" b="0" u="none" strike="noStrike">
              <a:solidFill>
                <a:srgbClr val="000000"/>
              </a:solidFill>
              <a:effectLst/>
              <a:uFillTx/>
              <a:latin typeface="Arial"/>
            </a:endParaRPr>
          </a:p>
          <a:p>
            <a:pPr marL="2286000" lvl="4" indent="-304920" algn="l">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endParaRPr lang="en-GB" sz="1200" b="0" u="none" strike="noStrike">
              <a:solidFill>
                <a:srgbClr val="000000"/>
              </a:solidFill>
              <a:effectLst/>
              <a:uFillTx/>
              <a:latin typeface="Arial"/>
            </a:endParaRPr>
          </a:p>
          <a:p>
            <a:pPr marL="2743200" lvl="5" indent="-304920" algn="l">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endParaRPr lang="en-GB" sz="1200" b="0" u="none" strike="noStrike">
              <a:solidFill>
                <a:srgbClr val="000000"/>
              </a:solidFill>
              <a:effectLst/>
              <a:uFillTx/>
              <a:latin typeface="Arial"/>
            </a:endParaRPr>
          </a:p>
          <a:p>
            <a:pPr marL="3200400" lvl="6" indent="-304920" algn="l">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endParaRPr lang="en-GB" sz="1200" b="0" u="none" strike="noStrike">
              <a:solidFill>
                <a:srgbClr val="000000"/>
              </a:solidFill>
              <a:effectLst/>
              <a:uFillTx/>
              <a:latin typeface="Arial"/>
            </a:endParaRPr>
          </a:p>
        </p:txBody>
      </p:sp>
      <p:sp>
        <p:nvSpPr>
          <p:cNvPr id="22" name="PlaceHolder 3"/>
          <p:cNvSpPr>
            <a:spLocks noGrp="1"/>
          </p:cNvSpPr>
          <p:nvPr>
            <p:ph type="sldNum" idx="8"/>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E19B753E-F444-47DE-A643-F5CA7C74F313}"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IN_POINT">
    <p:bg>
      <p:bgPr>
        <a:solidFill>
          <a:schemeClr val="lt1"/>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490320" y="450000"/>
            <a:ext cx="6367320" cy="4090320"/>
          </a:xfrm>
          <a:prstGeom prst="rect">
            <a:avLst/>
          </a:prstGeom>
          <a:noFill/>
          <a:ln w="0">
            <a:noFill/>
          </a:ln>
        </p:spPr>
        <p:txBody>
          <a:bodyPr lIns="91440" tIns="91440" rIns="91440" bIns="91440" anchor="ctr">
            <a:normAutofit/>
          </a:bodyPr>
          <a:lstStyle>
            <a:lvl1pPr indent="0" algn="l">
              <a:buNone/>
              <a:defRPr lang="en-GB" sz="4800" b="0" u="none" strike="noStrike">
                <a:solidFill>
                  <a:srgbClr val="000000"/>
                </a:solidFill>
                <a:effectLst/>
                <a:uFillTx/>
                <a:latin typeface="Arial"/>
              </a:defRPr>
            </a:lvl1pPr>
          </a:lstStyle>
          <a:p>
            <a:pPr indent="0" algn="l">
              <a:buNone/>
            </a:pPr>
            <a:r>
              <a:rPr lang="en-GB" sz="4800" b="0" u="none" strike="noStrike">
                <a:solidFill>
                  <a:srgbClr val="000000"/>
                </a:solidFill>
                <a:effectLst/>
                <a:uFillTx/>
                <a:latin typeface="Arial"/>
              </a:rPr>
              <a:t>Click to edit the title text format</a:t>
            </a:r>
            <a:endParaRPr lang="en-GB" sz="4800" b="0" u="none" strike="noStrike">
              <a:solidFill>
                <a:srgbClr val="000000"/>
              </a:solidFill>
              <a:effectLst/>
              <a:uFillTx/>
              <a:latin typeface="Arial"/>
            </a:endParaRPr>
          </a:p>
        </p:txBody>
      </p:sp>
      <p:sp>
        <p:nvSpPr>
          <p:cNvPr id="24" name="PlaceHolder 2"/>
          <p:cNvSpPr>
            <a:spLocks noGrp="1"/>
          </p:cNvSpPr>
          <p:nvPr>
            <p:ph type="sldNum" idx="9"/>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F8DD7926-344C-45BB-A6E5-EEA02B06511F}"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TITLE_AND_DESCRIPTION">
    <p:bg>
      <p:bgPr>
        <a:solidFill>
          <a:schemeClr val="lt1"/>
        </a:solidFill>
      </p:bgPr>
    </p:bg>
    <p:spTree>
      <p:nvGrpSpPr>
        <p:cNvPr id="1" name=""/>
        <p:cNvGrpSpPr/>
        <p:nvPr/>
      </p:nvGrpSpPr>
      <p:grpSpPr>
        <a:xfrm>
          <a:off x="0" y="0"/>
          <a:ext cx="0" cy="0"/>
          <a:chOff x="0" y="0"/>
          <a:chExt cx="0" cy="0"/>
        </a:xfrm>
      </p:grpSpPr>
      <p:sp>
        <p:nvSpPr>
          <p:cNvPr id="25" name="Google Shape;36;p9"/>
          <p:cNvSpPr/>
          <p:nvPr/>
        </p:nvSpPr>
        <p:spPr>
          <a:xfrm>
            <a:off x="4572000" y="0"/>
            <a:ext cx="4571640" cy="5143320"/>
          </a:xfrm>
          <a:prstGeom prst="rect">
            <a:avLst/>
          </a:prstGeom>
          <a:solidFill>
            <a:schemeClr val="lt2"/>
          </a:solidFill>
          <a:ln w="0">
            <a:noFill/>
          </a:ln>
        </p:spPr>
        <p:style>
          <a:lnRef idx="0"/>
          <a:fillRef idx="0"/>
          <a:effectRef idx="0"/>
          <a:fontRef idx="minor"/>
        </p:style>
        <p:txBody>
          <a:bodyPr tIns="91440" bIns="91440" anchor="ctr">
            <a:noAutofit/>
          </a:bodyPr>
          <a:p>
            <a:endParaRPr lang="en-GB" sz="1400" b="0" u="none" strike="noStrike">
              <a:solidFill>
                <a:srgbClr val="000000"/>
              </a:solidFill>
              <a:effectLst/>
              <a:uFillTx/>
              <a:latin typeface="Arial"/>
            </a:endParaRPr>
          </a:p>
        </p:txBody>
      </p:sp>
      <p:sp>
        <p:nvSpPr>
          <p:cNvPr id="26" name="PlaceHolder 1"/>
          <p:cNvSpPr>
            <a:spLocks noGrp="1"/>
          </p:cNvSpPr>
          <p:nvPr>
            <p:ph type="title"/>
          </p:nvPr>
        </p:nvSpPr>
        <p:spPr>
          <a:xfrm>
            <a:off x="265680" y="1233000"/>
            <a:ext cx="4044960" cy="1482120"/>
          </a:xfrm>
          <a:prstGeom prst="rect">
            <a:avLst/>
          </a:prstGeom>
          <a:noFill/>
          <a:ln w="0">
            <a:noFill/>
          </a:ln>
        </p:spPr>
        <p:txBody>
          <a:bodyPr lIns="91440" tIns="91440" rIns="91440" bIns="91440" anchor="b">
            <a:normAutofit/>
          </a:bodyPr>
          <a:lstStyle>
            <a:lvl1pPr indent="0" algn="l">
              <a:buNone/>
              <a:defRPr lang="en-GB" sz="4200" b="0" u="none" strike="noStrike">
                <a:solidFill>
                  <a:srgbClr val="000000"/>
                </a:solidFill>
                <a:effectLst/>
                <a:uFillTx/>
                <a:latin typeface="Arial"/>
              </a:defRPr>
            </a:lvl1pPr>
          </a:lstStyle>
          <a:p>
            <a:pPr indent="0" algn="l">
              <a:buNone/>
            </a:pPr>
            <a:r>
              <a:rPr lang="en-GB" sz="4200" b="0" u="none" strike="noStrike">
                <a:solidFill>
                  <a:srgbClr val="000000"/>
                </a:solidFill>
                <a:effectLst/>
                <a:uFillTx/>
                <a:latin typeface="Arial"/>
              </a:rPr>
              <a:t>Click to edit the title text format</a:t>
            </a:r>
            <a:endParaRPr lang="en-GB" sz="4200" b="0" u="none" strike="noStrike">
              <a:solidFill>
                <a:srgbClr val="000000"/>
              </a:solidFill>
              <a:effectLst/>
              <a:uFillTx/>
              <a:latin typeface="Arial"/>
            </a:endParaRPr>
          </a:p>
        </p:txBody>
      </p:sp>
      <p:sp>
        <p:nvSpPr>
          <p:cNvPr id="27" name="PlaceHolder 2"/>
          <p:cNvSpPr>
            <a:spLocks noGrp="1"/>
          </p:cNvSpPr>
          <p:nvPr>
            <p:ph type="body"/>
          </p:nvPr>
        </p:nvSpPr>
        <p:spPr>
          <a:xfrm>
            <a:off x="4939560" y="723960"/>
            <a:ext cx="3836520" cy="3694680"/>
          </a:xfrm>
          <a:prstGeom prst="rect">
            <a:avLst/>
          </a:prstGeom>
          <a:noFill/>
          <a:ln w="0">
            <a:noFill/>
          </a:ln>
        </p:spPr>
        <p:txBody>
          <a:bodyPr lIns="91440" tIns="91440" rIns="91440" bIns="91440" anchor="ctr">
            <a:normAutofit fontScale="85000" lnSpcReduction="9999"/>
          </a:bodyPr>
          <a:lstStyle>
            <a:lvl1pPr algn="l">
              <a:spcBef>
                <a:spcPts val="1417"/>
              </a:spcBef>
              <a:buClr>
                <a:srgbClr val="000000"/>
              </a:buClr>
              <a:buSzPct val="45000"/>
              <a:buFont typeface="Wingdings" charset="2"/>
              <a:buChar char=""/>
              <a:defRPr lang="en-GB"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GB"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GB"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GB"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GB"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GB"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GB" sz="1800" b="0" u="none" strike="noStrike">
                <a:solidFill>
                  <a:srgbClr val="000000"/>
                </a:solidFill>
                <a:effectLst/>
                <a:uFillTx/>
                <a:latin typeface="Arial"/>
              </a:defRPr>
            </a:lvl7pPr>
          </a:lstStyle>
          <a:p>
            <a:pPr marL="457200" indent="-343080" algn="l">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371600" lvl="2" indent="-317520" algn="l">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828800" lvl="3" indent="-317520" algn="l">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286000" lvl="4"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743200" lvl="5"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200400" lvl="6"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28" name="PlaceHolder 3"/>
          <p:cNvSpPr>
            <a:spLocks noGrp="1"/>
          </p:cNvSpPr>
          <p:nvPr>
            <p:ph type="sldNum" idx="10"/>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DBB160FC-6E5D-4424-A2CE-AE54805F3F42}"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APTION_ONLY">
    <p:bg>
      <p:bgPr>
        <a:solidFill>
          <a:schemeClr val="lt1"/>
        </a:solidFill>
      </p:bgPr>
    </p:bg>
    <p:spTree>
      <p:nvGrpSpPr>
        <p:cNvPr id="1" name=""/>
        <p:cNvGrpSpPr/>
        <p:nvPr/>
      </p:nvGrpSpPr>
      <p:grpSpPr>
        <a:xfrm>
          <a:off x="0" y="0"/>
          <a:ext cx="0" cy="0"/>
          <a:chOff x="0" y="0"/>
          <a:chExt cx="0" cy="0"/>
        </a:xfrm>
      </p:grpSpPr>
      <p:sp>
        <p:nvSpPr>
          <p:cNvPr id="29" name="PlaceHolder 1"/>
          <p:cNvSpPr>
            <a:spLocks noGrp="1"/>
          </p:cNvSpPr>
          <p:nvPr>
            <p:ph type="body"/>
          </p:nvPr>
        </p:nvSpPr>
        <p:spPr>
          <a:xfrm>
            <a:off x="311760" y="4230720"/>
            <a:ext cx="5998320" cy="604800"/>
          </a:xfrm>
          <a:prstGeom prst="rect">
            <a:avLst/>
          </a:prstGeom>
          <a:noFill/>
          <a:ln w="0">
            <a:noFill/>
          </a:ln>
        </p:spPr>
        <p:txBody>
          <a:bodyPr lIns="91440" tIns="91440" rIns="91440" bIns="91440" anchor="ctr">
            <a:normAutofit fontScale="25000" lnSpcReduction="19999"/>
          </a:bodyPr>
          <a:lstStyle>
            <a:lvl1pPr algn="l">
              <a:spcBef>
                <a:spcPts val="1417"/>
              </a:spcBef>
              <a:buClr>
                <a:srgbClr val="000000"/>
              </a:buClr>
              <a:buSzPct val="45000"/>
              <a:buFont typeface="Wingdings" charset="2"/>
              <a:buChar char=""/>
              <a:defRPr lang="en-GB"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GB"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GB"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GB"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GB"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GB"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GB" sz="1800" b="0" u="none" strike="noStrike">
                <a:solidFill>
                  <a:srgbClr val="000000"/>
                </a:solidFill>
                <a:effectLst/>
                <a:uFillTx/>
                <a:latin typeface="Arial"/>
              </a:defRPr>
            </a:lvl7pPr>
          </a:lstStyle>
          <a:p>
            <a:pPr marL="457200" indent="-228600" algn="l">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371600" lvl="2" indent="-317520" algn="l">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828800" lvl="3" indent="-317520" algn="l">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286000" lvl="4"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743200" lvl="5"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200400" lvl="6" indent="-317520" algn="l">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30" name="PlaceHolder 2"/>
          <p:cNvSpPr>
            <a:spLocks noGrp="1"/>
          </p:cNvSpPr>
          <p:nvPr>
            <p:ph type="sldNum" idx="11"/>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en-GB" sz="1000" b="0" u="none" strike="noStrike">
                <a:solidFill>
                  <a:schemeClr val="dk2"/>
                </a:solidFill>
                <a:effectLst/>
                <a:uFillTx/>
                <a:latin typeface="Arial"/>
                <a:ea typeface="Arial"/>
              </a:defRPr>
            </a:lvl1pPr>
          </a:lstStyle>
          <a:p>
            <a:pPr indent="0" algn="r">
              <a:lnSpc>
                <a:spcPct val="100000"/>
              </a:lnSpc>
              <a:buNone/>
              <a:tabLst>
                <a:tab pos="0" algn="l"/>
              </a:tabLst>
            </a:pPr>
            <a:fld id="{48FA10C4-339A-4C37-8448-753568F56973}" type="slidenum">
              <a:rPr lang="en-GB"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4.png"/><Relationship Id="rId3"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 name="Google Shape;54;p13"/>
          <p:cNvSpPr/>
          <p:nvPr/>
        </p:nvSpPr>
        <p:spPr>
          <a:xfrm>
            <a:off x="146520" y="2902680"/>
            <a:ext cx="8759520" cy="2003400"/>
          </a:xfrm>
          <a:prstGeom prst="rect">
            <a:avLst/>
          </a:prstGeom>
          <a:noFill/>
          <a:ln w="0">
            <a:noFill/>
          </a:ln>
        </p:spPr>
        <p:style>
          <a:lnRef idx="0"/>
          <a:fillRef idx="0"/>
          <a:effectRef idx="0"/>
          <a:fontRef idx="minor"/>
        </p:style>
        <p:txBody>
          <a:bodyPr tIns="91440" bIns="91440" anchor="t">
            <a:noAutofit/>
          </a:bodyPr>
          <a:p>
            <a:pPr algn="l">
              <a:spcAft>
                <a:spcPts val="800"/>
              </a:spcAft>
            </a:pPr>
            <a:r>
              <a:rPr sz="2200" b="1">
                <a:solidFill>
                  <a:srgbClr val="0F172A"/>
                </a:solidFill>
                <a:latin typeface="Google Sans Flex SemiBold"/>
              </a:rPr>
              <a:t>Team Details</a:t>
            </a:r>
          </a:p>
          <a:p>
            <a:pPr>
              <a:spcAft>
                <a:spcPts val="400"/>
              </a:spcAft>
            </a:pPr>
            <a:r>
              <a:rPr sz="1500" b="1">
                <a:solidFill>
                  <a:srgbClr val="0F172A"/>
                </a:solidFill>
                <a:latin typeface="Google Sans Flex SemiBold"/>
              </a:rPr>
              <a:t>Team name: </a:t>
            </a:r>
            <a:r>
              <a:rPr sz="1500">
                <a:solidFill>
                  <a:srgbClr val="4F46E5"/>
                </a:solidFill>
                <a:latin typeface="Google Sans Flex"/>
              </a:rPr>
              <a:t>Milestone AI (JAPAC Workforce Recognition Intelligence)</a:t>
            </a:r>
          </a:p>
          <a:p>
            <a:pPr>
              <a:spcAft>
                <a:spcPts val="400"/>
              </a:spcAft>
            </a:pPr>
            <a:r>
              <a:rPr sz="1500" b="1">
                <a:solidFill>
                  <a:srgbClr val="0F172A"/>
                </a:solidFill>
                <a:latin typeface="Google Sans Flex SemiBold"/>
              </a:rPr>
              <a:t>Team leader name: </a:t>
            </a:r>
            <a:r>
              <a:rPr sz="1400">
                <a:solidFill>
                  <a:srgbClr val="1E293B"/>
                </a:solidFill>
                <a:latin typeface="Google Sans Flex"/>
              </a:rPr>
              <a:t>Htet Aung Hlaing (@vibecode-ting) — Lead Architect &amp; Full-Stack Developer</a:t>
            </a:r>
          </a:p>
          <a:p>
            <a:pPr>
              <a:spcAft>
                <a:spcPts val="600"/>
              </a:spcAft>
            </a:pPr>
            <a:r>
              <a:rPr sz="1400" b="1">
                <a:solidFill>
                  <a:srgbClr val="0F172A"/>
                </a:solidFill>
                <a:latin typeface="Google Sans Flex SemiBold"/>
              </a:rPr>
              <a:t>Team members: </a:t>
            </a:r>
            <a:r>
              <a:rPr sz="1350">
                <a:solidFill>
                  <a:srgbClr val="64748B"/>
                </a:solidFill>
                <a:latin typeface="Google Sans Flex"/>
              </a:rPr>
              <a:t>Myo Set Paing (UI/UX), Ko Htun (DevOps), Google Gemini (AI Co-Author)</a:t>
            </a:r>
          </a:p>
          <a:p>
            <a:r>
              <a:rPr sz="1400" b="1">
                <a:solidFill>
                  <a:srgbClr val="0F172A"/>
                </a:solidFill>
                <a:latin typeface="Google Sans Flex SemiBold"/>
              </a:rPr>
              <a:t>Problem Statement: </a:t>
            </a:r>
            <a:r>
              <a:rPr sz="1250">
                <a:solidFill>
                  <a:srgbClr val="1E293B"/>
                </a:solidFill>
                <a:latin typeface="Google Sans Flex"/>
              </a:rPr>
              <a:t>Hybrid and distributed organizations across JAPAC face severe recognition fragmentation: critical employee milestones (birthdays, work jubilees) are siloed in manual spreadsheets, standard SaaS tools lack native localized greetings across diverse Asian cultures, and HR administrative friction leads to delayed or forgotten celebrations and reduced workforce engagement.</a:t>
            </a:r>
          </a:p>
        </p:txBody>
      </p:sp>
      <p:pic>
        <p:nvPicPr>
          <p:cNvPr id="32" name="Google Shape;55;p13"/>
          <p:cNvPicPr/>
          <p:nvPr/>
        </p:nvPicPr>
        <p:blipFill>
          <a:blip r:embed="rId1"/>
          <a:stretch/>
        </p:blipFill>
        <p:spPr>
          <a:xfrm>
            <a:off x="0" y="0"/>
            <a:ext cx="9143640" cy="2715120"/>
          </a:xfrm>
          <a:prstGeom prst="rect">
            <a:avLst/>
          </a:prstGeom>
          <a:noFill/>
          <a:ln w="0">
            <a:noFill/>
          </a:ln>
        </p:spPr>
      </p:pic>
      <p:pic>
        <p:nvPicPr>
          <p:cNvPr id="33" name="Google Shape;56;p13"/>
          <p:cNvPicPr/>
          <p:nvPr/>
        </p:nvPicPr>
        <p:blipFill>
          <a:blip r:embed="rId2"/>
          <a:srcRect l="0" t="0" r="0" b="97986"/>
          <a:stretch/>
        </p:blipFill>
        <p:spPr>
          <a:xfrm>
            <a:off x="0" y="5093640"/>
            <a:ext cx="9143640" cy="5400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4" name="Google Shape;69;p15"/>
          <p:cNvPicPr/>
          <p:nvPr/>
        </p:nvPicPr>
        <p:blipFill>
          <a:blip r:embed="rId1"/>
          <a:stretch/>
        </p:blipFill>
        <p:spPr>
          <a:xfrm>
            <a:off x="0" y="0"/>
            <a:ext cx="9143640" cy="506880"/>
          </a:xfrm>
          <a:prstGeom prst="rect">
            <a:avLst/>
          </a:prstGeom>
          <a:noFill/>
          <a:ln w="0">
            <a:noFill/>
          </a:ln>
        </p:spPr>
      </p:pic>
      <p:sp>
        <p:nvSpPr>
          <p:cNvPr id="35" name="Google Shape;70;p15"/>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36" name="Google Shape;71;p15"/>
          <p:cNvSpPr/>
          <p:nvPr/>
        </p:nvSpPr>
        <p:spPr>
          <a:xfrm>
            <a:off x="265320" y="663840"/>
            <a:ext cx="8942760" cy="56160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GB" sz="1600" b="0" u="none" strike="noStrike">
                <a:solidFill>
                  <a:srgbClr val="000000"/>
                </a:solidFill>
                <a:effectLst/>
                <a:uFillTx/>
                <a:latin typeface="Google Sans Flex Medium"/>
                <a:ea typeface="Google Sans Flex Medium"/>
              </a:rPr>
              <a:t>Brief about the idea</a:t>
            </a:r>
            <a:endParaRPr lang="en-GB" sz="1600" b="0" u="none" strike="noStrike">
              <a:solidFill>
                <a:srgbClr val="000000"/>
              </a:solidFill>
              <a:effectLst/>
              <a:uFillTx/>
              <a:latin typeface="Arial"/>
            </a:endParaRPr>
          </a:p>
        </p:txBody>
      </p:sp>
      <p:sp>
        <p:nvSpPr>
          <p:cNvPr id="37" name="Rounded Rectangle 36"/>
          <p:cNvSpPr/>
          <p:nvPr/>
        </p:nvSpPr>
        <p:spPr>
          <a:xfrm>
            <a:off x="360000" y="1300000"/>
            <a:ext cx="4100000" cy="35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0000" y="1400000"/>
            <a:ext cx="3900000" cy="3350000"/>
          </a:xfrm>
          <a:prstGeom prst="rect">
            <a:avLst/>
          </a:prstGeom>
          <a:noFill/>
        </p:spPr>
        <p:txBody>
          <a:bodyPr wrap="square" lIns="76200" rIns="76200" tIns="76200" bIns="76200">
            <a:spAutoFit/>
          </a:bodyPr>
          <a:lstStyle/>
          <a:p>
            <a:pPr algn="l">
              <a:spcAft>
                <a:spcPts val="600"/>
              </a:spcAft>
            </a:pPr>
            <a:r>
              <a:rPr sz="1500" b="1">
                <a:solidFill>
                  <a:srgbClr val="0F172A"/>
                </a:solidFill>
                <a:latin typeface="Google Sans Flex SemiBold"/>
              </a:rPr>
              <a:t>Enterprise AI Milestone &amp; Culture Platform</a:t>
            </a:r>
          </a:p>
          <a:p>
            <a:pPr>
              <a:spcAft>
                <a:spcPts val="500"/>
              </a:spcAft>
            </a:pPr>
            <a:r>
              <a:rPr sz="1150" b="1">
                <a:solidFill>
                  <a:srgbClr val="4F46E5"/>
                </a:solidFill>
                <a:latin typeface="Google Sans Flex SemiBold"/>
              </a:rPr>
              <a:t>• Zero-Touch Automation: </a:t>
            </a:r>
            <a:r>
              <a:rPr sz="1100">
                <a:solidFill>
                  <a:srgbClr val="1E293B"/>
                </a:solidFill>
                <a:latin typeface="Google Sans Flex"/>
              </a:rPr>
              <a:t>Serverless Cloud Functions daily cron at 09:00 AM (Asia/Rangoon) automatically evaluates workforce records for birthdays and tenure jubilees (&gt;= 1 year).</a:t>
            </a:r>
          </a:p>
          <a:p>
            <a:pPr>
              <a:spcAft>
                <a:spcPts val="500"/>
              </a:spcAft>
            </a:pPr>
            <a:r>
              <a:rPr sz="1150" b="1">
                <a:solidFill>
                  <a:srgbClr val="4F46E5"/>
                </a:solidFill>
                <a:latin typeface="Google Sans Flex SemiBold"/>
              </a:rPr>
              <a:t>• Culture-Aware Gemini AI: </a:t>
            </a:r>
            <a:r>
              <a:rPr sz="1100">
                <a:solidFill>
                  <a:srgbClr val="1E293B"/>
                </a:solidFill>
                <a:latin typeface="Google Sans Flex"/>
              </a:rPr>
              <a:t>Google Gemini (gemini-2.5-flash) synthesizes authentic, culturally attuned celebratory greetings tailored to each employee's language and tenure.</a:t>
            </a:r>
          </a:p>
          <a:p>
            <a:pPr>
              <a:spcAft>
                <a:spcPts val="500"/>
              </a:spcAft>
            </a:pPr>
            <a:r>
              <a:rPr sz="1150" b="1">
                <a:solidFill>
                  <a:srgbClr val="4F46E5"/>
                </a:solidFill>
                <a:latin typeface="Google Sans Flex SemiBold"/>
              </a:rPr>
              <a:t>• Omnichannel Delivery Hub: </a:t>
            </a:r>
            <a:r>
              <a:rPr sz="1100">
                <a:solidFill>
                  <a:srgbClr val="1E293B"/>
                </a:solidFill>
                <a:latin typeface="Google Sans Flex"/>
              </a:rPr>
              <a:t>Zero-touch multi-channel dispatch via SMTP Email, Microsoft Teams Adaptive Cards, and Telegram Bots.</a:t>
            </a:r>
          </a:p>
          <a:p>
            <a:pPr>
              <a:spcAft>
                <a:spcPts val="500"/>
              </a:spcAft>
            </a:pPr>
            <a:r>
              <a:rPr sz="1150" b="1">
                <a:solidFill>
                  <a:srgbClr val="4F46E5"/>
                </a:solidFill>
                <a:latin typeface="Google Sans Flex SemiBold"/>
              </a:rPr>
              <a:t>• 3D Interactive Network: </a:t>
            </a:r>
            <a:r>
              <a:rPr sz="1100">
                <a:solidFill>
                  <a:srgbClr val="1E293B"/>
                </a:solidFill>
                <a:latin typeface="Google Sans Flex"/>
              </a:rPr>
              <a:t>Real-time Three.js WebGL globe mapping 34 JAPAC territory nodes with Great-Circle flight arcs connecting regional offices to the Singapore hub.</a:t>
            </a:r>
          </a:p>
        </p:txBody>
      </p:sp>
      <p:sp>
        <p:nvSpPr>
          <p:cNvPr id="39" name="Rounded Rectangle 38"/>
          <p:cNvSpPr/>
          <p:nvPr/>
        </p:nvSpPr>
        <p:spPr>
          <a:xfrm>
            <a:off x="4684000" y="1300000"/>
            <a:ext cx="4100000" cy="3550000"/>
          </a:xfrm>
          <a:prstGeom prst="roundRect">
            <a:avLst/>
          </a:prstGeom>
          <a:solidFill>
            <a:srgbClr val="FFFFFF"/>
          </a:solidFill>
          <a:ln w="1524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84000" y="1400000"/>
            <a:ext cx="3900000" cy="3350000"/>
          </a:xfrm>
          <a:prstGeom prst="rect">
            <a:avLst/>
          </a:prstGeom>
          <a:noFill/>
        </p:spPr>
        <p:txBody>
          <a:bodyPr wrap="square" lIns="76200" rIns="76200" tIns="76200" bIns="76200">
            <a:spAutoFit/>
          </a:bodyPr>
          <a:lstStyle/>
          <a:p>
            <a:pPr algn="l">
              <a:spcAft>
                <a:spcPts val="600"/>
              </a:spcAft>
            </a:pPr>
            <a:r>
              <a:rPr sz="1500" b="1">
                <a:solidFill>
                  <a:srgbClr val="0F172A"/>
                </a:solidFill>
                <a:latin typeface="Google Sans Flex SemiBold"/>
              </a:rPr>
              <a:t>Built Specifically for Asia-Pacific Teams</a:t>
            </a:r>
          </a:p>
          <a:p>
            <a:pPr>
              <a:spcAft>
                <a:spcPts val="500"/>
              </a:spcAft>
            </a:pPr>
            <a:r>
              <a:rPr sz="1150" b="1">
                <a:solidFill>
                  <a:srgbClr val="4285F4"/>
                </a:solidFill>
                <a:latin typeface="Google Sans Flex SemiBold"/>
              </a:rPr>
              <a:t>• 7 Native JAPAC Locales: </a:t>
            </a:r>
            <a:r>
              <a:rPr sz="1100">
                <a:solidFill>
                  <a:srgbClr val="1E293B"/>
                </a:solidFill>
                <a:latin typeface="Google Sans Flex"/>
              </a:rPr>
              <a:t>100% translation parity across English, Burmese, Vietnamese, Traditional Chinese, Cantonese, Korean, and Japanese with script-safe typography.</a:t>
            </a:r>
          </a:p>
          <a:p>
            <a:pPr>
              <a:spcAft>
                <a:spcPts val="500"/>
              </a:spcAft>
            </a:pPr>
            <a:r>
              <a:rPr sz="1150" b="1">
                <a:solidFill>
                  <a:srgbClr val="4285F4"/>
                </a:solidFill>
                <a:latin typeface="Google Sans Flex SemiBold"/>
              </a:rPr>
              <a:t>• Client-Side Slip OCR: </a:t>
            </a:r>
            <a:r>
              <a:rPr sz="1100">
                <a:solidFill>
                  <a:srgbClr val="1E293B"/>
                </a:solidFill>
                <a:latin typeface="Google Sans Flex"/>
              </a:rPr>
              <a:t>On-device computer vision receipt scanner supporting regional mobile wallets (KBZ Pay, Wave Pay, AYA Pay, CB Pay) + multi-currency checkout.</a:t>
            </a:r>
          </a:p>
          <a:p>
            <a:pPr>
              <a:spcAft>
                <a:spcPts val="500"/>
              </a:spcAft>
            </a:pPr>
            <a:r>
              <a:rPr sz="1150" b="1">
                <a:solidFill>
                  <a:srgbClr val="4285F4"/>
                </a:solidFill>
                <a:latin typeface="Google Sans Flex SemiBold"/>
              </a:rPr>
              <a:t>• Lean Performance Architecture: </a:t>
            </a:r>
            <a:r>
              <a:rPr sz="1100">
                <a:solidFill>
                  <a:srgbClr val="1E293B"/>
                </a:solidFill>
                <a:latin typeface="Google Sans Flex"/>
              </a:rPr>
              <a:t>Rollup chunk splitting and route-level lazy loading reducing entry bundle from 1,820 kB to 366 kB (112 kB gzip).</a:t>
            </a:r>
          </a:p>
          <a:p>
            <a:pPr>
              <a:spcAft>
                <a:spcPts val="500"/>
              </a:spcAft>
            </a:pPr>
            <a:r>
              <a:rPr sz="1150" b="1">
                <a:solidFill>
                  <a:srgbClr val="4285F4"/>
                </a:solidFill>
                <a:latin typeface="Google Sans Flex SemiBold"/>
              </a:rPr>
              <a:t>• 1-Click Judge Demo Mode: </a:t>
            </a:r>
            <a:r>
              <a:rPr sz="1100">
                <a:solidFill>
                  <a:srgbClr val="1E293B"/>
                </a:solidFill>
                <a:latin typeface="Google Sans Flex"/>
              </a:rPr>
              <a:t>Instant evaluation mode with local storage persistence and mock telemetry requiring zero cloud credential setup.</a:t>
            </a: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7" name="Google Shape;76;p16"/>
          <p:cNvPicPr/>
          <p:nvPr/>
        </p:nvPicPr>
        <p:blipFill>
          <a:blip r:embed="rId1"/>
          <a:srcRect l="0" t="0" r="0" b="97986"/>
          <a:stretch/>
        </p:blipFill>
        <p:spPr>
          <a:xfrm>
            <a:off x="0" y="5093640"/>
            <a:ext cx="9143640" cy="54000"/>
          </a:xfrm>
          <a:prstGeom prst="rect">
            <a:avLst/>
          </a:prstGeom>
          <a:noFill/>
          <a:ln w="0">
            <a:noFill/>
          </a:ln>
        </p:spPr>
      </p:pic>
      <p:pic>
        <p:nvPicPr>
          <p:cNvPr id="38" name="Google Shape;77;p16"/>
          <p:cNvPicPr/>
          <p:nvPr/>
        </p:nvPicPr>
        <p:blipFill>
          <a:blip r:embed="rId2"/>
          <a:stretch/>
        </p:blipFill>
        <p:spPr>
          <a:xfrm>
            <a:off x="0" y="0"/>
            <a:ext cx="9143640" cy="506880"/>
          </a:xfrm>
          <a:prstGeom prst="rect">
            <a:avLst/>
          </a:prstGeom>
          <a:noFill/>
          <a:ln w="0">
            <a:noFill/>
          </a:ln>
        </p:spPr>
      </p:pic>
      <p:sp>
        <p:nvSpPr>
          <p:cNvPr id="39" name="Google Shape;78;p16"/>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40" name="Google Shape;79;p16"/>
          <p:cNvSpPr/>
          <p:nvPr/>
        </p:nvSpPr>
        <p:spPr>
          <a:xfrm>
            <a:off x="265320" y="663840"/>
            <a:ext cx="8942760" cy="1365840"/>
          </a:xfrm>
          <a:prstGeom prst="rect">
            <a:avLst/>
          </a:prstGeom>
          <a:noFill/>
          <a:ln w="0">
            <a:noFill/>
          </a:ln>
        </p:spPr>
        <p:style>
          <a:lnRef idx="0"/>
          <a:fillRef idx="0"/>
          <a:effectRef idx="0"/>
          <a:fontRef idx="minor"/>
        </p:style>
        <p:txBody>
          <a:bodyPr tIns="91440" bIns="91440" anchor="t">
            <a:noAutofit/>
          </a:bodyPr>
          <a:p>
            <a:pPr algn="l">
              <a:spcAft>
                <a:spcPts val="400"/>
              </a:spcAft>
            </a:pPr>
            <a:r>
              <a:rPr sz="1800" b="1">
                <a:solidFill>
                  <a:srgbClr val="0F172A"/>
                </a:solidFill>
                <a:latin typeface="Google Sans Flex SemiBold"/>
              </a:rPr>
              <a:t>Opportunities &amp; Market Differentiation</a:t>
            </a:r>
          </a:p>
        </p:txBody>
      </p:sp>
      <p:sp>
        <p:nvSpPr>
          <p:cNvPr id="41" name="Rounded Rectangle 40"/>
          <p:cNvSpPr/>
          <p:nvPr/>
        </p:nvSpPr>
        <p:spPr>
          <a:xfrm>
            <a:off x="360000" y="1300000"/>
            <a:ext cx="2680000" cy="35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440000" y="1380000"/>
            <a:ext cx="2520000" cy="420000"/>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0000" y="1400000"/>
            <a:ext cx="2480000" cy="380000"/>
          </a:xfrm>
          <a:prstGeom prst="rect">
            <a:avLst/>
          </a:prstGeom>
          <a:noFill/>
        </p:spPr>
        <p:txBody>
          <a:bodyPr wrap="square" lIns="76200" rIns="76200" tIns="76200" bIns="76200">
            <a:spAutoFit/>
          </a:bodyPr>
          <a:lstStyle/>
          <a:p>
            <a:pPr algn="ctr">
              <a:spcAft>
                <a:spcPts val="0"/>
              </a:spcAft>
            </a:pPr>
            <a:r>
              <a:rPr sz="1200" b="1">
                <a:solidFill>
                  <a:srgbClr val="FFFFFF"/>
                </a:solidFill>
                <a:latin typeface="Google Sans Flex SemiBold"/>
              </a:rPr>
              <a:t>How Different from Existing Ideas?</a:t>
            </a:r>
          </a:p>
        </p:txBody>
      </p:sp>
      <p:sp>
        <p:nvSpPr>
          <p:cNvPr id="44" name="TextBox 43"/>
          <p:cNvSpPr txBox="1"/>
          <p:nvPr/>
        </p:nvSpPr>
        <p:spPr>
          <a:xfrm>
            <a:off x="480000" y="1860000"/>
            <a:ext cx="2440000" cy="2910000"/>
          </a:xfrm>
          <a:prstGeom prst="rect">
            <a:avLst/>
          </a:prstGeom>
          <a:noFill/>
        </p:spPr>
        <p:txBody>
          <a:bodyPr wrap="square" lIns="76200" rIns="76200" tIns="76200" bIns="76200">
            <a:spAutoFit/>
          </a:bodyPr>
          <a:lstStyle/>
          <a:p>
            <a:pPr>
              <a:spcAft>
                <a:spcPts val="600"/>
              </a:spcAft>
            </a:pPr>
            <a:r>
              <a:rPr sz="1100" b="1">
                <a:solidFill>
                  <a:srgbClr val="4F46E5"/>
                </a:solidFill>
                <a:latin typeface="Google Sans Flex SemiBold"/>
              </a:rPr>
              <a:t>✔ Legacy HR Limitation: </a:t>
            </a:r>
            <a:r>
              <a:rPr sz="1050">
                <a:solidFill>
                  <a:srgbClr val="1E293B"/>
                </a:solidFill>
                <a:latin typeface="Google Sans Flex"/>
              </a:rPr>
              <a:t>Workday, Lattice, and BambooHR enforce US/EU corporate workflows with rigid English-only templates and weeks of onboarding.</a:t>
            </a:r>
          </a:p>
          <a:p>
            <a:pPr>
              <a:spcAft>
                <a:spcPts val="600"/>
              </a:spcAft>
            </a:pPr>
            <a:r>
              <a:rPr sz="1100" b="1">
                <a:solidFill>
                  <a:srgbClr val="4F46E5"/>
                </a:solidFill>
                <a:latin typeface="Google Sans Flex SemiBold"/>
              </a:rPr>
              <a:t>✔ Regional Native Parity: </a:t>
            </a:r>
            <a:r>
              <a:rPr sz="1050">
                <a:solidFill>
                  <a:srgbClr val="1E293B"/>
                </a:solidFill>
                <a:latin typeface="Google Sans Flex"/>
              </a:rPr>
              <a:t>Milestone is engineered ground-up for JAPAC with 7 native regional languages and cultural celebration etiquette.</a:t>
            </a:r>
          </a:p>
          <a:p>
            <a:pPr>
              <a:spcAft>
                <a:spcPts val="600"/>
              </a:spcAft>
            </a:pPr>
            <a:r>
              <a:rPr sz="1100" b="1">
                <a:solidFill>
                  <a:srgbClr val="4F46E5"/>
                </a:solidFill>
                <a:latin typeface="Google Sans Flex SemiBold"/>
              </a:rPr>
              <a:t>✔ Zero-Config Ingestion: </a:t>
            </a:r>
            <a:r>
              <a:rPr sz="1050">
                <a:solidFill>
                  <a:srgbClr val="1E293B"/>
                </a:solidFill>
                <a:latin typeface="Google Sans Flex"/>
              </a:rPr>
              <a:t>Instant SheetJS Excel/CSV parsing with automated column detection and Metabase-style external database connectors.</a:t>
            </a:r>
          </a:p>
        </p:txBody>
      </p:sp>
      <p:sp>
        <p:nvSpPr>
          <p:cNvPr id="45" name="Rounded Rectangle 44"/>
          <p:cNvSpPr/>
          <p:nvPr/>
        </p:nvSpPr>
        <p:spPr>
          <a:xfrm>
            <a:off x="3220000" y="1300000"/>
            <a:ext cx="2680000" cy="35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3300000" y="1380000"/>
            <a:ext cx="2520000" cy="42000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20000" y="1400000"/>
            <a:ext cx="2480000" cy="380000"/>
          </a:xfrm>
          <a:prstGeom prst="rect">
            <a:avLst/>
          </a:prstGeom>
          <a:noFill/>
        </p:spPr>
        <p:txBody>
          <a:bodyPr wrap="square" lIns="76200" rIns="76200" tIns="76200" bIns="76200">
            <a:spAutoFit/>
          </a:bodyPr>
          <a:lstStyle/>
          <a:p>
            <a:pPr algn="ctr">
              <a:spcAft>
                <a:spcPts val="0"/>
              </a:spcAft>
            </a:pPr>
            <a:r>
              <a:rPr sz="1200" b="1">
                <a:solidFill>
                  <a:srgbClr val="FFFFFF"/>
                </a:solidFill>
                <a:latin typeface="Google Sans Flex SemiBold"/>
              </a:rPr>
              <a:t>How Will It Solve the Problem?</a:t>
            </a:r>
          </a:p>
        </p:txBody>
      </p:sp>
      <p:sp>
        <p:nvSpPr>
          <p:cNvPr id="48" name="TextBox 47"/>
          <p:cNvSpPr txBox="1"/>
          <p:nvPr/>
        </p:nvSpPr>
        <p:spPr>
          <a:xfrm>
            <a:off x="3340000" y="1860000"/>
            <a:ext cx="2440000" cy="2910000"/>
          </a:xfrm>
          <a:prstGeom prst="rect">
            <a:avLst/>
          </a:prstGeom>
          <a:noFill/>
        </p:spPr>
        <p:txBody>
          <a:bodyPr wrap="square" lIns="76200" rIns="76200" tIns="76200" bIns="76200">
            <a:spAutoFit/>
          </a:bodyPr>
          <a:lstStyle/>
          <a:p>
            <a:pPr>
              <a:spcAft>
                <a:spcPts val="600"/>
              </a:spcAft>
            </a:pPr>
            <a:r>
              <a:rPr sz="1100" b="1">
                <a:solidFill>
                  <a:srgbClr val="4285F4"/>
                </a:solidFill>
                <a:latin typeface="Google Sans Flex SemiBold"/>
              </a:rPr>
              <a:t>✔ 100% Zero-Touch: </a:t>
            </a:r>
            <a:r>
              <a:rPr sz="1050">
                <a:solidFill>
                  <a:srgbClr val="1E293B"/>
                </a:solidFill>
                <a:latin typeface="Google Sans Flex"/>
              </a:rPr>
              <a:t>Eliminates administrative reminder friction via autonomous daily Cloud Functions cron and Gemini AI copy generation.</a:t>
            </a:r>
          </a:p>
          <a:p>
            <a:pPr>
              <a:spcAft>
                <a:spcPts val="600"/>
              </a:spcAft>
            </a:pPr>
            <a:r>
              <a:rPr sz="1100" b="1">
                <a:solidFill>
                  <a:srgbClr val="4285F4"/>
                </a:solidFill>
                <a:latin typeface="Google Sans Flex SemiBold"/>
              </a:rPr>
              <a:t>✔ Cultural Relevance: </a:t>
            </a:r>
            <a:r>
              <a:rPr sz="1050">
                <a:solidFill>
                  <a:srgbClr val="1E293B"/>
                </a:solidFill>
                <a:latin typeface="Google Sans Flex"/>
              </a:rPr>
              <a:t>Celebration copy is customized to employee tenure, role, and local culture, eliminating awkward machine-translated greetings.</a:t>
            </a:r>
          </a:p>
          <a:p>
            <a:pPr>
              <a:spcAft>
                <a:spcPts val="600"/>
              </a:spcAft>
            </a:pPr>
            <a:r>
              <a:rPr sz="1100" b="1">
                <a:solidFill>
                  <a:srgbClr val="4285F4"/>
                </a:solidFill>
                <a:latin typeface="Google Sans Flex SemiBold"/>
              </a:rPr>
              <a:t>✔ Omnichannel Presence: </a:t>
            </a:r>
            <a:r>
              <a:rPr sz="1050">
                <a:solidFill>
                  <a:srgbClr val="1E293B"/>
                </a:solidFill>
                <a:latin typeface="Google Sans Flex"/>
              </a:rPr>
              <a:t>Delivers greetings straight to where distributed teams collaborate (Email, MS Teams, Telegram).</a:t>
            </a:r>
          </a:p>
        </p:txBody>
      </p:sp>
      <p:sp>
        <p:nvSpPr>
          <p:cNvPr id="49" name="Rounded Rectangle 48"/>
          <p:cNvSpPr/>
          <p:nvPr/>
        </p:nvSpPr>
        <p:spPr>
          <a:xfrm>
            <a:off x="6080000" y="1300000"/>
            <a:ext cx="2680000" cy="35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60000" y="1380000"/>
            <a:ext cx="2520000" cy="42000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180000" y="1400000"/>
            <a:ext cx="2480000" cy="380000"/>
          </a:xfrm>
          <a:prstGeom prst="rect">
            <a:avLst/>
          </a:prstGeom>
          <a:noFill/>
        </p:spPr>
        <p:txBody>
          <a:bodyPr wrap="square" lIns="76200" rIns="76200" tIns="76200" bIns="76200">
            <a:spAutoFit/>
          </a:bodyPr>
          <a:lstStyle/>
          <a:p>
            <a:pPr algn="ctr">
              <a:spcAft>
                <a:spcPts val="0"/>
              </a:spcAft>
            </a:pPr>
            <a:r>
              <a:rPr sz="1200" b="1">
                <a:solidFill>
                  <a:srgbClr val="FFFFFF"/>
                </a:solidFill>
                <a:latin typeface="Google Sans Flex SemiBold"/>
              </a:rPr>
              <a:t>Unique Selling Proposition (USP)</a:t>
            </a:r>
          </a:p>
        </p:txBody>
      </p:sp>
      <p:sp>
        <p:nvSpPr>
          <p:cNvPr id="52" name="TextBox 51"/>
          <p:cNvSpPr txBox="1"/>
          <p:nvPr/>
        </p:nvSpPr>
        <p:spPr>
          <a:xfrm>
            <a:off x="6200000" y="1860000"/>
            <a:ext cx="2440000" cy="2910000"/>
          </a:xfrm>
          <a:prstGeom prst="rect">
            <a:avLst/>
          </a:prstGeom>
          <a:noFill/>
        </p:spPr>
        <p:txBody>
          <a:bodyPr wrap="square" lIns="76200" rIns="76200" tIns="76200" bIns="76200">
            <a:spAutoFit/>
          </a:bodyPr>
          <a:lstStyle/>
          <a:p>
            <a:pPr>
              <a:spcAft>
                <a:spcPts val="600"/>
              </a:spcAft>
            </a:pPr>
            <a:r>
              <a:rPr sz="1100" b="1">
                <a:solidFill>
                  <a:srgbClr val="10B981"/>
                </a:solidFill>
                <a:latin typeface="Google Sans Flex SemiBold"/>
              </a:rPr>
              <a:t>✔ Contextual Gemini AI: </a:t>
            </a:r>
            <a:r>
              <a:rPr sz="1050">
                <a:solidFill>
                  <a:srgbClr val="1E293B"/>
                </a:solidFill>
                <a:latin typeface="Google Sans Flex"/>
              </a:rPr>
              <a:t>Generative celebration engine honoring local Asian holidays, tenure milestones, and linguistic nuances.</a:t>
            </a:r>
          </a:p>
          <a:p>
            <a:pPr>
              <a:spcAft>
                <a:spcPts val="600"/>
              </a:spcAft>
            </a:pPr>
            <a:r>
              <a:rPr sz="1100" b="1">
                <a:solidFill>
                  <a:srgbClr val="10B981"/>
                </a:solidFill>
                <a:latin typeface="Google Sans Flex SemiBold"/>
              </a:rPr>
              <a:t>✔ 3D WebGL Workforce Globe: </a:t>
            </a:r>
            <a:r>
              <a:rPr sz="1050">
                <a:solidFill>
                  <a:srgbClr val="1E293B"/>
                </a:solidFill>
                <a:latin typeface="Google Sans Flex"/>
              </a:rPr>
              <a:t>Interactive 3D spatial visualization of cross-border team connectivity and milestone density.</a:t>
            </a:r>
          </a:p>
          <a:p>
            <a:pPr>
              <a:spcAft>
                <a:spcPts val="600"/>
              </a:spcAft>
            </a:pPr>
            <a:r>
              <a:rPr sz="1100" b="1">
                <a:solidFill>
                  <a:srgbClr val="10B981"/>
                </a:solidFill>
                <a:latin typeface="Google Sans Flex SemiBold"/>
              </a:rPr>
              <a:t>✔ Client-Side Wallet OCR: </a:t>
            </a:r>
            <a:r>
              <a:rPr sz="1050">
                <a:solidFill>
                  <a:srgbClr val="1E293B"/>
                </a:solidFill>
                <a:latin typeface="Google Sans Flex"/>
              </a:rPr>
              <a:t>In-browser computer vision verification for local mobile wallet payment slips at $0 cloud API cost.</a:t>
            </a: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 name="Google Shape;84;p17"/>
          <p:cNvPicPr/>
          <p:nvPr/>
        </p:nvPicPr>
        <p:blipFill>
          <a:blip r:embed="rId1"/>
          <a:srcRect l="0" t="0" r="0" b="97986"/>
          <a:stretch/>
        </p:blipFill>
        <p:spPr>
          <a:xfrm>
            <a:off x="0" y="5093640"/>
            <a:ext cx="9143640" cy="54000"/>
          </a:xfrm>
          <a:prstGeom prst="rect">
            <a:avLst/>
          </a:prstGeom>
          <a:noFill/>
          <a:ln w="0">
            <a:noFill/>
          </a:ln>
        </p:spPr>
      </p:pic>
      <p:pic>
        <p:nvPicPr>
          <p:cNvPr id="42" name="Google Shape;85;p17"/>
          <p:cNvPicPr/>
          <p:nvPr/>
        </p:nvPicPr>
        <p:blipFill>
          <a:blip r:embed="rId2"/>
          <a:stretch/>
        </p:blipFill>
        <p:spPr>
          <a:xfrm>
            <a:off x="0" y="0"/>
            <a:ext cx="9143640" cy="506880"/>
          </a:xfrm>
          <a:prstGeom prst="rect">
            <a:avLst/>
          </a:prstGeom>
          <a:noFill/>
          <a:ln w="0">
            <a:noFill/>
          </a:ln>
        </p:spPr>
      </p:pic>
      <p:sp>
        <p:nvSpPr>
          <p:cNvPr id="43" name="Google Shape;86;p17"/>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44" name="Google Shape;87;p17"/>
          <p:cNvSpPr/>
          <p:nvPr/>
        </p:nvSpPr>
        <p:spPr>
          <a:xfrm>
            <a:off x="265320" y="663840"/>
            <a:ext cx="8942760" cy="56160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GB" sz="1600" b="0" u="none" strike="noStrike">
                <a:solidFill>
                  <a:srgbClr val="000000"/>
                </a:solidFill>
                <a:effectLst/>
                <a:uFillTx/>
                <a:latin typeface="Google Sans Flex Medium"/>
                <a:ea typeface="Google Sans Flex Medium"/>
              </a:rPr>
              <a:t>List of features offered by the solution</a:t>
            </a:r>
            <a:endParaRPr lang="en-GB" sz="1600" b="0" u="none" strike="noStrike">
              <a:solidFill>
                <a:srgbClr val="000000"/>
              </a:solidFill>
              <a:effectLst/>
              <a:uFillTx/>
              <a:latin typeface="Arial"/>
            </a:endParaRPr>
          </a:p>
        </p:txBody>
      </p:sp>
      <p:sp>
        <p:nvSpPr>
          <p:cNvPr id="45" name="Rounded Rectangle 44"/>
          <p:cNvSpPr/>
          <p:nvPr/>
        </p:nvSpPr>
        <p:spPr>
          <a:xfrm>
            <a:off x="360000" y="1300000"/>
            <a:ext cx="4100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0000" y="1360000"/>
            <a:ext cx="3900000" cy="700000"/>
          </a:xfrm>
          <a:prstGeom prst="rect">
            <a:avLst/>
          </a:prstGeom>
          <a:noFill/>
        </p:spPr>
        <p:txBody>
          <a:bodyPr wrap="square" lIns="76200" rIns="76200" tIns="76200" bIns="76200">
            <a:spAutoFit/>
          </a:bodyPr>
          <a:lstStyle/>
          <a:p>
            <a:pPr>
              <a:spcAft>
                <a:spcPts val="200"/>
              </a:spcAft>
            </a:pPr>
            <a:r>
              <a:rPr sz="1150" b="1">
                <a:solidFill>
                  <a:srgbClr val="4F46E5"/>
                </a:solidFill>
                <a:latin typeface="Google Sans Flex SemiBold"/>
              </a:rPr>
              <a:t>1. Automated Milestone Detection &amp; Cron</a:t>
            </a:r>
          </a:p>
          <a:p>
            <a:pPr>
              <a:spcAft>
                <a:spcPts val="0"/>
              </a:spcAft>
            </a:pPr>
            <a:r>
              <a:rPr sz="1000">
                <a:solidFill>
                  <a:srgbClr val="1E293B"/>
                </a:solidFill>
                <a:latin typeface="Google Sans Flex"/>
              </a:rPr>
              <a:t>Daily Cloud Functions cron at 09:00 AM (Asia/Rangoon) continuously calculates birthdays and completed work anniversaries (&gt;= 1 year) across all registered tenants.</a:t>
            </a:r>
          </a:p>
        </p:txBody>
      </p:sp>
      <p:sp>
        <p:nvSpPr>
          <p:cNvPr id="47" name="Rounded Rectangle 46"/>
          <p:cNvSpPr/>
          <p:nvPr/>
        </p:nvSpPr>
        <p:spPr>
          <a:xfrm>
            <a:off x="4684000" y="1300000"/>
            <a:ext cx="4100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4000" y="1360000"/>
            <a:ext cx="3900000" cy="700000"/>
          </a:xfrm>
          <a:prstGeom prst="rect">
            <a:avLst/>
          </a:prstGeom>
          <a:noFill/>
        </p:spPr>
        <p:txBody>
          <a:bodyPr wrap="square" lIns="76200" rIns="76200" tIns="76200" bIns="76200">
            <a:spAutoFit/>
          </a:bodyPr>
          <a:lstStyle/>
          <a:p>
            <a:pPr>
              <a:spcAft>
                <a:spcPts val="200"/>
              </a:spcAft>
            </a:pPr>
            <a:r>
              <a:rPr sz="1150" b="1">
                <a:solidFill>
                  <a:srgbClr val="4285F4"/>
                </a:solidFill>
                <a:latin typeface="Google Sans Flex SemiBold"/>
              </a:rPr>
              <a:t>2. Google Gemini Contextual Copywriter</a:t>
            </a:r>
          </a:p>
          <a:p>
            <a:pPr>
              <a:spcAft>
                <a:spcPts val="0"/>
              </a:spcAft>
            </a:pPr>
            <a:r>
              <a:rPr sz="1000">
                <a:solidFill>
                  <a:srgbClr val="1E293B"/>
                </a:solidFill>
                <a:latin typeface="Google Sans Flex"/>
              </a:rPr>
              <a:t>Gemini 2.5 Flash crafts warm, hyper-personalized celebration messages adapted to employee tenure, seniority, and preferred JAPAC language.</a:t>
            </a:r>
          </a:p>
        </p:txBody>
      </p:sp>
      <p:sp>
        <p:nvSpPr>
          <p:cNvPr id="49" name="Rounded Rectangle 48"/>
          <p:cNvSpPr/>
          <p:nvPr/>
        </p:nvSpPr>
        <p:spPr>
          <a:xfrm>
            <a:off x="360000" y="2180000"/>
            <a:ext cx="4100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0000" y="2240000"/>
            <a:ext cx="3900000" cy="700000"/>
          </a:xfrm>
          <a:prstGeom prst="rect">
            <a:avLst/>
          </a:prstGeom>
          <a:noFill/>
        </p:spPr>
        <p:txBody>
          <a:bodyPr wrap="square" lIns="76200" rIns="76200" tIns="76200" bIns="76200">
            <a:spAutoFit/>
          </a:bodyPr>
          <a:lstStyle/>
          <a:p>
            <a:pPr>
              <a:spcAft>
                <a:spcPts val="200"/>
              </a:spcAft>
            </a:pPr>
            <a:r>
              <a:rPr sz="1150" b="1">
                <a:solidFill>
                  <a:srgbClr val="10B981"/>
                </a:solidFill>
                <a:latin typeface="Google Sans Flex SemiBold"/>
              </a:rPr>
              <a:t>3. 3D Interactive JAPAC Earth Network</a:t>
            </a:r>
          </a:p>
          <a:p>
            <a:pPr>
              <a:spcAft>
                <a:spcPts val="0"/>
              </a:spcAft>
            </a:pPr>
            <a:r>
              <a:rPr sz="1000">
                <a:solidFill>
                  <a:srgbClr val="1E293B"/>
                </a:solidFill>
                <a:latin typeface="Google Sans Flex"/>
              </a:rPr>
              <a:t>Three.js WebGL globe visualizing 34 regional territories with camera-anchored lighting and elevated Great-Circle flight arcs connecting regional nodes.</a:t>
            </a:r>
          </a:p>
        </p:txBody>
      </p:sp>
      <p:sp>
        <p:nvSpPr>
          <p:cNvPr id="51" name="Rounded Rectangle 50"/>
          <p:cNvSpPr/>
          <p:nvPr/>
        </p:nvSpPr>
        <p:spPr>
          <a:xfrm>
            <a:off x="4684000" y="2180000"/>
            <a:ext cx="4100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784000" y="2240000"/>
            <a:ext cx="3900000" cy="700000"/>
          </a:xfrm>
          <a:prstGeom prst="rect">
            <a:avLst/>
          </a:prstGeom>
          <a:noFill/>
        </p:spPr>
        <p:txBody>
          <a:bodyPr wrap="square" lIns="76200" rIns="76200" tIns="76200" bIns="76200">
            <a:spAutoFit/>
          </a:bodyPr>
          <a:lstStyle/>
          <a:p>
            <a:pPr>
              <a:spcAft>
                <a:spcPts val="200"/>
              </a:spcAft>
            </a:pPr>
            <a:r>
              <a:rPr sz="1150" b="1">
                <a:solidFill>
                  <a:srgbClr val="F43F5E"/>
                </a:solidFill>
                <a:latin typeface="Google Sans Flex SemiBold"/>
              </a:rPr>
              <a:t>4. Omnichannel Delivery Engine</a:t>
            </a:r>
          </a:p>
          <a:p>
            <a:pPr>
              <a:spcAft>
                <a:spcPts val="0"/>
              </a:spcAft>
            </a:pPr>
            <a:r>
              <a:rPr sz="1000">
                <a:solidFill>
                  <a:srgbClr val="1E293B"/>
                </a:solidFill>
                <a:latin typeface="Google Sans Flex"/>
              </a:rPr>
              <a:t>Multi-channel dispatching hub supporting SMTP Email (Gmail, custom host), Microsoft Teams Adaptive Cards, and Telegram Bots.</a:t>
            </a:r>
          </a:p>
        </p:txBody>
      </p:sp>
      <p:sp>
        <p:nvSpPr>
          <p:cNvPr id="53" name="Rounded Rectangle 52"/>
          <p:cNvSpPr/>
          <p:nvPr/>
        </p:nvSpPr>
        <p:spPr>
          <a:xfrm>
            <a:off x="360000" y="3060000"/>
            <a:ext cx="4100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60000" y="3120000"/>
            <a:ext cx="3900000" cy="700000"/>
          </a:xfrm>
          <a:prstGeom prst="rect">
            <a:avLst/>
          </a:prstGeom>
          <a:noFill/>
        </p:spPr>
        <p:txBody>
          <a:bodyPr wrap="square" lIns="76200" rIns="76200" tIns="76200" bIns="76200">
            <a:spAutoFit/>
          </a:bodyPr>
          <a:lstStyle/>
          <a:p>
            <a:pPr>
              <a:spcAft>
                <a:spcPts val="200"/>
              </a:spcAft>
            </a:pPr>
            <a:r>
              <a:rPr sz="1150" b="1">
                <a:solidFill>
                  <a:srgbClr val="F59E0B"/>
                </a:solidFill>
                <a:latin typeface="Google Sans Flex SemiBold"/>
              </a:rPr>
              <a:t>5. Smart Roster &amp; Database Ingestion</a:t>
            </a:r>
          </a:p>
          <a:p>
            <a:pPr>
              <a:spcAft>
                <a:spcPts val="0"/>
              </a:spcAft>
            </a:pPr>
            <a:r>
              <a:rPr sz="1000">
                <a:solidFill>
                  <a:srgbClr val="1E293B"/>
                </a:solidFill>
                <a:latin typeface="Google Sans Flex"/>
              </a:rPr>
              <a:t>Instant SheetJS Excel/CSV parsing with automated column mapping, inline validation, and Metabase-style external database connectors.</a:t>
            </a:r>
          </a:p>
        </p:txBody>
      </p:sp>
      <p:sp>
        <p:nvSpPr>
          <p:cNvPr id="55" name="Rounded Rectangle 54"/>
          <p:cNvSpPr/>
          <p:nvPr/>
        </p:nvSpPr>
        <p:spPr>
          <a:xfrm>
            <a:off x="4684000" y="3060000"/>
            <a:ext cx="4100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84000" y="3120000"/>
            <a:ext cx="3900000" cy="700000"/>
          </a:xfrm>
          <a:prstGeom prst="rect">
            <a:avLst/>
          </a:prstGeom>
          <a:noFill/>
        </p:spPr>
        <p:txBody>
          <a:bodyPr wrap="square" lIns="76200" rIns="76200" tIns="76200" bIns="76200">
            <a:spAutoFit/>
          </a:bodyPr>
          <a:lstStyle/>
          <a:p>
            <a:pPr>
              <a:spcAft>
                <a:spcPts val="200"/>
              </a:spcAft>
            </a:pPr>
            <a:r>
              <a:rPr sz="1150" b="1">
                <a:solidFill>
                  <a:srgbClr val="4F46E5"/>
                </a:solidFill>
                <a:latin typeface="Google Sans Flex SemiBold"/>
              </a:rPr>
              <a:t>6. Client-Side OCR &amp; Local Wallet Checkout</a:t>
            </a:r>
          </a:p>
          <a:p>
            <a:pPr>
              <a:spcAft>
                <a:spcPts val="0"/>
              </a:spcAft>
            </a:pPr>
            <a:r>
              <a:rPr sz="1000">
                <a:solidFill>
                  <a:srgbClr val="1E293B"/>
                </a:solidFill>
                <a:latin typeface="Google Sans Flex"/>
              </a:rPr>
              <a:t>Multi-currency plan upgrades with on-device computer vision OCR scanning KBZ Pay, Wave Pay, AYA Pay, and CB Pay transaction slips.</a:t>
            </a:r>
          </a:p>
        </p:txBody>
      </p:sp>
      <p:sp>
        <p:nvSpPr>
          <p:cNvPr id="57" name="Rounded Rectangle 56"/>
          <p:cNvSpPr/>
          <p:nvPr/>
        </p:nvSpPr>
        <p:spPr>
          <a:xfrm>
            <a:off x="360000" y="3940000"/>
            <a:ext cx="4100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0000" y="4000000"/>
            <a:ext cx="3900000" cy="700000"/>
          </a:xfrm>
          <a:prstGeom prst="rect">
            <a:avLst/>
          </a:prstGeom>
          <a:noFill/>
        </p:spPr>
        <p:txBody>
          <a:bodyPr wrap="square" lIns="76200" rIns="76200" tIns="76200" bIns="76200">
            <a:spAutoFit/>
          </a:bodyPr>
          <a:lstStyle/>
          <a:p>
            <a:pPr>
              <a:spcAft>
                <a:spcPts val="200"/>
              </a:spcAft>
            </a:pPr>
            <a:r>
              <a:rPr sz="1150" b="1">
                <a:solidFill>
                  <a:srgbClr val="4285F4"/>
                </a:solidFill>
                <a:latin typeface="Google Sans Flex SemiBold"/>
              </a:rPr>
              <a:t>7. Executive Analytics &amp; Velocity Radar</a:t>
            </a:r>
          </a:p>
          <a:p>
            <a:pPr>
              <a:spcAft>
                <a:spcPts val="0"/>
              </a:spcAft>
            </a:pPr>
            <a:r>
              <a:rPr sz="1000">
                <a:solidFill>
                  <a:srgbClr val="1E293B"/>
                </a:solidFill>
                <a:latin typeface="Google Sans Flex"/>
              </a:rPr>
              <a:t>Interactive Recharts dashboard displaying 7-day recognition velocity, team milestone radar, and cross-border headcount distribution.</a:t>
            </a:r>
          </a:p>
        </p:txBody>
      </p:sp>
      <p:sp>
        <p:nvSpPr>
          <p:cNvPr id="59" name="Rounded Rectangle 58"/>
          <p:cNvSpPr/>
          <p:nvPr/>
        </p:nvSpPr>
        <p:spPr>
          <a:xfrm>
            <a:off x="4684000" y="3940000"/>
            <a:ext cx="4100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784000" y="4000000"/>
            <a:ext cx="3900000" cy="700000"/>
          </a:xfrm>
          <a:prstGeom prst="rect">
            <a:avLst/>
          </a:prstGeom>
          <a:noFill/>
        </p:spPr>
        <p:txBody>
          <a:bodyPr wrap="square" lIns="76200" rIns="76200" tIns="76200" bIns="76200">
            <a:spAutoFit/>
          </a:bodyPr>
          <a:lstStyle/>
          <a:p>
            <a:pPr>
              <a:spcAft>
                <a:spcPts val="200"/>
              </a:spcAft>
            </a:pPr>
            <a:r>
              <a:rPr sz="1150" b="1">
                <a:solidFill>
                  <a:srgbClr val="10B981"/>
                </a:solidFill>
                <a:latin typeface="Google Sans Flex SemiBold"/>
              </a:rPr>
              <a:t>8. Enterprise RBAC &amp; Multi-Tenant Quotas</a:t>
            </a:r>
          </a:p>
          <a:p>
            <a:pPr>
              <a:spcAft>
                <a:spcPts val="0"/>
              </a:spcAft>
            </a:pPr>
            <a:r>
              <a:rPr sz="1000">
                <a:solidFill>
                  <a:srgbClr val="1E293B"/>
                </a:solidFill>
                <a:latin typeface="Google Sans Flex"/>
              </a:rPr>
              <a:t>4 role tiers (user, pro, pro_plus, admin) with Firestore security rules, tenant employee limits, and superuser broadcast messaging.</a:t>
            </a: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5" name="Google Shape;92;p18"/>
          <p:cNvPicPr/>
          <p:nvPr/>
        </p:nvPicPr>
        <p:blipFill>
          <a:blip r:embed="rId1"/>
          <a:srcRect l="0" t="0" r="0" b="97986"/>
          <a:stretch/>
        </p:blipFill>
        <p:spPr>
          <a:xfrm>
            <a:off x="0" y="5093640"/>
            <a:ext cx="9143640" cy="54000"/>
          </a:xfrm>
          <a:prstGeom prst="rect">
            <a:avLst/>
          </a:prstGeom>
          <a:noFill/>
          <a:ln w="0">
            <a:noFill/>
          </a:ln>
        </p:spPr>
      </p:pic>
      <p:pic>
        <p:nvPicPr>
          <p:cNvPr id="46" name="Google Shape;93;p18"/>
          <p:cNvPicPr/>
          <p:nvPr/>
        </p:nvPicPr>
        <p:blipFill>
          <a:blip r:embed="rId2"/>
          <a:stretch/>
        </p:blipFill>
        <p:spPr>
          <a:xfrm>
            <a:off x="0" y="0"/>
            <a:ext cx="9143640" cy="506880"/>
          </a:xfrm>
          <a:prstGeom prst="rect">
            <a:avLst/>
          </a:prstGeom>
          <a:noFill/>
          <a:ln w="0">
            <a:noFill/>
          </a:ln>
        </p:spPr>
      </p:pic>
      <p:sp>
        <p:nvSpPr>
          <p:cNvPr id="47" name="Google Shape;94;p18"/>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48" name="Google Shape;95;p18"/>
          <p:cNvSpPr/>
          <p:nvPr/>
        </p:nvSpPr>
        <p:spPr>
          <a:xfrm>
            <a:off x="265320" y="663840"/>
            <a:ext cx="8942760" cy="56160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GB" sz="1600" b="0" u="none" strike="noStrike">
                <a:solidFill>
                  <a:srgbClr val="000000"/>
                </a:solidFill>
                <a:effectLst/>
                <a:uFillTx/>
                <a:latin typeface="Google Sans Flex Medium"/>
                <a:ea typeface="Google Sans Flex Medium"/>
              </a:rPr>
              <a:t>Process flow diagram or Use-case diagram</a:t>
            </a:r>
            <a:endParaRPr lang="en-GB" sz="1600" b="0" u="none" strike="noStrike">
              <a:solidFill>
                <a:srgbClr val="000000"/>
              </a:solidFill>
              <a:effectLst/>
              <a:uFillTx/>
              <a:latin typeface="Arial"/>
            </a:endParaRPr>
          </a:p>
        </p:txBody>
      </p:sp>
      <p:sp>
        <p:nvSpPr>
          <p:cNvPr id="49" name="Rounded Rectangle 48"/>
          <p:cNvSpPr/>
          <p:nvPr/>
        </p:nvSpPr>
        <p:spPr>
          <a:xfrm>
            <a:off x="360000" y="1300000"/>
            <a:ext cx="8424000" cy="2000000"/>
          </a:xfrm>
          <a:prstGeom prst="roundRect">
            <a:avLst/>
          </a:prstGeom>
          <a:solidFill>
            <a:srgbClr val="FFFFFF"/>
          </a:solidFill>
          <a:ln w="1524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0000" y="1360000"/>
            <a:ext cx="8224000" cy="320000"/>
          </a:xfrm>
          <a:prstGeom prst="rect">
            <a:avLst/>
          </a:prstGeom>
          <a:noFill/>
        </p:spPr>
        <p:txBody>
          <a:bodyPr wrap="square" lIns="76200" rIns="76200" tIns="76200" bIns="76200">
            <a:spAutoFit/>
          </a:bodyPr>
          <a:lstStyle/>
          <a:p>
            <a:pPr algn="l">
              <a:spcAft>
                <a:spcPts val="0"/>
              </a:spcAft>
            </a:pPr>
            <a:r>
              <a:rPr sz="1350" b="1">
                <a:solidFill>
                  <a:srgbClr val="0F172A"/>
                </a:solidFill>
                <a:latin typeface="Google Sans Flex SemiBold"/>
              </a:rPr>
              <a:t>Primary Flow: Autonomous Daily Milestone Recognition Lifecycle</a:t>
            </a:r>
          </a:p>
        </p:txBody>
      </p:sp>
      <p:sp>
        <p:nvSpPr>
          <p:cNvPr id="51" name="Rounded Rectangle 50"/>
          <p:cNvSpPr/>
          <p:nvPr/>
        </p:nvSpPr>
        <p:spPr>
          <a:xfrm>
            <a:off x="460000" y="1720000"/>
            <a:ext cx="1310000" cy="1460000"/>
          </a:xfrm>
          <a:prstGeom prst="roundRect">
            <a:avLst/>
          </a:prstGeom>
          <a:solidFill>
            <a:srgbClr val="F8FAFC"/>
          </a:solidFill>
          <a:ln w="1524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0000" y="1780000"/>
            <a:ext cx="1190000" cy="1340000"/>
          </a:xfrm>
          <a:prstGeom prst="rect">
            <a:avLst/>
          </a:prstGeom>
          <a:noFill/>
        </p:spPr>
        <p:txBody>
          <a:bodyPr wrap="square" lIns="76200" rIns="76200" tIns="76200" bIns="76200">
            <a:spAutoFit/>
          </a:bodyPr>
          <a:lstStyle/>
          <a:p>
            <a:pPr algn="ctr">
              <a:spcAft>
                <a:spcPts val="200"/>
              </a:spcAft>
            </a:pPr>
            <a:r>
              <a:rPr sz="1050" b="1">
                <a:solidFill>
                  <a:srgbClr val="4F46E5"/>
                </a:solidFill>
                <a:latin typeface="Google Sans Flex SemiBold"/>
              </a:rPr>
              <a:t>1. Data Ingestion</a:t>
            </a:r>
          </a:p>
          <a:p>
            <a:pPr algn="l">
              <a:spcAft>
                <a:spcPts val="0"/>
              </a:spcAft>
            </a:pPr>
            <a:r>
              <a:rPr sz="950" b="0">
                <a:solidFill>
                  <a:srgbClr val="1E293B"/>
                </a:solidFill>
                <a:latin typeface="Google Sans Flex"/>
              </a:rPr>
              <a:t>HR syncs roster via Excel/CSV or external DB; records encrypted in Firestore.</a:t>
            </a:r>
          </a:p>
        </p:txBody>
      </p:sp>
      <p:sp>
        <p:nvSpPr>
          <p:cNvPr id="53" name="Rounded Rectangle 52"/>
          <p:cNvSpPr/>
          <p:nvPr/>
        </p:nvSpPr>
        <p:spPr>
          <a:xfrm>
            <a:off x="1840000" y="1720000"/>
            <a:ext cx="1310000" cy="1460000"/>
          </a:xfrm>
          <a:prstGeom prst="roundRect">
            <a:avLst/>
          </a:prstGeom>
          <a:solidFill>
            <a:srgbClr val="F8FAFC"/>
          </a:solidFill>
          <a:ln w="1524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900000" y="1780000"/>
            <a:ext cx="1190000" cy="1340000"/>
          </a:xfrm>
          <a:prstGeom prst="rect">
            <a:avLst/>
          </a:prstGeom>
          <a:noFill/>
        </p:spPr>
        <p:txBody>
          <a:bodyPr wrap="square" lIns="76200" rIns="76200" tIns="76200" bIns="76200">
            <a:spAutoFit/>
          </a:bodyPr>
          <a:lstStyle/>
          <a:p>
            <a:pPr algn="ctr">
              <a:spcAft>
                <a:spcPts val="200"/>
              </a:spcAft>
            </a:pPr>
            <a:r>
              <a:rPr sz="1050" b="1">
                <a:solidFill>
                  <a:srgbClr val="4285F4"/>
                </a:solidFill>
                <a:latin typeface="Google Sans Flex SemiBold"/>
              </a:rPr>
              <a:t>2. Daily Cron</a:t>
            </a:r>
          </a:p>
          <a:p>
            <a:pPr algn="l">
              <a:spcAft>
                <a:spcPts val="0"/>
              </a:spcAft>
            </a:pPr>
            <a:r>
              <a:rPr sz="950" b="0">
                <a:solidFill>
                  <a:srgbClr val="1E293B"/>
                </a:solidFill>
                <a:latin typeface="Google Sans Flex"/>
              </a:rPr>
              <a:t>Cloud Scheduler invokes Cloud Function at 09:00 AM (Asia/Rangoon).</a:t>
            </a:r>
          </a:p>
        </p:txBody>
      </p:sp>
      <p:sp>
        <p:nvSpPr>
          <p:cNvPr id="55" name="Rounded Rectangle 54"/>
          <p:cNvSpPr/>
          <p:nvPr/>
        </p:nvSpPr>
        <p:spPr>
          <a:xfrm>
            <a:off x="3220000" y="1720000"/>
            <a:ext cx="1310000" cy="1460000"/>
          </a:xfrm>
          <a:prstGeom prst="roundRect">
            <a:avLst/>
          </a:prstGeom>
          <a:solidFill>
            <a:srgbClr val="F8FAFC"/>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80000" y="1780000"/>
            <a:ext cx="1190000" cy="1340000"/>
          </a:xfrm>
          <a:prstGeom prst="rect">
            <a:avLst/>
          </a:prstGeom>
          <a:noFill/>
        </p:spPr>
        <p:txBody>
          <a:bodyPr wrap="square" lIns="76200" rIns="76200" tIns="76200" bIns="76200">
            <a:spAutoFit/>
          </a:bodyPr>
          <a:lstStyle/>
          <a:p>
            <a:pPr algn="ctr">
              <a:spcAft>
                <a:spcPts val="200"/>
              </a:spcAft>
            </a:pPr>
            <a:r>
              <a:rPr sz="1050" b="1">
                <a:solidFill>
                  <a:srgbClr val="F59E0B"/>
                </a:solidFill>
                <a:latin typeface="Google Sans Flex SemiBold"/>
              </a:rPr>
              <a:t>3. Milestone Engine</a:t>
            </a:r>
          </a:p>
          <a:p>
            <a:pPr algn="l">
              <a:spcAft>
                <a:spcPts val="0"/>
              </a:spcAft>
            </a:pPr>
            <a:r>
              <a:rPr sz="950" b="0">
                <a:solidFill>
                  <a:srgbClr val="1E293B"/>
                </a:solidFill>
                <a:latin typeface="Google Sans Flex"/>
              </a:rPr>
              <a:t>Calculates birthdays and anniversary jubilees (&gt;= 1 year).</a:t>
            </a:r>
          </a:p>
        </p:txBody>
      </p:sp>
      <p:sp>
        <p:nvSpPr>
          <p:cNvPr id="57" name="Rounded Rectangle 56"/>
          <p:cNvSpPr/>
          <p:nvPr/>
        </p:nvSpPr>
        <p:spPr>
          <a:xfrm>
            <a:off x="4600000" y="1720000"/>
            <a:ext cx="1310000" cy="1460000"/>
          </a:xfrm>
          <a:prstGeom prst="roundRect">
            <a:avLst/>
          </a:prstGeom>
          <a:solidFill>
            <a:srgbClr val="F8FAFC"/>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60000" y="1780000"/>
            <a:ext cx="1190000" cy="1340000"/>
          </a:xfrm>
          <a:prstGeom prst="rect">
            <a:avLst/>
          </a:prstGeom>
          <a:noFill/>
        </p:spPr>
        <p:txBody>
          <a:bodyPr wrap="square" lIns="76200" rIns="76200" tIns="76200" bIns="76200">
            <a:spAutoFit/>
          </a:bodyPr>
          <a:lstStyle/>
          <a:p>
            <a:pPr algn="ctr">
              <a:spcAft>
                <a:spcPts val="200"/>
              </a:spcAft>
            </a:pPr>
            <a:r>
              <a:rPr sz="1050" b="1">
                <a:solidFill>
                  <a:srgbClr val="F43F5E"/>
                </a:solidFill>
                <a:latin typeface="Google Sans Flex SemiBold"/>
              </a:rPr>
              <a:t>4. Gemini AI Copy</a:t>
            </a:r>
          </a:p>
          <a:p>
            <a:pPr algn="l">
              <a:spcAft>
                <a:spcPts val="0"/>
              </a:spcAft>
            </a:pPr>
            <a:r>
              <a:rPr sz="950" b="0">
                <a:solidFill>
                  <a:srgbClr val="1E293B"/>
                </a:solidFill>
                <a:latin typeface="Google Sans Flex"/>
              </a:rPr>
              <a:t>Gemini 2.5 Flash crafts personalized greetings in native language.</a:t>
            </a:r>
          </a:p>
        </p:txBody>
      </p:sp>
      <p:sp>
        <p:nvSpPr>
          <p:cNvPr id="59" name="Rounded Rectangle 58"/>
          <p:cNvSpPr/>
          <p:nvPr/>
        </p:nvSpPr>
        <p:spPr>
          <a:xfrm>
            <a:off x="5980000" y="1720000"/>
            <a:ext cx="1310000" cy="1460000"/>
          </a:xfrm>
          <a:prstGeom prst="roundRect">
            <a:avLst/>
          </a:prstGeom>
          <a:solidFill>
            <a:srgbClr val="F8FAFC"/>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40000" y="1780000"/>
            <a:ext cx="1190000" cy="1340000"/>
          </a:xfrm>
          <a:prstGeom prst="rect">
            <a:avLst/>
          </a:prstGeom>
          <a:noFill/>
        </p:spPr>
        <p:txBody>
          <a:bodyPr wrap="square" lIns="76200" rIns="76200" tIns="76200" bIns="76200">
            <a:spAutoFit/>
          </a:bodyPr>
          <a:lstStyle/>
          <a:p>
            <a:pPr algn="ctr">
              <a:spcAft>
                <a:spcPts val="200"/>
              </a:spcAft>
            </a:pPr>
            <a:r>
              <a:rPr sz="1050" b="1">
                <a:solidFill>
                  <a:srgbClr val="10B981"/>
                </a:solidFill>
                <a:latin typeface="Google Sans Flex SemiBold"/>
              </a:rPr>
              <a:t>5. Omnichannel Dispatch</a:t>
            </a:r>
          </a:p>
          <a:p>
            <a:pPr algn="l">
              <a:spcAft>
                <a:spcPts val="0"/>
              </a:spcAft>
            </a:pPr>
            <a:r>
              <a:rPr sz="950" b="0">
                <a:solidFill>
                  <a:srgbClr val="1E293B"/>
                </a:solidFill>
                <a:latin typeface="Google Sans Flex"/>
              </a:rPr>
              <a:t>Sends via SMTP Email, MS Teams Webhook, and Telegram Bot.</a:t>
            </a:r>
          </a:p>
        </p:txBody>
      </p:sp>
      <p:sp>
        <p:nvSpPr>
          <p:cNvPr id="61" name="Rounded Rectangle 60"/>
          <p:cNvSpPr/>
          <p:nvPr/>
        </p:nvSpPr>
        <p:spPr>
          <a:xfrm>
            <a:off x="7360000" y="1720000"/>
            <a:ext cx="1310000" cy="1460000"/>
          </a:xfrm>
          <a:prstGeom prst="roundRect">
            <a:avLst/>
          </a:prstGeom>
          <a:solidFill>
            <a:srgbClr val="F8FAFC"/>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20000" y="1780000"/>
            <a:ext cx="1190000" cy="1340000"/>
          </a:xfrm>
          <a:prstGeom prst="rect">
            <a:avLst/>
          </a:prstGeom>
          <a:noFill/>
        </p:spPr>
        <p:txBody>
          <a:bodyPr wrap="square" lIns="76200" rIns="76200" tIns="76200" bIns="76200">
            <a:spAutoFit/>
          </a:bodyPr>
          <a:lstStyle/>
          <a:p>
            <a:pPr algn="ctr">
              <a:spcAft>
                <a:spcPts val="200"/>
              </a:spcAft>
            </a:pPr>
            <a:r>
              <a:rPr sz="1050" b="1">
                <a:solidFill>
                  <a:srgbClr val="0F172A"/>
                </a:solidFill>
                <a:latin typeface="Google Sans Flex SemiBold"/>
              </a:rPr>
              <a:t>6. Telemetry Log</a:t>
            </a:r>
          </a:p>
          <a:p>
            <a:pPr algn="l">
              <a:spcAft>
                <a:spcPts val="0"/>
              </a:spcAft>
            </a:pPr>
            <a:r>
              <a:rPr sz="950" b="0">
                <a:solidFill>
                  <a:srgbClr val="1E293B"/>
                </a:solidFill>
                <a:latin typeface="Google Sans Flex"/>
              </a:rPr>
              <a:t>Delivery status logged in Firestore; updates Executive Dashboard.</a:t>
            </a:r>
          </a:p>
        </p:txBody>
      </p:sp>
      <p:sp>
        <p:nvSpPr>
          <p:cNvPr id="63" name="Rounded Rectangle 62"/>
          <p:cNvSpPr/>
          <p:nvPr/>
        </p:nvSpPr>
        <p:spPr>
          <a:xfrm>
            <a:off x="360000" y="3400000"/>
            <a:ext cx="8424000" cy="14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60000" y="3460000"/>
            <a:ext cx="8224000" cy="300000"/>
          </a:xfrm>
          <a:prstGeom prst="rect">
            <a:avLst/>
          </a:prstGeom>
          <a:noFill/>
        </p:spPr>
        <p:txBody>
          <a:bodyPr wrap="square" lIns="76200" rIns="76200" tIns="76200" bIns="76200">
            <a:spAutoFit/>
          </a:bodyPr>
          <a:lstStyle/>
          <a:p>
            <a:pPr algn="l">
              <a:spcAft>
                <a:spcPts val="0"/>
              </a:spcAft>
            </a:pPr>
            <a:r>
              <a:rPr sz="1350" b="1">
                <a:solidFill>
                  <a:srgbClr val="0F172A"/>
                </a:solidFill>
                <a:latin typeface="Google Sans Flex SemiBold"/>
              </a:rPr>
              <a:t>Secondary Flow: Multi-Currency Plan Upgrade &amp; Client-Side Payment Slip OCR</a:t>
            </a:r>
          </a:p>
        </p:txBody>
      </p:sp>
      <p:sp>
        <p:nvSpPr>
          <p:cNvPr id="65" name="Rounded Rectangle 64"/>
          <p:cNvSpPr/>
          <p:nvPr/>
        </p:nvSpPr>
        <p:spPr>
          <a:xfrm>
            <a:off x="460000" y="3800000"/>
            <a:ext cx="1990000" cy="96000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20000" y="3850000"/>
            <a:ext cx="1870000" cy="860000"/>
          </a:xfrm>
          <a:prstGeom prst="rect">
            <a:avLst/>
          </a:prstGeom>
          <a:noFill/>
        </p:spPr>
        <p:txBody>
          <a:bodyPr wrap="square" lIns="76200" rIns="76200" tIns="76200" bIns="76200">
            <a:spAutoFit/>
          </a:bodyPr>
          <a:lstStyle/>
          <a:p>
            <a:pPr algn="l">
              <a:spcAft>
                <a:spcPts val="200"/>
              </a:spcAft>
            </a:pPr>
            <a:r>
              <a:rPr sz="1050" b="1">
                <a:solidFill>
                  <a:srgbClr val="4F46E5"/>
                </a:solidFill>
                <a:latin typeface="Google Sans Flex SemiBold"/>
              </a:rPr>
              <a:t>A. Plan Selection</a:t>
            </a:r>
          </a:p>
          <a:p>
            <a:pPr algn="l">
              <a:spcAft>
                <a:spcPts val="0"/>
              </a:spcAft>
            </a:pPr>
            <a:r>
              <a:rPr sz="950" b="0">
                <a:solidFill>
                  <a:srgbClr val="1E293B"/>
                </a:solidFill>
                <a:latin typeface="Google Sans Flex"/>
              </a:rPr>
              <a:t>User selects Pro/Ultra tier; picks regional currency (USD, MMK, SGD, THB).</a:t>
            </a:r>
          </a:p>
        </p:txBody>
      </p:sp>
      <p:sp>
        <p:nvSpPr>
          <p:cNvPr id="67" name="Rounded Rectangle 66"/>
          <p:cNvSpPr/>
          <p:nvPr/>
        </p:nvSpPr>
        <p:spPr>
          <a:xfrm>
            <a:off x="2530000" y="3800000"/>
            <a:ext cx="1990000" cy="96000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590000" y="3850000"/>
            <a:ext cx="1870000" cy="860000"/>
          </a:xfrm>
          <a:prstGeom prst="rect">
            <a:avLst/>
          </a:prstGeom>
          <a:noFill/>
        </p:spPr>
        <p:txBody>
          <a:bodyPr wrap="square" lIns="76200" rIns="76200" tIns="76200" bIns="76200">
            <a:spAutoFit/>
          </a:bodyPr>
          <a:lstStyle/>
          <a:p>
            <a:pPr algn="l">
              <a:spcAft>
                <a:spcPts val="200"/>
              </a:spcAft>
            </a:pPr>
            <a:r>
              <a:rPr sz="1050" b="1">
                <a:solidFill>
                  <a:srgbClr val="4F46E5"/>
                </a:solidFill>
                <a:latin typeface="Google Sans Flex SemiBold"/>
              </a:rPr>
              <a:t>B. Dynamic QR Payment</a:t>
            </a:r>
          </a:p>
          <a:p>
            <a:pPr algn="l">
              <a:spcAft>
                <a:spcPts val="0"/>
              </a:spcAft>
            </a:pPr>
            <a:r>
              <a:rPr sz="950" b="0">
                <a:solidFill>
                  <a:srgbClr val="1E293B"/>
                </a:solidFill>
                <a:latin typeface="Google Sans Flex"/>
              </a:rPr>
              <a:t>System generates local wallet QR code (KBZ Pay, Wave Pay, AYA Pay) with 5-min timer.</a:t>
            </a:r>
          </a:p>
        </p:txBody>
      </p:sp>
      <p:sp>
        <p:nvSpPr>
          <p:cNvPr id="69" name="Rounded Rectangle 68"/>
          <p:cNvSpPr/>
          <p:nvPr/>
        </p:nvSpPr>
        <p:spPr>
          <a:xfrm>
            <a:off x="4600000" y="3800000"/>
            <a:ext cx="1990000" cy="96000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0000" y="3850000"/>
            <a:ext cx="1870000" cy="860000"/>
          </a:xfrm>
          <a:prstGeom prst="rect">
            <a:avLst/>
          </a:prstGeom>
          <a:noFill/>
        </p:spPr>
        <p:txBody>
          <a:bodyPr wrap="square" lIns="76200" rIns="76200" tIns="76200" bIns="76200">
            <a:spAutoFit/>
          </a:bodyPr>
          <a:lstStyle/>
          <a:p>
            <a:pPr algn="l">
              <a:spcAft>
                <a:spcPts val="200"/>
              </a:spcAft>
            </a:pPr>
            <a:r>
              <a:rPr sz="1050" b="1">
                <a:solidFill>
                  <a:srgbClr val="4F46E5"/>
                </a:solidFill>
                <a:latin typeface="Google Sans Flex SemiBold"/>
              </a:rPr>
              <a:t>C. Client-Side Slip OCR</a:t>
            </a:r>
          </a:p>
          <a:p>
            <a:pPr algn="l">
              <a:spcAft>
                <a:spcPts val="0"/>
              </a:spcAft>
            </a:pPr>
            <a:r>
              <a:rPr sz="950" b="0">
                <a:solidFill>
                  <a:srgbClr val="1E293B"/>
                </a:solidFill>
                <a:latin typeface="Google Sans Flex"/>
              </a:rPr>
              <a:t>HTML5 Canvas computer vision verifies luminance, text edges, amount &amp; transaction ID.</a:t>
            </a:r>
          </a:p>
        </p:txBody>
      </p:sp>
      <p:sp>
        <p:nvSpPr>
          <p:cNvPr id="71" name="Rounded Rectangle 70"/>
          <p:cNvSpPr/>
          <p:nvPr/>
        </p:nvSpPr>
        <p:spPr>
          <a:xfrm>
            <a:off x="6670000" y="3800000"/>
            <a:ext cx="1990000" cy="96000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730000" y="3850000"/>
            <a:ext cx="1870000" cy="860000"/>
          </a:xfrm>
          <a:prstGeom prst="rect">
            <a:avLst/>
          </a:prstGeom>
          <a:noFill/>
        </p:spPr>
        <p:txBody>
          <a:bodyPr wrap="square" lIns="76200" rIns="76200" tIns="76200" bIns="76200">
            <a:spAutoFit/>
          </a:bodyPr>
          <a:lstStyle/>
          <a:p>
            <a:pPr algn="l">
              <a:spcAft>
                <a:spcPts val="200"/>
              </a:spcAft>
            </a:pPr>
            <a:r>
              <a:rPr sz="1050" b="1">
                <a:solidFill>
                  <a:srgbClr val="4F46E5"/>
                </a:solidFill>
                <a:latin typeface="Google Sans Flex SemiBold"/>
              </a:rPr>
              <a:t>D. Instant Activation</a:t>
            </a:r>
          </a:p>
          <a:p>
            <a:pPr algn="l">
              <a:spcAft>
                <a:spcPts val="0"/>
              </a:spcAft>
            </a:pPr>
            <a:r>
              <a:rPr sz="950" b="0">
                <a:solidFill>
                  <a:srgbClr val="1E293B"/>
                </a:solidFill>
                <a:latin typeface="Google Sans Flex"/>
              </a:rPr>
              <a:t>Zero cloud API fees; instant quota upgrade applied to tenant account in Firestore.</a:t>
            </a: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9" name="Google Shape;100;p19"/>
          <p:cNvPicPr/>
          <p:nvPr/>
        </p:nvPicPr>
        <p:blipFill>
          <a:blip r:embed="rId1"/>
          <a:srcRect l="0" t="0" r="0" b="97986"/>
          <a:stretch/>
        </p:blipFill>
        <p:spPr>
          <a:xfrm>
            <a:off x="0" y="5093640"/>
            <a:ext cx="9143640" cy="54000"/>
          </a:xfrm>
          <a:prstGeom prst="rect">
            <a:avLst/>
          </a:prstGeom>
          <a:noFill/>
          <a:ln w="0">
            <a:noFill/>
          </a:ln>
        </p:spPr>
      </p:pic>
      <p:pic>
        <p:nvPicPr>
          <p:cNvPr id="50" name="Google Shape;101;p19"/>
          <p:cNvPicPr/>
          <p:nvPr/>
        </p:nvPicPr>
        <p:blipFill>
          <a:blip r:embed="rId2"/>
          <a:stretch/>
        </p:blipFill>
        <p:spPr>
          <a:xfrm>
            <a:off x="0" y="0"/>
            <a:ext cx="9143640" cy="506880"/>
          </a:xfrm>
          <a:prstGeom prst="rect">
            <a:avLst/>
          </a:prstGeom>
          <a:noFill/>
          <a:ln w="0">
            <a:noFill/>
          </a:ln>
        </p:spPr>
      </p:pic>
      <p:sp>
        <p:nvSpPr>
          <p:cNvPr id="51" name="Google Shape;102;p19"/>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52" name="Google Shape;103;p19"/>
          <p:cNvSpPr/>
          <p:nvPr/>
        </p:nvSpPr>
        <p:spPr>
          <a:xfrm>
            <a:off x="265320" y="663840"/>
            <a:ext cx="8942760" cy="56160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GB" sz="1600" b="0" u="none" strike="noStrike">
                <a:solidFill>
                  <a:srgbClr val="000000"/>
                </a:solidFill>
                <a:effectLst/>
                <a:uFillTx/>
                <a:latin typeface="Google Sans Flex Medium"/>
                <a:ea typeface="Google Sans Flex Medium"/>
              </a:rPr>
              <a:t>Wireframes/Mock diagrams of the proposed solution (optional)</a:t>
            </a:r>
            <a:endParaRPr lang="en-GB" sz="1600" b="0" u="none" strike="noStrike">
              <a:solidFill>
                <a:srgbClr val="000000"/>
              </a:solidFill>
              <a:effectLst/>
              <a:uFillTx/>
              <a:latin typeface="Arial"/>
            </a:endParaRPr>
          </a:p>
        </p:txBody>
      </p:sp>
      <p:sp>
        <p:nvSpPr>
          <p:cNvPr id="53" name="Rounded Rectangle 52"/>
          <p:cNvSpPr/>
          <p:nvPr/>
        </p:nvSpPr>
        <p:spPr>
          <a:xfrm>
            <a:off x="360000" y="1300000"/>
            <a:ext cx="410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60000" y="1380000"/>
            <a:ext cx="3900000" cy="1520000"/>
          </a:xfrm>
          <a:prstGeom prst="rect">
            <a:avLst/>
          </a:prstGeom>
          <a:noFill/>
        </p:spPr>
        <p:txBody>
          <a:bodyPr wrap="square" lIns="76200" rIns="76200" tIns="76200" bIns="76200">
            <a:spAutoFit/>
          </a:bodyPr>
          <a:lstStyle/>
          <a:p>
            <a:pPr algn="l">
              <a:spcAft>
                <a:spcPts val="400"/>
              </a:spcAft>
            </a:pPr>
            <a:r>
              <a:rPr sz="1300" b="1">
                <a:solidFill>
                  <a:srgbClr val="4F46E5"/>
                </a:solidFill>
                <a:latin typeface="Google Sans Flex SemiBold"/>
              </a:rPr>
              <a:t>1. 50/50 Cinematic Hero Split (Login)</a:t>
            </a:r>
          </a:p>
          <a:p>
            <a:pPr>
              <a:spcAft>
                <a:spcPts val="200"/>
              </a:spcAft>
            </a:pPr>
            <a:r>
              <a:rPr sz="1050" b="1">
                <a:solidFill>
                  <a:srgbClr val="4F46E5"/>
                </a:solidFill>
                <a:latin typeface="Google Sans Flex SemiBold"/>
              </a:rPr>
              <a:t>• Visual Earth Viewport: </a:t>
            </a:r>
            <a:r>
              <a:rPr sz="1000">
                <a:solidFill>
                  <a:srgbClr val="1E293B"/>
                </a:solidFill>
                <a:latin typeface="Google Sans Flex"/>
              </a:rPr>
              <a:t>Full-height WebGL Earth orienting to Singapore/JAPAC sunrise shader with territory nodes.</a:t>
            </a:r>
          </a:p>
          <a:p>
            <a:pPr>
              <a:spcAft>
                <a:spcPts val="200"/>
              </a:spcAft>
            </a:pPr>
            <a:r>
              <a:rPr sz="1050" b="1">
                <a:solidFill>
                  <a:srgbClr val="4F46E5"/>
                </a:solidFill>
                <a:latin typeface="Google Sans Flex SemiBold"/>
              </a:rPr>
              <a:t>• Glassmorphic Auth Card: </a:t>
            </a:r>
            <a:r>
              <a:rPr sz="1000">
                <a:solidFill>
                  <a:srgbClr val="1E293B"/>
                </a:solidFill>
                <a:latin typeface="Google Sans Flex"/>
              </a:rPr>
              <a:t>Google OAuth, passwordless magic links, and 1-Click Judge Demo Mode button.</a:t>
            </a:r>
          </a:p>
          <a:p>
            <a:pPr>
              <a:spcAft>
                <a:spcPts val="200"/>
              </a:spcAft>
            </a:pPr>
            <a:r>
              <a:rPr sz="1050" b="1">
                <a:solidFill>
                  <a:srgbClr val="4F46E5"/>
                </a:solidFill>
                <a:latin typeface="Google Sans Flex SemiBold"/>
              </a:rPr>
              <a:t>• Interactive Language Bar: </a:t>
            </a:r>
            <a:r>
              <a:rPr sz="1000">
                <a:solidFill>
                  <a:srgbClr val="1E293B"/>
                </a:solidFill>
                <a:latin typeface="Google Sans Flex"/>
              </a:rPr>
              <a:t>Visible pill navigation to switch across 7 regional languages instantly.</a:t>
            </a:r>
          </a:p>
        </p:txBody>
      </p:sp>
      <p:sp>
        <p:nvSpPr>
          <p:cNvPr id="55" name="Rounded Rectangle 54"/>
          <p:cNvSpPr/>
          <p:nvPr/>
        </p:nvSpPr>
        <p:spPr>
          <a:xfrm>
            <a:off x="4684000" y="1300000"/>
            <a:ext cx="410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84000" y="1380000"/>
            <a:ext cx="3900000" cy="1520000"/>
          </a:xfrm>
          <a:prstGeom prst="rect">
            <a:avLst/>
          </a:prstGeom>
          <a:noFill/>
        </p:spPr>
        <p:txBody>
          <a:bodyPr wrap="square" lIns="76200" rIns="76200" tIns="76200" bIns="76200">
            <a:spAutoFit/>
          </a:bodyPr>
          <a:lstStyle/>
          <a:p>
            <a:pPr algn="l">
              <a:spcAft>
                <a:spcPts val="400"/>
              </a:spcAft>
            </a:pPr>
            <a:r>
              <a:rPr sz="1300" b="1">
                <a:solidFill>
                  <a:srgbClr val="4285F4"/>
                </a:solidFill>
                <a:latin typeface="Google Sans Flex SemiBold"/>
              </a:rPr>
              <a:t>2. Executive Recognition Dashboard</a:t>
            </a:r>
          </a:p>
          <a:p>
            <a:pPr>
              <a:spcAft>
                <a:spcPts val="200"/>
              </a:spcAft>
            </a:pPr>
            <a:r>
              <a:rPr sz="1050" b="1">
                <a:solidFill>
                  <a:srgbClr val="4285F4"/>
                </a:solidFill>
                <a:latin typeface="Google Sans Flex SemiBold"/>
              </a:rPr>
              <a:t>• KPI Metric Tiles: </a:t>
            </a:r>
            <a:r>
              <a:rPr sz="1000">
                <a:solidFill>
                  <a:srgbClr val="1E293B"/>
                </a:solidFill>
                <a:latin typeface="Google Sans Flex"/>
              </a:rPr>
              <a:t>Real-time employee headcount, upcoming 7-day milestones, and delivery success rate.</a:t>
            </a:r>
          </a:p>
          <a:p>
            <a:pPr>
              <a:spcAft>
                <a:spcPts val="200"/>
              </a:spcAft>
            </a:pPr>
            <a:r>
              <a:rPr sz="1050" b="1">
                <a:solidFill>
                  <a:srgbClr val="4285F4"/>
                </a:solidFill>
                <a:latin typeface="Google Sans Flex SemiBold"/>
              </a:rPr>
              <a:t>• Recognition Velocity: </a:t>
            </a:r>
            <a:r>
              <a:rPr sz="1000">
                <a:solidFill>
                  <a:srgbClr val="1E293B"/>
                </a:solidFill>
                <a:latin typeface="Google Sans Flex"/>
              </a:rPr>
              <a:t>Recharts multi-series area chart tracking weekly recognition throughput.</a:t>
            </a:r>
          </a:p>
          <a:p>
            <a:pPr>
              <a:spcAft>
                <a:spcPts val="200"/>
              </a:spcAft>
            </a:pPr>
            <a:r>
              <a:rPr sz="1050" b="1">
                <a:solidFill>
                  <a:srgbClr val="4285F4"/>
                </a:solidFill>
                <a:latin typeface="Google Sans Flex SemiBold"/>
              </a:rPr>
              <a:t>• Upcoming Radar: </a:t>
            </a:r>
            <a:r>
              <a:rPr sz="1000">
                <a:solidFill>
                  <a:srgbClr val="1E293B"/>
                </a:solidFill>
                <a:latin typeface="Google Sans Flex"/>
              </a:rPr>
              <a:t>Chronological milestone feed with 1-click manual greeting preview and trigger.</a:t>
            </a:r>
          </a:p>
        </p:txBody>
      </p:sp>
      <p:sp>
        <p:nvSpPr>
          <p:cNvPr id="57" name="Rounded Rectangle 56"/>
          <p:cNvSpPr/>
          <p:nvPr/>
        </p:nvSpPr>
        <p:spPr>
          <a:xfrm>
            <a:off x="360000" y="3080000"/>
            <a:ext cx="410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0000" y="3160000"/>
            <a:ext cx="3900000" cy="1520000"/>
          </a:xfrm>
          <a:prstGeom prst="rect">
            <a:avLst/>
          </a:prstGeom>
          <a:noFill/>
        </p:spPr>
        <p:txBody>
          <a:bodyPr wrap="square" lIns="76200" rIns="76200" tIns="76200" bIns="76200">
            <a:spAutoFit/>
          </a:bodyPr>
          <a:lstStyle/>
          <a:p>
            <a:pPr algn="l">
              <a:spcAft>
                <a:spcPts val="400"/>
              </a:spcAft>
            </a:pPr>
            <a:r>
              <a:rPr sz="1300" b="1">
                <a:solidFill>
                  <a:srgbClr val="10B981"/>
                </a:solidFill>
                <a:latin typeface="Google Sans Flex SemiBold"/>
              </a:rPr>
              <a:t>3. Employee Roster Management Hub</a:t>
            </a:r>
          </a:p>
          <a:p>
            <a:pPr>
              <a:spcAft>
                <a:spcPts val="200"/>
              </a:spcAft>
            </a:pPr>
            <a:r>
              <a:rPr sz="1050" b="1">
                <a:solidFill>
                  <a:srgbClr val="10B981"/>
                </a:solidFill>
                <a:latin typeface="Google Sans Flex SemiBold"/>
              </a:rPr>
              <a:t>• Tabular Grid: </a:t>
            </a:r>
            <a:r>
              <a:rPr sz="1000">
                <a:solidFill>
                  <a:srgbClr val="1E293B"/>
                </a:solidFill>
                <a:latin typeface="Google Sans Flex"/>
              </a:rPr>
              <a:t>Editable employee roster with instant toggle switches for automated milestone emails.</a:t>
            </a:r>
          </a:p>
          <a:p>
            <a:pPr>
              <a:spcAft>
                <a:spcPts val="200"/>
              </a:spcAft>
            </a:pPr>
            <a:r>
              <a:rPr sz="1050" b="1">
                <a:solidFill>
                  <a:srgbClr val="10B981"/>
                </a:solidFill>
                <a:latin typeface="Google Sans Flex SemiBold"/>
              </a:rPr>
              <a:t>• SheetJS Import: </a:t>
            </a:r>
            <a:r>
              <a:rPr sz="1000">
                <a:solidFill>
                  <a:srgbClr val="1E293B"/>
                </a:solidFill>
                <a:latin typeface="Google Sans Flex"/>
              </a:rPr>
              <a:t>Drag-and-drop Excel/CSV importer with automated column header detection and preview.</a:t>
            </a:r>
          </a:p>
          <a:p>
            <a:pPr>
              <a:spcAft>
                <a:spcPts val="200"/>
              </a:spcAft>
            </a:pPr>
            <a:r>
              <a:rPr sz="1050" b="1">
                <a:solidFill>
                  <a:srgbClr val="10B981"/>
                </a:solidFill>
                <a:latin typeface="Google Sans Flex SemiBold"/>
              </a:rPr>
              <a:t>• Metabase DB Connector: </a:t>
            </a:r>
            <a:r>
              <a:rPr sz="1000">
                <a:solidFill>
                  <a:srgbClr val="1E293B"/>
                </a:solidFill>
                <a:latin typeface="Google Sans Flex"/>
              </a:rPr>
              <a:t>Wizard connecting external PostgreSQL, MySQL, and BigQuery HR databases.</a:t>
            </a:r>
          </a:p>
        </p:txBody>
      </p:sp>
      <p:sp>
        <p:nvSpPr>
          <p:cNvPr id="59" name="Rounded Rectangle 58"/>
          <p:cNvSpPr/>
          <p:nvPr/>
        </p:nvSpPr>
        <p:spPr>
          <a:xfrm>
            <a:off x="4684000" y="3080000"/>
            <a:ext cx="410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784000" y="3160000"/>
            <a:ext cx="3900000" cy="1520000"/>
          </a:xfrm>
          <a:prstGeom prst="rect">
            <a:avLst/>
          </a:prstGeom>
          <a:noFill/>
        </p:spPr>
        <p:txBody>
          <a:bodyPr wrap="square" lIns="76200" rIns="76200" tIns="76200" bIns="76200">
            <a:spAutoFit/>
          </a:bodyPr>
          <a:lstStyle/>
          <a:p>
            <a:pPr algn="l">
              <a:spcAft>
                <a:spcPts val="400"/>
              </a:spcAft>
            </a:pPr>
            <a:r>
              <a:rPr sz="1300" b="1">
                <a:solidFill>
                  <a:srgbClr val="F59E0B"/>
                </a:solidFill>
                <a:latin typeface="Google Sans Flex SemiBold"/>
              </a:rPr>
              <a:t>4. Omnichannel Settings &amp; Slip OCR</a:t>
            </a:r>
          </a:p>
          <a:p>
            <a:pPr>
              <a:spcAft>
                <a:spcPts val="200"/>
              </a:spcAft>
            </a:pPr>
            <a:r>
              <a:rPr sz="1050" b="1">
                <a:solidFill>
                  <a:srgbClr val="F59E0B"/>
                </a:solidFill>
                <a:latin typeface="Google Sans Flex SemiBold"/>
              </a:rPr>
              <a:t>• Channel Config: </a:t>
            </a:r>
            <a:r>
              <a:rPr sz="1000">
                <a:solidFill>
                  <a:srgbClr val="1E293B"/>
                </a:solidFill>
                <a:latin typeface="Google Sans Flex"/>
              </a:rPr>
              <a:t>Dedicated tabs for Email SMTP (Gmail/Custom), MS Teams Webhooks, and Telegram Bots.</a:t>
            </a:r>
          </a:p>
          <a:p>
            <a:pPr>
              <a:spcAft>
                <a:spcPts val="200"/>
              </a:spcAft>
            </a:pPr>
            <a:r>
              <a:rPr sz="1050" b="1">
                <a:solidFill>
                  <a:srgbClr val="F59E0B"/>
                </a:solidFill>
                <a:latin typeface="Google Sans Flex SemiBold"/>
              </a:rPr>
              <a:t>• Live AI Preview: </a:t>
            </a:r>
            <a:r>
              <a:rPr sz="1000">
                <a:solidFill>
                  <a:srgbClr val="1E293B"/>
                </a:solidFill>
                <a:latin typeface="Google Sans Flex"/>
              </a:rPr>
              <a:t>Real-time Gemini greeting card preview rendered in the employee's native language.</a:t>
            </a:r>
          </a:p>
          <a:p>
            <a:pPr>
              <a:spcAft>
                <a:spcPts val="200"/>
              </a:spcAft>
            </a:pPr>
            <a:r>
              <a:rPr sz="1050" b="1">
                <a:solidFill>
                  <a:srgbClr val="F59E0B"/>
                </a:solidFill>
                <a:latin typeface="Google Sans Flex SemiBold"/>
              </a:rPr>
              <a:t>• Fintech Checkout: </a:t>
            </a:r>
            <a:r>
              <a:rPr sz="1000">
                <a:solidFill>
                  <a:srgbClr val="1E293B"/>
                </a:solidFill>
                <a:latin typeface="Google Sans Flex"/>
              </a:rPr>
              <a:t>Dynamic payment QR code with on-device canvas OCR receipt scanning.</a:t>
            </a: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3" name="Google Shape;108;p20"/>
          <p:cNvPicPr/>
          <p:nvPr/>
        </p:nvPicPr>
        <p:blipFill>
          <a:blip r:embed="rId1"/>
          <a:srcRect l="0" t="0" r="0" b="97986"/>
          <a:stretch/>
        </p:blipFill>
        <p:spPr>
          <a:xfrm>
            <a:off x="0" y="5093640"/>
            <a:ext cx="9143640" cy="54000"/>
          </a:xfrm>
          <a:prstGeom prst="rect">
            <a:avLst/>
          </a:prstGeom>
          <a:noFill/>
          <a:ln w="0">
            <a:noFill/>
          </a:ln>
        </p:spPr>
      </p:pic>
      <p:pic>
        <p:nvPicPr>
          <p:cNvPr id="54" name="Google Shape;109;p20"/>
          <p:cNvPicPr/>
          <p:nvPr/>
        </p:nvPicPr>
        <p:blipFill>
          <a:blip r:embed="rId2"/>
          <a:stretch/>
        </p:blipFill>
        <p:spPr>
          <a:xfrm>
            <a:off x="0" y="0"/>
            <a:ext cx="9143640" cy="506880"/>
          </a:xfrm>
          <a:prstGeom prst="rect">
            <a:avLst/>
          </a:prstGeom>
          <a:noFill/>
          <a:ln w="0">
            <a:noFill/>
          </a:ln>
        </p:spPr>
      </p:pic>
      <p:sp>
        <p:nvSpPr>
          <p:cNvPr id="55" name="Google Shape;110;p20"/>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56" name="Google Shape;111;p20"/>
          <p:cNvSpPr/>
          <p:nvPr/>
        </p:nvSpPr>
        <p:spPr>
          <a:xfrm>
            <a:off x="265320" y="663840"/>
            <a:ext cx="8942760" cy="56160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GB" sz="1600" b="0" u="none" strike="noStrike">
                <a:solidFill>
                  <a:srgbClr val="000000"/>
                </a:solidFill>
                <a:effectLst/>
                <a:uFillTx/>
                <a:latin typeface="Google Sans Flex Medium"/>
                <a:ea typeface="Google Sans Flex Medium"/>
              </a:rPr>
              <a:t>Architecture diagram of the proposed solution</a:t>
            </a:r>
            <a:endParaRPr lang="en-GB" sz="1600" b="0" u="none" strike="noStrike">
              <a:solidFill>
                <a:srgbClr val="000000"/>
              </a:solidFill>
              <a:effectLst/>
              <a:uFillTx/>
              <a:latin typeface="Arial"/>
            </a:endParaRPr>
          </a:p>
        </p:txBody>
      </p:sp>
      <p:sp>
        <p:nvSpPr>
          <p:cNvPr id="57" name="Rounded Rectangle 56"/>
          <p:cNvSpPr/>
          <p:nvPr/>
        </p:nvSpPr>
        <p:spPr>
          <a:xfrm>
            <a:off x="360000" y="1300000"/>
            <a:ext cx="8424000" cy="86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0000" y="1360000"/>
            <a:ext cx="8184000" cy="740000"/>
          </a:xfrm>
          <a:prstGeom prst="rect">
            <a:avLst/>
          </a:prstGeom>
          <a:noFill/>
        </p:spPr>
        <p:txBody>
          <a:bodyPr wrap="square" lIns="76200" rIns="76200" tIns="76200" bIns="76200">
            <a:spAutoFit/>
          </a:bodyPr>
          <a:lstStyle/>
          <a:p>
            <a:pPr algn="l">
              <a:spcAft>
                <a:spcPts val="200"/>
              </a:spcAft>
            </a:pPr>
            <a:r>
              <a:rPr sz="1200" b="1">
                <a:solidFill>
                  <a:srgbClr val="4F46E5"/>
                </a:solidFill>
                <a:latin typeface="Google Sans Flex SemiBold"/>
              </a:rPr>
              <a:t>Layer 1: Presentation &amp; Client Layer (React 19 + Three.js WebGL)</a:t>
            </a:r>
          </a:p>
          <a:p>
            <a:pPr>
              <a:spcAft>
                <a:spcPts val="0"/>
              </a:spcAft>
            </a:pPr>
            <a:r>
              <a:rPr sz="1000" b="1">
                <a:solidFill>
                  <a:srgbClr val="1E293B"/>
                </a:solidFill>
                <a:latin typeface="Google Sans Flex SemiBold"/>
              </a:rPr>
              <a:t>Core UI Stack: </a:t>
            </a:r>
            <a:r>
              <a:rPr sz="1000">
                <a:solidFill>
                  <a:srgbClr val="64748B"/>
                </a:solidFill>
                <a:latin typeface="Google Sans Flex"/>
              </a:rPr>
              <a:t>React 19.0, TypeScript 5.8, Vite 6.4, Tailwind CSS v4, Lucide React icons.</a:t>
            </a:r>
            <a:r>
              <a:rPr>
                <a:solidFill>
                  <a:srgbClr val="E2E8F0"/>
                </a:solidFill>
              </a:rPr>
              <a:t>   |   </a:t>
            </a:r>
            <a:r>
              <a:rPr sz="1000" b="1">
                <a:solidFill>
                  <a:srgbClr val="1E293B"/>
                </a:solidFill>
                <a:latin typeface="Google Sans Flex SemiBold"/>
              </a:rPr>
              <a:t>3D JAPAC Globe: </a:t>
            </a:r>
            <a:r>
              <a:rPr sz="1000">
                <a:solidFill>
                  <a:srgbClr val="64748B"/>
                </a:solidFill>
                <a:latin typeface="Google Sans Flex"/>
              </a:rPr>
              <a:t>Three.js r160 WebGL Earth with GeoJSON border mapping, front-facing lighting, and SLERP arcs.</a:t>
            </a:r>
            <a:r>
              <a:rPr>
                <a:solidFill>
                  <a:srgbClr val="E2E8F0"/>
                </a:solidFill>
              </a:rPr>
              <a:t>   |   </a:t>
            </a:r>
            <a:r>
              <a:rPr sz="1000" b="1">
                <a:solidFill>
                  <a:srgbClr val="1E293B"/>
                </a:solidFill>
                <a:latin typeface="Google Sans Flex SemiBold"/>
              </a:rPr>
              <a:t>Enterprise UX: </a:t>
            </a:r>
            <a:r>
              <a:rPr sz="1000">
                <a:solidFill>
                  <a:srgbClr val="64748B"/>
                </a:solidFill>
                <a:latin typeface="Google Sans Flex"/>
              </a:rPr>
              <a:t>Recharts 2.15 analytics, i18next supporting 7 native JAPAC locales with script-safe typography.</a:t>
            </a:r>
          </a:p>
        </p:txBody>
      </p:sp>
      <p:sp>
        <p:nvSpPr>
          <p:cNvPr id="59" name="Rounded Rectangle 58"/>
          <p:cNvSpPr/>
          <p:nvPr/>
        </p:nvSpPr>
        <p:spPr>
          <a:xfrm>
            <a:off x="360000" y="2220000"/>
            <a:ext cx="8424000" cy="86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0000" y="2280000"/>
            <a:ext cx="8184000" cy="740000"/>
          </a:xfrm>
          <a:prstGeom prst="rect">
            <a:avLst/>
          </a:prstGeom>
          <a:noFill/>
        </p:spPr>
        <p:txBody>
          <a:bodyPr wrap="square" lIns="76200" rIns="76200" tIns="76200" bIns="76200">
            <a:spAutoFit/>
          </a:bodyPr>
          <a:lstStyle/>
          <a:p>
            <a:pPr algn="l">
              <a:spcAft>
                <a:spcPts val="200"/>
              </a:spcAft>
            </a:pPr>
            <a:r>
              <a:rPr sz="1200" b="1">
                <a:solidFill>
                  <a:srgbClr val="4285F4"/>
                </a:solidFill>
                <a:latin typeface="Google Sans Flex SemiBold"/>
              </a:rPr>
              <a:t>Layer 2: Intelligence &amp; Client-Side Processing Layer</a:t>
            </a:r>
          </a:p>
          <a:p>
            <a:pPr>
              <a:spcAft>
                <a:spcPts val="0"/>
              </a:spcAft>
            </a:pPr>
            <a:r>
              <a:rPr sz="1000" b="1">
                <a:solidFill>
                  <a:srgbClr val="1E293B"/>
                </a:solidFill>
                <a:latin typeface="Google Sans Flex SemiBold"/>
              </a:rPr>
              <a:t>Generative AI: </a:t>
            </a:r>
            <a:r>
              <a:rPr sz="1000">
                <a:solidFill>
                  <a:srgbClr val="64748B"/>
                </a:solidFill>
                <a:latin typeface="Google Sans Flex"/>
              </a:rPr>
              <a:t>Google Gemini (gemini-2.5-flash) synthesizing personalized, culture-aware celebration copy.</a:t>
            </a:r>
            <a:r>
              <a:rPr>
                <a:solidFill>
                  <a:srgbClr val="E2E8F0"/>
                </a:solidFill>
              </a:rPr>
              <a:t>   |   </a:t>
            </a:r>
            <a:r>
              <a:rPr sz="1000" b="1">
                <a:solidFill>
                  <a:srgbClr val="1E293B"/>
                </a:solidFill>
                <a:latin typeface="Google Sans Flex SemiBold"/>
              </a:rPr>
              <a:t>Client-Side Slip OCR: </a:t>
            </a:r>
            <a:r>
              <a:rPr sz="1000">
                <a:solidFill>
                  <a:srgbClr val="64748B"/>
                </a:solidFill>
                <a:latin typeface="Google Sans Flex"/>
              </a:rPr>
              <a:t>HTML5 Canvas luminance and edge-density computer vision scanner verifying payment receipts.</a:t>
            </a:r>
            <a:r>
              <a:rPr>
                <a:solidFill>
                  <a:srgbClr val="E2E8F0"/>
                </a:solidFill>
              </a:rPr>
              <a:t>   |   </a:t>
            </a:r>
            <a:r>
              <a:rPr sz="1000" b="1">
                <a:solidFill>
                  <a:srgbClr val="1E293B"/>
                </a:solidFill>
                <a:latin typeface="Google Sans Flex SemiBold"/>
              </a:rPr>
              <a:t>Data Parsing: </a:t>
            </a:r>
            <a:r>
              <a:rPr sz="1000">
                <a:solidFill>
                  <a:srgbClr val="64748B"/>
                </a:solidFill>
                <a:latin typeface="Google Sans Flex"/>
              </a:rPr>
              <a:t>SheetJS (xlsx 0.18.5) client-side Excel/CSV parsing, column schema mapping, and export.</a:t>
            </a:r>
          </a:p>
        </p:txBody>
      </p:sp>
      <p:sp>
        <p:nvSpPr>
          <p:cNvPr id="61" name="Rounded Rectangle 60"/>
          <p:cNvSpPr/>
          <p:nvPr/>
        </p:nvSpPr>
        <p:spPr>
          <a:xfrm>
            <a:off x="360000" y="3140000"/>
            <a:ext cx="8424000" cy="86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0000" y="3200000"/>
            <a:ext cx="8184000" cy="740000"/>
          </a:xfrm>
          <a:prstGeom prst="rect">
            <a:avLst/>
          </a:prstGeom>
          <a:noFill/>
        </p:spPr>
        <p:txBody>
          <a:bodyPr wrap="square" lIns="76200" rIns="76200" tIns="76200" bIns="76200">
            <a:spAutoFit/>
          </a:bodyPr>
          <a:lstStyle/>
          <a:p>
            <a:pPr algn="l">
              <a:spcAft>
                <a:spcPts val="200"/>
              </a:spcAft>
            </a:pPr>
            <a:r>
              <a:rPr sz="1200" b="1">
                <a:solidFill>
                  <a:srgbClr val="10B981"/>
                </a:solidFill>
                <a:latin typeface="Google Sans Flex SemiBold"/>
              </a:rPr>
              <a:t>Layer 3: Backend &amp; Serverless Automation Layer</a:t>
            </a:r>
          </a:p>
          <a:p>
            <a:pPr>
              <a:spcAft>
                <a:spcPts val="0"/>
              </a:spcAft>
            </a:pPr>
            <a:r>
              <a:rPr sz="1000" b="1">
                <a:solidFill>
                  <a:srgbClr val="1E293B"/>
                </a:solidFill>
                <a:latin typeface="Google Sans Flex SemiBold"/>
              </a:rPr>
              <a:t>Cloud Functions: </a:t>
            </a:r>
            <a:r>
              <a:rPr sz="1000">
                <a:solidFill>
                  <a:srgbClr val="64748B"/>
                </a:solidFill>
                <a:latin typeface="Google Sans Flex"/>
              </a:rPr>
              <a:t>Firebase Cloud Functions (Node 20 runtime) executing scheduled milestone evaluation.</a:t>
            </a:r>
            <a:r>
              <a:rPr>
                <a:solidFill>
                  <a:srgbClr val="E2E8F0"/>
                </a:solidFill>
              </a:rPr>
              <a:t>   |   </a:t>
            </a:r>
            <a:r>
              <a:rPr sz="1000" b="1">
                <a:solidFill>
                  <a:srgbClr val="1E293B"/>
                </a:solidFill>
                <a:latin typeface="Google Sans Flex SemiBold"/>
              </a:rPr>
              <a:t>Cloud Scheduler: </a:t>
            </a:r>
            <a:r>
              <a:rPr sz="1000">
                <a:solidFill>
                  <a:srgbClr val="64748B"/>
                </a:solidFill>
                <a:latin typeface="Google Sans Flex"/>
              </a:rPr>
              <a:t>Daily cron trigger firing at 09:00 AM (Asia/Rangoon) for zero-touch recognition dispatch.</a:t>
            </a:r>
            <a:r>
              <a:rPr>
                <a:solidFill>
                  <a:srgbClr val="E2E8F0"/>
                </a:solidFill>
              </a:rPr>
              <a:t>   |   </a:t>
            </a:r>
            <a:r>
              <a:rPr sz="1000" b="1">
                <a:solidFill>
                  <a:srgbClr val="1E293B"/>
                </a:solidFill>
                <a:latin typeface="Google Sans Flex SemiBold"/>
              </a:rPr>
              <a:t>Omnichannel Dispatcher: </a:t>
            </a:r>
            <a:r>
              <a:rPr sz="1000">
                <a:solidFill>
                  <a:srgbClr val="64748B"/>
                </a:solidFill>
                <a:latin typeface="Google Sans Flex"/>
              </a:rPr>
              <a:t>Nodemailer SMTP (Gmail/Custom), MS Teams Adaptive Cards, Telegram Bot API.</a:t>
            </a:r>
          </a:p>
        </p:txBody>
      </p:sp>
      <p:sp>
        <p:nvSpPr>
          <p:cNvPr id="63" name="Rounded Rectangle 62"/>
          <p:cNvSpPr/>
          <p:nvPr/>
        </p:nvSpPr>
        <p:spPr>
          <a:xfrm>
            <a:off x="360000" y="4060000"/>
            <a:ext cx="8424000" cy="86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80000" y="4120000"/>
            <a:ext cx="8184000" cy="740000"/>
          </a:xfrm>
          <a:prstGeom prst="rect">
            <a:avLst/>
          </a:prstGeom>
          <a:noFill/>
        </p:spPr>
        <p:txBody>
          <a:bodyPr wrap="square" lIns="76200" rIns="76200" tIns="76200" bIns="76200">
            <a:spAutoFit/>
          </a:bodyPr>
          <a:lstStyle/>
          <a:p>
            <a:pPr algn="l">
              <a:spcAft>
                <a:spcPts val="200"/>
              </a:spcAft>
            </a:pPr>
            <a:r>
              <a:rPr sz="1200" b="1">
                <a:solidFill>
                  <a:srgbClr val="0F172A"/>
                </a:solidFill>
                <a:latin typeface="Google Sans Flex SemiBold"/>
              </a:rPr>
              <a:t>Layer 4: Persistence, Security &amp; Identity Layer</a:t>
            </a:r>
          </a:p>
          <a:p>
            <a:pPr>
              <a:spcAft>
                <a:spcPts val="0"/>
              </a:spcAft>
            </a:pPr>
            <a:r>
              <a:rPr sz="1000" b="1">
                <a:solidFill>
                  <a:srgbClr val="1E293B"/>
                </a:solidFill>
                <a:latin typeface="Google Sans Flex SemiBold"/>
              </a:rPr>
              <a:t>Multi-Tenant DB: </a:t>
            </a:r>
            <a:r>
              <a:rPr sz="1000">
                <a:solidFill>
                  <a:srgbClr val="64748B"/>
                </a:solidFill>
                <a:latin typeface="Google Sans Flex"/>
              </a:rPr>
              <a:t>Firebase Firestore with strict collection-level role-based security rules (firestore.rules).</a:t>
            </a:r>
            <a:r>
              <a:rPr>
                <a:solidFill>
                  <a:srgbClr val="E2E8F0"/>
                </a:solidFill>
              </a:rPr>
              <a:t>   |   </a:t>
            </a:r>
            <a:r>
              <a:rPr sz="1000" b="1">
                <a:solidFill>
                  <a:srgbClr val="1E293B"/>
                </a:solidFill>
                <a:latin typeface="Google Sans Flex SemiBold"/>
              </a:rPr>
              <a:t>Identity &amp; RBAC: </a:t>
            </a:r>
            <a:r>
              <a:rPr sz="1000">
                <a:solidFill>
                  <a:srgbClr val="64748B"/>
                </a:solidFill>
                <a:latin typeface="Google Sans Flex"/>
              </a:rPr>
              <a:t>Firebase Authentication (Google OAuth, passwordless) + instant Demo Session Store.</a:t>
            </a:r>
            <a:r>
              <a:rPr>
                <a:solidFill>
                  <a:srgbClr val="E2E8F0"/>
                </a:solidFill>
              </a:rPr>
              <a:t>   |   </a:t>
            </a:r>
            <a:r>
              <a:rPr sz="1000" b="1">
                <a:solidFill>
                  <a:srgbClr val="1E293B"/>
                </a:solidFill>
                <a:latin typeface="Google Sans Flex SemiBold"/>
              </a:rPr>
              <a:t>Cloud Run Ready: </a:t>
            </a:r>
            <a:r>
              <a:rPr sz="1000">
                <a:solidFill>
                  <a:srgbClr val="64748B"/>
                </a:solidFill>
                <a:latin typeface="Google Sans Flex"/>
              </a:rPr>
              <a:t>Containerized microservice architecture ready for Google Cloud Run deployment.</a:t>
            </a: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7" name="Google Shape;116;p21"/>
          <p:cNvPicPr/>
          <p:nvPr/>
        </p:nvPicPr>
        <p:blipFill>
          <a:blip r:embed="rId1"/>
          <a:srcRect l="0" t="0" r="0" b="97986"/>
          <a:stretch/>
        </p:blipFill>
        <p:spPr>
          <a:xfrm>
            <a:off x="0" y="5093640"/>
            <a:ext cx="9143640" cy="54000"/>
          </a:xfrm>
          <a:prstGeom prst="rect">
            <a:avLst/>
          </a:prstGeom>
          <a:noFill/>
          <a:ln w="0">
            <a:noFill/>
          </a:ln>
        </p:spPr>
      </p:pic>
      <p:pic>
        <p:nvPicPr>
          <p:cNvPr id="58" name="Google Shape;117;p21"/>
          <p:cNvPicPr/>
          <p:nvPr/>
        </p:nvPicPr>
        <p:blipFill>
          <a:blip r:embed="rId2"/>
          <a:stretch/>
        </p:blipFill>
        <p:spPr>
          <a:xfrm>
            <a:off x="0" y="0"/>
            <a:ext cx="9143640" cy="506880"/>
          </a:xfrm>
          <a:prstGeom prst="rect">
            <a:avLst/>
          </a:prstGeom>
          <a:noFill/>
          <a:ln w="0">
            <a:noFill/>
          </a:ln>
        </p:spPr>
      </p:pic>
      <p:sp>
        <p:nvSpPr>
          <p:cNvPr id="59" name="Google Shape;118;p21"/>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60" name="Google Shape;119;p21"/>
          <p:cNvSpPr/>
          <p:nvPr/>
        </p:nvSpPr>
        <p:spPr>
          <a:xfrm>
            <a:off x="265320" y="663840"/>
            <a:ext cx="8942760" cy="56160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GB" sz="1600" b="0" u="none" strike="noStrike">
                <a:solidFill>
                  <a:srgbClr val="000000"/>
                </a:solidFill>
                <a:effectLst/>
                <a:uFillTx/>
                <a:latin typeface="Google Sans Flex Medium"/>
                <a:ea typeface="Google Sans Flex Medium"/>
              </a:rPr>
              <a:t>Technologies to be used in the solution</a:t>
            </a:r>
            <a:endParaRPr lang="en-GB" sz="1600" b="0" u="none" strike="noStrike">
              <a:solidFill>
                <a:srgbClr val="000000"/>
              </a:solidFill>
              <a:effectLst/>
              <a:uFillTx/>
              <a:latin typeface="Arial"/>
            </a:endParaRPr>
          </a:p>
        </p:txBody>
      </p:sp>
      <p:sp>
        <p:nvSpPr>
          <p:cNvPr id="61" name="Rounded Rectangle 60"/>
          <p:cNvSpPr/>
          <p:nvPr/>
        </p:nvSpPr>
        <p:spPr>
          <a:xfrm>
            <a:off x="360000" y="130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0000" y="1360000"/>
            <a:ext cx="2580000" cy="1560000"/>
          </a:xfrm>
          <a:prstGeom prst="rect">
            <a:avLst/>
          </a:prstGeom>
          <a:noFill/>
        </p:spPr>
        <p:txBody>
          <a:bodyPr wrap="square" lIns="76200" rIns="76200" tIns="76200" bIns="76200">
            <a:spAutoFit/>
          </a:bodyPr>
          <a:lstStyle/>
          <a:p>
            <a:pPr algn="l">
              <a:spcAft>
                <a:spcPts val="300"/>
              </a:spcAft>
            </a:pPr>
            <a:r>
              <a:rPr sz="1150" b="1">
                <a:solidFill>
                  <a:srgbClr val="4F46E5"/>
                </a:solidFill>
                <a:latin typeface="Google Sans Flex SemiBold"/>
              </a:rPr>
              <a:t>Frontend &amp; Reactive UI</a:t>
            </a:r>
          </a:p>
          <a:p>
            <a:pPr>
              <a:spcAft>
                <a:spcPts val="200"/>
              </a:spcAft>
            </a:pPr>
            <a:r>
              <a:rPr sz="950" b="1">
                <a:solidFill>
                  <a:srgbClr val="4F46E5"/>
                </a:solidFill>
                <a:latin typeface="Google Sans Flex SemiBold"/>
              </a:rPr>
              <a:t>• React 19.0: </a:t>
            </a:r>
            <a:r>
              <a:rPr sz="900">
                <a:solidFill>
                  <a:srgbClr val="1E293B"/>
                </a:solidFill>
                <a:latin typeface="Google Sans Flex"/>
              </a:rPr>
              <a:t>Concurrent rendering and component architecture.</a:t>
            </a:r>
          </a:p>
          <a:p>
            <a:pPr>
              <a:spcAft>
                <a:spcPts val="200"/>
              </a:spcAft>
            </a:pPr>
            <a:r>
              <a:rPr sz="950" b="1">
                <a:solidFill>
                  <a:srgbClr val="4F46E5"/>
                </a:solidFill>
                <a:latin typeface="Google Sans Flex SemiBold"/>
              </a:rPr>
              <a:t>• TypeScript 5.8: </a:t>
            </a:r>
            <a:r>
              <a:rPr sz="900">
                <a:solidFill>
                  <a:srgbClr val="1E293B"/>
                </a:solidFill>
                <a:latin typeface="Google Sans Flex"/>
              </a:rPr>
              <a:t>Strict enterprise typing and schema models.</a:t>
            </a:r>
          </a:p>
          <a:p>
            <a:pPr>
              <a:spcAft>
                <a:spcPts val="200"/>
              </a:spcAft>
            </a:pPr>
            <a:r>
              <a:rPr sz="950" b="1">
                <a:solidFill>
                  <a:srgbClr val="4F46E5"/>
                </a:solidFill>
                <a:latin typeface="Google Sans Flex SemiBold"/>
              </a:rPr>
              <a:t>• Vite 6.4: </a:t>
            </a:r>
            <a:r>
              <a:rPr sz="900">
                <a:solidFill>
                  <a:srgbClr val="1E293B"/>
                </a:solidFill>
                <a:latin typeface="Google Sans Flex"/>
              </a:rPr>
              <a:t>Lightning-fast HMR and Rollup vendor code-splitting.</a:t>
            </a:r>
          </a:p>
          <a:p>
            <a:pPr>
              <a:spcAft>
                <a:spcPts val="200"/>
              </a:spcAft>
            </a:pPr>
            <a:r>
              <a:rPr sz="950" b="1">
                <a:solidFill>
                  <a:srgbClr val="4F46E5"/>
                </a:solidFill>
                <a:latin typeface="Google Sans Flex SemiBold"/>
              </a:rPr>
              <a:t>• Tailwind CSS v4: </a:t>
            </a:r>
            <a:r>
              <a:rPr sz="900">
                <a:solidFill>
                  <a:srgbClr val="1E293B"/>
                </a:solidFill>
                <a:latin typeface="Google Sans Flex"/>
              </a:rPr>
              <a:t>CSS-first modern styling with dark/light themes.</a:t>
            </a:r>
          </a:p>
        </p:txBody>
      </p:sp>
      <p:sp>
        <p:nvSpPr>
          <p:cNvPr id="63" name="Rounded Rectangle 62"/>
          <p:cNvSpPr/>
          <p:nvPr/>
        </p:nvSpPr>
        <p:spPr>
          <a:xfrm>
            <a:off x="3240000" y="130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320000" y="1360000"/>
            <a:ext cx="2580000" cy="1560000"/>
          </a:xfrm>
          <a:prstGeom prst="rect">
            <a:avLst/>
          </a:prstGeom>
          <a:noFill/>
        </p:spPr>
        <p:txBody>
          <a:bodyPr wrap="square" lIns="76200" rIns="76200" tIns="76200" bIns="76200">
            <a:spAutoFit/>
          </a:bodyPr>
          <a:lstStyle/>
          <a:p>
            <a:pPr algn="l">
              <a:spcAft>
                <a:spcPts val="300"/>
              </a:spcAft>
            </a:pPr>
            <a:r>
              <a:rPr sz="1150" b="1">
                <a:solidFill>
                  <a:srgbClr val="4285F4"/>
                </a:solidFill>
                <a:latin typeface="Google Sans Flex SemiBold"/>
              </a:rPr>
              <a:t>3D Graphics &amp; Spatial Math</a:t>
            </a:r>
          </a:p>
          <a:p>
            <a:pPr>
              <a:spcAft>
                <a:spcPts val="200"/>
              </a:spcAft>
            </a:pPr>
            <a:r>
              <a:rPr sz="950" b="1">
                <a:solidFill>
                  <a:srgbClr val="4285F4"/>
                </a:solidFill>
                <a:latin typeface="Google Sans Flex SemiBold"/>
              </a:rPr>
              <a:t>• Three.js r160: </a:t>
            </a:r>
            <a:r>
              <a:rPr sz="900">
                <a:solidFill>
                  <a:srgbClr val="1E293B"/>
                </a:solidFill>
                <a:latin typeface="Google Sans Flex"/>
              </a:rPr>
              <a:t>WebGL interactive 3D Earth planet visualization.</a:t>
            </a:r>
          </a:p>
          <a:p>
            <a:pPr>
              <a:spcAft>
                <a:spcPts val="200"/>
              </a:spcAft>
            </a:pPr>
            <a:r>
              <a:rPr sz="950" b="1">
                <a:solidFill>
                  <a:srgbClr val="4285F4"/>
                </a:solidFill>
                <a:latin typeface="Google Sans Flex SemiBold"/>
              </a:rPr>
              <a:t>• GeoJSON Cartography: </a:t>
            </a:r>
            <a:r>
              <a:rPr sz="900">
                <a:solidFill>
                  <a:srgbClr val="1E293B"/>
                </a:solidFill>
                <a:latin typeface="Google Sans Flex"/>
              </a:rPr>
              <a:t>Precise country borders for 34 JAPAC territories.</a:t>
            </a:r>
          </a:p>
          <a:p>
            <a:pPr>
              <a:spcAft>
                <a:spcPts val="200"/>
              </a:spcAft>
            </a:pPr>
            <a:r>
              <a:rPr sz="950" b="1">
                <a:solidFill>
                  <a:srgbClr val="4285F4"/>
                </a:solidFill>
                <a:latin typeface="Google Sans Flex SemiBold"/>
              </a:rPr>
              <a:t>• SLERP Mathematics: </a:t>
            </a:r>
            <a:r>
              <a:rPr sz="900">
                <a:solidFill>
                  <a:srgbClr val="1E293B"/>
                </a:solidFill>
                <a:latin typeface="Google Sans Flex"/>
              </a:rPr>
              <a:t>Spherical linear interpolation for flight arc trajectories.</a:t>
            </a:r>
          </a:p>
          <a:p>
            <a:pPr>
              <a:spcAft>
                <a:spcPts val="200"/>
              </a:spcAft>
            </a:pPr>
            <a:r>
              <a:rPr sz="950" b="1">
                <a:solidFill>
                  <a:srgbClr val="4285F4"/>
                </a:solidFill>
                <a:latin typeface="Google Sans Flex SemiBold"/>
              </a:rPr>
              <a:t>• Front-Facing Lighting: </a:t>
            </a:r>
            <a:r>
              <a:rPr sz="900">
                <a:solidFill>
                  <a:srgbClr val="1E293B"/>
                </a:solidFill>
                <a:latin typeface="Google Sans Flex"/>
              </a:rPr>
              <a:t>Camera-anchored lighting preventing dark voids.</a:t>
            </a:r>
          </a:p>
        </p:txBody>
      </p:sp>
      <p:sp>
        <p:nvSpPr>
          <p:cNvPr id="65" name="Rounded Rectangle 64"/>
          <p:cNvSpPr/>
          <p:nvPr/>
        </p:nvSpPr>
        <p:spPr>
          <a:xfrm>
            <a:off x="6120000" y="130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00000" y="1360000"/>
            <a:ext cx="2580000" cy="1560000"/>
          </a:xfrm>
          <a:prstGeom prst="rect">
            <a:avLst/>
          </a:prstGeom>
          <a:noFill/>
        </p:spPr>
        <p:txBody>
          <a:bodyPr wrap="square" lIns="76200" rIns="76200" tIns="76200" bIns="76200">
            <a:spAutoFit/>
          </a:bodyPr>
          <a:lstStyle/>
          <a:p>
            <a:pPr algn="l">
              <a:spcAft>
                <a:spcPts val="300"/>
              </a:spcAft>
            </a:pPr>
            <a:r>
              <a:rPr sz="1150" b="1">
                <a:solidFill>
                  <a:srgbClr val="10B981"/>
                </a:solidFill>
                <a:latin typeface="Google Sans Flex SemiBold"/>
              </a:rPr>
              <a:t>Artificial Intelligence &amp; ML</a:t>
            </a:r>
          </a:p>
          <a:p>
            <a:pPr>
              <a:spcAft>
                <a:spcPts val="200"/>
              </a:spcAft>
            </a:pPr>
            <a:r>
              <a:rPr sz="950" b="1">
                <a:solidFill>
                  <a:srgbClr val="10B981"/>
                </a:solidFill>
                <a:latin typeface="Google Sans Flex SemiBold"/>
              </a:rPr>
              <a:t>• Google Gemini 2.5 Flash: </a:t>
            </a:r>
            <a:r>
              <a:rPr sz="900">
                <a:solidFill>
                  <a:srgbClr val="1E293B"/>
                </a:solidFill>
                <a:latin typeface="Google Sans Flex"/>
              </a:rPr>
              <a:t>Multilingual contextual celebration copywriter.</a:t>
            </a:r>
          </a:p>
          <a:p>
            <a:pPr>
              <a:spcAft>
                <a:spcPts val="200"/>
              </a:spcAft>
            </a:pPr>
            <a:r>
              <a:rPr sz="950" b="1">
                <a:solidFill>
                  <a:srgbClr val="10B981"/>
                </a:solidFill>
                <a:latin typeface="Google Sans Flex SemiBold"/>
              </a:rPr>
              <a:t>• Multimodal Vision OCR: </a:t>
            </a:r>
            <a:r>
              <a:rPr sz="900">
                <a:solidFill>
                  <a:srgbClr val="1E293B"/>
                </a:solidFill>
                <a:latin typeface="Google Sans Flex"/>
              </a:rPr>
              <a:t>Automated payment slip and document analysis.</a:t>
            </a:r>
          </a:p>
          <a:p>
            <a:pPr>
              <a:spcAft>
                <a:spcPts val="200"/>
              </a:spcAft>
            </a:pPr>
            <a:r>
              <a:rPr sz="950" b="1">
                <a:solidFill>
                  <a:srgbClr val="10B981"/>
                </a:solidFill>
                <a:latin typeface="Google Sans Flex SemiBold"/>
              </a:rPr>
              <a:t>• Structured JSON Output: </a:t>
            </a:r>
            <a:r>
              <a:rPr sz="900">
                <a:solidFill>
                  <a:srgbClr val="1E293B"/>
                </a:solidFill>
                <a:latin typeface="Google Sans Flex"/>
              </a:rPr>
              <a:t>Predictable schema generation for notification payloads.</a:t>
            </a:r>
          </a:p>
          <a:p>
            <a:pPr>
              <a:spcAft>
                <a:spcPts val="200"/>
              </a:spcAft>
            </a:pPr>
            <a:r>
              <a:rPr sz="950" b="1">
                <a:solidFill>
                  <a:srgbClr val="10B981"/>
                </a:solidFill>
                <a:latin typeface="Google Sans Flex SemiBold"/>
              </a:rPr>
              <a:t>• Offline Fallbacks: </a:t>
            </a:r>
            <a:r>
              <a:rPr sz="900">
                <a:solidFill>
                  <a:srgbClr val="1E293B"/>
                </a:solidFill>
                <a:latin typeface="Google Sans Flex"/>
              </a:rPr>
              <a:t>Deterministic templates ensuring 100% demo uptime.</a:t>
            </a:r>
          </a:p>
        </p:txBody>
      </p:sp>
      <p:sp>
        <p:nvSpPr>
          <p:cNvPr id="67" name="Rounded Rectangle 66"/>
          <p:cNvSpPr/>
          <p:nvPr/>
        </p:nvSpPr>
        <p:spPr>
          <a:xfrm>
            <a:off x="360000" y="308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40000" y="3140000"/>
            <a:ext cx="2580000" cy="1560000"/>
          </a:xfrm>
          <a:prstGeom prst="rect">
            <a:avLst/>
          </a:prstGeom>
          <a:noFill/>
        </p:spPr>
        <p:txBody>
          <a:bodyPr wrap="square" lIns="76200" rIns="76200" tIns="76200" bIns="76200">
            <a:spAutoFit/>
          </a:bodyPr>
          <a:lstStyle/>
          <a:p>
            <a:pPr algn="l">
              <a:spcAft>
                <a:spcPts val="300"/>
              </a:spcAft>
            </a:pPr>
            <a:r>
              <a:rPr sz="1150" b="1">
                <a:solidFill>
                  <a:srgbClr val="F43F5E"/>
                </a:solidFill>
                <a:latin typeface="Google Sans Flex SemiBold"/>
              </a:rPr>
              <a:t>Cloud &amp; Serverless Backend</a:t>
            </a:r>
          </a:p>
          <a:p>
            <a:pPr>
              <a:spcAft>
                <a:spcPts val="200"/>
              </a:spcAft>
            </a:pPr>
            <a:r>
              <a:rPr sz="950" b="1">
                <a:solidFill>
                  <a:srgbClr val="F43F5E"/>
                </a:solidFill>
                <a:latin typeface="Google Sans Flex SemiBold"/>
              </a:rPr>
              <a:t>• Firebase Cloud Functions: </a:t>
            </a:r>
            <a:r>
              <a:rPr sz="900">
                <a:solidFill>
                  <a:srgbClr val="1E293B"/>
                </a:solidFill>
                <a:latin typeface="Google Sans Flex"/>
              </a:rPr>
              <a:t>Node 20 serverless milestone cron engine.</a:t>
            </a:r>
          </a:p>
          <a:p>
            <a:pPr>
              <a:spcAft>
                <a:spcPts val="200"/>
              </a:spcAft>
            </a:pPr>
            <a:r>
              <a:rPr sz="950" b="1">
                <a:solidFill>
                  <a:srgbClr val="F43F5E"/>
                </a:solidFill>
                <a:latin typeface="Google Sans Flex SemiBold"/>
              </a:rPr>
              <a:t>• Google Cloud Scheduler: </a:t>
            </a:r>
            <a:r>
              <a:rPr sz="900">
                <a:solidFill>
                  <a:srgbClr val="1E293B"/>
                </a:solidFill>
                <a:latin typeface="Google Sans Flex"/>
              </a:rPr>
              <a:t>Daily cron trigger at 09:00 AM (Asia/Rangoon).</a:t>
            </a:r>
          </a:p>
          <a:p>
            <a:pPr>
              <a:spcAft>
                <a:spcPts val="200"/>
              </a:spcAft>
            </a:pPr>
            <a:r>
              <a:rPr sz="950" b="1">
                <a:solidFill>
                  <a:srgbClr val="F43F5E"/>
                </a:solidFill>
                <a:latin typeface="Google Sans Flex SemiBold"/>
              </a:rPr>
              <a:t>• Firebase Firestore: </a:t>
            </a:r>
            <a:r>
              <a:rPr sz="900">
                <a:solidFill>
                  <a:srgbClr val="1E293B"/>
                </a:solidFill>
                <a:latin typeface="Google Sans Flex"/>
              </a:rPr>
              <a:t>Real-time multi-tenant NoSQL persistence.</a:t>
            </a:r>
          </a:p>
          <a:p>
            <a:pPr>
              <a:spcAft>
                <a:spcPts val="200"/>
              </a:spcAft>
            </a:pPr>
            <a:r>
              <a:rPr sz="950" b="1">
                <a:solidFill>
                  <a:srgbClr val="F43F5E"/>
                </a:solidFill>
                <a:latin typeface="Google Sans Flex SemiBold"/>
              </a:rPr>
              <a:t>• Firebase Authentication: </a:t>
            </a:r>
            <a:r>
              <a:rPr sz="900">
                <a:solidFill>
                  <a:srgbClr val="1E293B"/>
                </a:solidFill>
                <a:latin typeface="Google Sans Flex"/>
              </a:rPr>
              <a:t>Google OAuth, passwordless login, and RBAC.</a:t>
            </a:r>
          </a:p>
        </p:txBody>
      </p:sp>
      <p:sp>
        <p:nvSpPr>
          <p:cNvPr id="69" name="Rounded Rectangle 68"/>
          <p:cNvSpPr/>
          <p:nvPr/>
        </p:nvSpPr>
        <p:spPr>
          <a:xfrm>
            <a:off x="3240000" y="308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320000" y="3140000"/>
            <a:ext cx="2580000" cy="1560000"/>
          </a:xfrm>
          <a:prstGeom prst="rect">
            <a:avLst/>
          </a:prstGeom>
          <a:noFill/>
        </p:spPr>
        <p:txBody>
          <a:bodyPr wrap="square" lIns="76200" rIns="76200" tIns="76200" bIns="76200">
            <a:spAutoFit/>
          </a:bodyPr>
          <a:lstStyle/>
          <a:p>
            <a:pPr algn="l">
              <a:spcAft>
                <a:spcPts val="300"/>
              </a:spcAft>
            </a:pPr>
            <a:r>
              <a:rPr sz="1150" b="1">
                <a:solidFill>
                  <a:srgbClr val="F59E0B"/>
                </a:solidFill>
                <a:latin typeface="Google Sans Flex SemiBold"/>
              </a:rPr>
              <a:t>Data Processing &amp; Utilities</a:t>
            </a:r>
          </a:p>
          <a:p>
            <a:pPr>
              <a:spcAft>
                <a:spcPts val="200"/>
              </a:spcAft>
            </a:pPr>
            <a:r>
              <a:rPr sz="950" b="1">
                <a:solidFill>
                  <a:srgbClr val="F59E0B"/>
                </a:solidFill>
                <a:latin typeface="Google Sans Flex SemiBold"/>
              </a:rPr>
              <a:t>• SheetJS (xlsx): </a:t>
            </a:r>
            <a:r>
              <a:rPr sz="900">
                <a:solidFill>
                  <a:srgbClr val="1E293B"/>
                </a:solidFill>
                <a:latin typeface="Google Sans Flex"/>
              </a:rPr>
              <a:t>Client-side Excel/CSV parsing and template generation.</a:t>
            </a:r>
          </a:p>
          <a:p>
            <a:pPr>
              <a:spcAft>
                <a:spcPts val="200"/>
              </a:spcAft>
            </a:pPr>
            <a:r>
              <a:rPr sz="950" b="1">
                <a:solidFill>
                  <a:srgbClr val="F59E0B"/>
                </a:solidFill>
                <a:latin typeface="Google Sans Flex SemiBold"/>
              </a:rPr>
              <a:t>• HTML5 Canvas OCR: </a:t>
            </a:r>
            <a:r>
              <a:rPr sz="900">
                <a:solidFill>
                  <a:srgbClr val="1E293B"/>
                </a:solidFill>
                <a:latin typeface="Google Sans Flex"/>
              </a:rPr>
              <a:t>Luminance and text-edge computer vision algorithm.</a:t>
            </a:r>
          </a:p>
          <a:p>
            <a:pPr>
              <a:spcAft>
                <a:spcPts val="200"/>
              </a:spcAft>
            </a:pPr>
            <a:r>
              <a:rPr sz="950" b="1">
                <a:solidFill>
                  <a:srgbClr val="F59E0B"/>
                </a:solidFill>
                <a:latin typeface="Google Sans Flex SemiBold"/>
              </a:rPr>
              <a:t>• Recharts 2.15: </a:t>
            </a:r>
            <a:r>
              <a:rPr sz="900">
                <a:solidFill>
                  <a:srgbClr val="1E293B"/>
                </a:solidFill>
                <a:latin typeface="Google Sans Flex"/>
              </a:rPr>
              <a:t>Recognition velocity and headcount distribution charts.</a:t>
            </a:r>
          </a:p>
          <a:p>
            <a:pPr>
              <a:spcAft>
                <a:spcPts val="200"/>
              </a:spcAft>
            </a:pPr>
            <a:r>
              <a:rPr sz="950" b="1">
                <a:solidFill>
                  <a:srgbClr val="F59E0B"/>
                </a:solidFill>
                <a:latin typeface="Google Sans Flex SemiBold"/>
              </a:rPr>
              <a:t>• i18next: </a:t>
            </a:r>
            <a:r>
              <a:rPr sz="900">
                <a:solidFill>
                  <a:srgbClr val="1E293B"/>
                </a:solidFill>
                <a:latin typeface="Google Sans Flex"/>
              </a:rPr>
              <a:t>Modular per-locale translation bundles for 7 languages.</a:t>
            </a:r>
          </a:p>
        </p:txBody>
      </p:sp>
      <p:sp>
        <p:nvSpPr>
          <p:cNvPr id="71" name="Rounded Rectangle 70"/>
          <p:cNvSpPr/>
          <p:nvPr/>
        </p:nvSpPr>
        <p:spPr>
          <a:xfrm>
            <a:off x="6120000" y="308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200000" y="3140000"/>
            <a:ext cx="2580000" cy="1560000"/>
          </a:xfrm>
          <a:prstGeom prst="rect">
            <a:avLst/>
          </a:prstGeom>
          <a:noFill/>
        </p:spPr>
        <p:txBody>
          <a:bodyPr wrap="square" lIns="76200" rIns="76200" tIns="76200" bIns="76200">
            <a:spAutoFit/>
          </a:bodyPr>
          <a:lstStyle/>
          <a:p>
            <a:pPr algn="l">
              <a:spcAft>
                <a:spcPts val="300"/>
              </a:spcAft>
            </a:pPr>
            <a:r>
              <a:rPr sz="1150" b="1">
                <a:solidFill>
                  <a:srgbClr val="0F172A"/>
                </a:solidFill>
                <a:latin typeface="Google Sans Flex SemiBold"/>
              </a:rPr>
              <a:t>DevOps &amp; Integrations</a:t>
            </a:r>
          </a:p>
          <a:p>
            <a:pPr>
              <a:spcAft>
                <a:spcPts val="200"/>
              </a:spcAft>
            </a:pPr>
            <a:r>
              <a:rPr sz="950" b="1">
                <a:solidFill>
                  <a:srgbClr val="0F172A"/>
                </a:solidFill>
                <a:latin typeface="Google Sans Flex SemiBold"/>
              </a:rPr>
              <a:t>• Nodemailer SMTP: </a:t>
            </a:r>
            <a:r>
              <a:rPr sz="900">
                <a:solidFill>
                  <a:srgbClr val="1E293B"/>
                </a:solidFill>
                <a:latin typeface="Google Sans Flex"/>
              </a:rPr>
              <a:t>Omnichannel email delivery (Gmail, custom hosts).</a:t>
            </a:r>
          </a:p>
          <a:p>
            <a:pPr>
              <a:spcAft>
                <a:spcPts val="200"/>
              </a:spcAft>
            </a:pPr>
            <a:r>
              <a:rPr sz="950" b="1">
                <a:solidFill>
                  <a:srgbClr val="0F172A"/>
                </a:solidFill>
                <a:latin typeface="Google Sans Flex SemiBold"/>
              </a:rPr>
              <a:t>• Teams &amp; Telegram: </a:t>
            </a:r>
            <a:r>
              <a:rPr sz="900">
                <a:solidFill>
                  <a:srgbClr val="1E293B"/>
                </a:solidFill>
                <a:latin typeface="Google Sans Flex"/>
              </a:rPr>
              <a:t>Adaptive Cards webhooks and Telegram Bot API.</a:t>
            </a:r>
          </a:p>
          <a:p>
            <a:pPr>
              <a:spcAft>
                <a:spcPts val="200"/>
              </a:spcAft>
            </a:pPr>
            <a:r>
              <a:rPr sz="950" b="1">
                <a:solidFill>
                  <a:srgbClr val="0F172A"/>
                </a:solidFill>
                <a:latin typeface="Google Sans Flex SemiBold"/>
              </a:rPr>
              <a:t>• GitHub Actions: </a:t>
            </a:r>
            <a:r>
              <a:rPr sz="900">
                <a:solidFill>
                  <a:srgbClr val="1E293B"/>
                </a:solidFill>
                <a:latin typeface="Google Sans Flex"/>
              </a:rPr>
              <a:t>Automated PR validation, linting, and build verification.</a:t>
            </a:r>
          </a:p>
          <a:p>
            <a:pPr>
              <a:spcAft>
                <a:spcPts val="200"/>
              </a:spcAft>
            </a:pPr>
            <a:r>
              <a:rPr sz="950" b="1">
                <a:solidFill>
                  <a:srgbClr val="0F172A"/>
                </a:solidFill>
                <a:latin typeface="Google Sans Flex SemiBold"/>
              </a:rPr>
              <a:t>• PWA &amp; Offline: </a:t>
            </a:r>
            <a:r>
              <a:rPr sz="900">
                <a:solidFill>
                  <a:srgbClr val="1E293B"/>
                </a:solidFill>
                <a:latin typeface="Google Sans Flex"/>
              </a:rPr>
              <a:t>Service Worker and manifest for desktop/mobile install.</a:t>
            </a: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1" name="Google Shape;124;p22"/>
          <p:cNvPicPr/>
          <p:nvPr/>
        </p:nvPicPr>
        <p:blipFill>
          <a:blip r:embed="rId1"/>
          <a:srcRect l="0" t="0" r="0" b="97986"/>
          <a:stretch/>
        </p:blipFill>
        <p:spPr>
          <a:xfrm>
            <a:off x="0" y="5093640"/>
            <a:ext cx="9143640" cy="54000"/>
          </a:xfrm>
          <a:prstGeom prst="rect">
            <a:avLst/>
          </a:prstGeom>
          <a:noFill/>
          <a:ln w="0">
            <a:noFill/>
          </a:ln>
        </p:spPr>
      </p:pic>
      <p:pic>
        <p:nvPicPr>
          <p:cNvPr id="62" name="Google Shape;125;p22"/>
          <p:cNvPicPr/>
          <p:nvPr/>
        </p:nvPicPr>
        <p:blipFill>
          <a:blip r:embed="rId2"/>
          <a:stretch/>
        </p:blipFill>
        <p:spPr>
          <a:xfrm>
            <a:off x="0" y="0"/>
            <a:ext cx="9143640" cy="506880"/>
          </a:xfrm>
          <a:prstGeom prst="rect">
            <a:avLst/>
          </a:prstGeom>
          <a:noFill/>
          <a:ln w="0">
            <a:noFill/>
          </a:ln>
        </p:spPr>
      </p:pic>
      <p:sp>
        <p:nvSpPr>
          <p:cNvPr id="63" name="Google Shape;126;p22"/>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64" name="Google Shape;127;p22"/>
          <p:cNvSpPr/>
          <p:nvPr/>
        </p:nvSpPr>
        <p:spPr>
          <a:xfrm>
            <a:off x="265320" y="663840"/>
            <a:ext cx="8942760" cy="56160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GB" sz="1600" b="0" u="none" strike="noStrike">
                <a:solidFill>
                  <a:srgbClr val="000000"/>
                </a:solidFill>
                <a:effectLst/>
                <a:uFillTx/>
                <a:latin typeface="Google Sans Flex Medium"/>
                <a:ea typeface="Google Sans Flex Medium"/>
              </a:rPr>
              <a:t>Estimated implementation cost (optional)</a:t>
            </a:r>
            <a:endParaRPr lang="en-GB" sz="1600" b="0" u="none" strike="noStrike">
              <a:solidFill>
                <a:srgbClr val="000000"/>
              </a:solidFill>
              <a:effectLst/>
              <a:uFillTx/>
              <a:latin typeface="Arial"/>
            </a:endParaRPr>
          </a:p>
        </p:txBody>
      </p:sp>
      <p:sp>
        <p:nvSpPr>
          <p:cNvPr id="65" name="Rounded Rectangle 64"/>
          <p:cNvSpPr/>
          <p:nvPr/>
        </p:nvSpPr>
        <p:spPr>
          <a:xfrm>
            <a:off x="360000" y="1300000"/>
            <a:ext cx="8424000" cy="23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60000" y="1380000"/>
            <a:ext cx="8224000" cy="300000"/>
          </a:xfrm>
          <a:prstGeom prst="rect">
            <a:avLst/>
          </a:prstGeom>
          <a:noFill/>
        </p:spPr>
        <p:txBody>
          <a:bodyPr wrap="square" lIns="76200" rIns="76200" tIns="76200" bIns="76200">
            <a:spAutoFit/>
          </a:bodyPr>
          <a:lstStyle/>
          <a:p>
            <a:pPr algn="l">
              <a:spcAft>
                <a:spcPts val="400"/>
              </a:spcAft>
            </a:pPr>
            <a:r>
              <a:rPr sz="1400" b="1">
                <a:solidFill>
                  <a:srgbClr val="0F172A"/>
                </a:solidFill>
                <a:latin typeface="Google Sans Flex SemiBold"/>
              </a:rPr>
              <a:t>Google Cloud &amp; Operational Cost Analysis (1,000 Active Employees)</a:t>
            </a:r>
          </a:p>
        </p:txBody>
      </p:sp>
      <p:sp>
        <p:nvSpPr>
          <p:cNvPr id="67" name="Rounded Rectangle 66"/>
          <p:cNvSpPr/>
          <p:nvPr/>
        </p:nvSpPr>
        <p:spPr>
          <a:xfrm>
            <a:off x="460000" y="1750000"/>
            <a:ext cx="8224000" cy="29000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80000" y="1770000"/>
            <a:ext cx="8184000" cy="260000"/>
          </a:xfrm>
          <a:prstGeom prst="rect">
            <a:avLst/>
          </a:prstGeom>
          <a:noFill/>
        </p:spPr>
        <p:txBody>
          <a:bodyPr wrap="square" lIns="76200" rIns="76200" tIns="76200" bIns="76200">
            <a:spAutoFit/>
          </a:bodyPr>
          <a:lstStyle/>
          <a:p>
            <a:pPr>
              <a:spcAft>
                <a:spcPts val="0"/>
              </a:spcAft>
            </a:pPr>
            <a:r>
              <a:rPr sz="1000" b="1">
                <a:solidFill>
                  <a:srgbClr val="0F172A"/>
                </a:solidFill>
                <a:latin typeface="Google Sans Flex SemiBold"/>
              </a:rPr>
              <a:t>Firebase Hosting &amp; Auth        </a:t>
            </a:r>
            <a:r>
              <a:rPr sz="950">
                <a:solidFill>
                  <a:srgbClr val="64748B"/>
                </a:solidFill>
                <a:latin typeface="Google Sans Flex"/>
              </a:rPr>
              <a:t>Free Spark Tier                  </a:t>
            </a:r>
            <a:r>
              <a:rPr sz="950">
                <a:solidFill>
                  <a:srgbClr val="1E293B"/>
                </a:solidFill>
                <a:latin typeface="Google Sans Flex"/>
              </a:rPr>
              <a:t>Unlimited SSL hosting + Auth identity    </a:t>
            </a:r>
            <a:r>
              <a:rPr sz="1000" b="1">
                <a:solidFill>
                  <a:srgbClr val="10B981"/>
                </a:solidFill>
                <a:latin typeface="Google Sans Flex SemiBold"/>
              </a:rPr>
              <a:t>$0.00 / month</a:t>
            </a:r>
          </a:p>
        </p:txBody>
      </p:sp>
      <p:sp>
        <p:nvSpPr>
          <p:cNvPr id="69" name="Rounded Rectangle 68"/>
          <p:cNvSpPr/>
          <p:nvPr/>
        </p:nvSpPr>
        <p:spPr>
          <a:xfrm>
            <a:off x="460000" y="2050000"/>
            <a:ext cx="8224000" cy="290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0000" y="2070000"/>
            <a:ext cx="8184000" cy="260000"/>
          </a:xfrm>
          <a:prstGeom prst="rect">
            <a:avLst/>
          </a:prstGeom>
          <a:noFill/>
        </p:spPr>
        <p:txBody>
          <a:bodyPr wrap="square" lIns="76200" rIns="76200" tIns="76200" bIns="76200">
            <a:spAutoFit/>
          </a:bodyPr>
          <a:lstStyle/>
          <a:p>
            <a:pPr>
              <a:spcAft>
                <a:spcPts val="0"/>
              </a:spcAft>
            </a:pPr>
            <a:r>
              <a:rPr sz="1000" b="1">
                <a:solidFill>
                  <a:srgbClr val="0F172A"/>
                </a:solidFill>
                <a:latin typeface="Google Sans Flex SemiBold"/>
              </a:rPr>
              <a:t>Firebase Cloud Functions       </a:t>
            </a:r>
            <a:r>
              <a:rPr sz="950">
                <a:solidFill>
                  <a:srgbClr val="64748B"/>
                </a:solidFill>
                <a:latin typeface="Google Sans Flex"/>
              </a:rPr>
              <a:t>Free Tier (2M invocations/mo)    </a:t>
            </a:r>
            <a:r>
              <a:rPr sz="950">
                <a:solidFill>
                  <a:srgbClr val="1E293B"/>
                </a:solidFill>
                <a:latin typeface="Google Sans Flex"/>
              </a:rPr>
              <a:t>30 daily cron executions = 900 runs/mo   </a:t>
            </a:r>
            <a:r>
              <a:rPr sz="1000" b="1">
                <a:solidFill>
                  <a:srgbClr val="10B981"/>
                </a:solidFill>
                <a:latin typeface="Google Sans Flex SemiBold"/>
              </a:rPr>
              <a:t>$0.00 / month</a:t>
            </a:r>
          </a:p>
        </p:txBody>
      </p:sp>
      <p:sp>
        <p:nvSpPr>
          <p:cNvPr id="71" name="Rounded Rectangle 70"/>
          <p:cNvSpPr/>
          <p:nvPr/>
        </p:nvSpPr>
        <p:spPr>
          <a:xfrm>
            <a:off x="460000" y="2350000"/>
            <a:ext cx="8224000" cy="29000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80000" y="2370000"/>
            <a:ext cx="8184000" cy="260000"/>
          </a:xfrm>
          <a:prstGeom prst="rect">
            <a:avLst/>
          </a:prstGeom>
          <a:noFill/>
        </p:spPr>
        <p:txBody>
          <a:bodyPr wrap="square" lIns="76200" rIns="76200" tIns="76200" bIns="76200">
            <a:spAutoFit/>
          </a:bodyPr>
          <a:lstStyle/>
          <a:p>
            <a:pPr>
              <a:spcAft>
                <a:spcPts val="0"/>
              </a:spcAft>
            </a:pPr>
            <a:r>
              <a:rPr sz="1000" b="1">
                <a:solidFill>
                  <a:srgbClr val="0F172A"/>
                </a:solidFill>
                <a:latin typeface="Google Sans Flex SemiBold"/>
              </a:rPr>
              <a:t>Firebase Firestore Database    </a:t>
            </a:r>
            <a:r>
              <a:rPr sz="950">
                <a:solidFill>
                  <a:srgbClr val="64748B"/>
                </a:solidFill>
                <a:latin typeface="Google Sans Flex"/>
              </a:rPr>
              <a:t>Free Tier (50k reads, 20k writes/day) </a:t>
            </a:r>
            <a:r>
              <a:rPr sz="950">
                <a:solidFill>
                  <a:srgbClr val="1E293B"/>
                </a:solidFill>
                <a:latin typeface="Google Sans Flex"/>
              </a:rPr>
              <a:t>~3,000 monthly operations                </a:t>
            </a:r>
            <a:r>
              <a:rPr sz="1000" b="1">
                <a:solidFill>
                  <a:srgbClr val="10B981"/>
                </a:solidFill>
                <a:latin typeface="Google Sans Flex SemiBold"/>
              </a:rPr>
              <a:t>$0.00 / month</a:t>
            </a:r>
          </a:p>
        </p:txBody>
      </p:sp>
      <p:sp>
        <p:nvSpPr>
          <p:cNvPr id="73" name="Rounded Rectangle 72"/>
          <p:cNvSpPr/>
          <p:nvPr/>
        </p:nvSpPr>
        <p:spPr>
          <a:xfrm>
            <a:off x="460000" y="2650000"/>
            <a:ext cx="8224000" cy="290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0000" y="2670000"/>
            <a:ext cx="8184000" cy="260000"/>
          </a:xfrm>
          <a:prstGeom prst="rect">
            <a:avLst/>
          </a:prstGeom>
          <a:noFill/>
        </p:spPr>
        <p:txBody>
          <a:bodyPr wrap="square" lIns="76200" rIns="76200" tIns="76200" bIns="76200">
            <a:spAutoFit/>
          </a:bodyPr>
          <a:lstStyle/>
          <a:p>
            <a:pPr>
              <a:spcAft>
                <a:spcPts val="0"/>
              </a:spcAft>
            </a:pPr>
            <a:r>
              <a:rPr sz="1000" b="1">
                <a:solidFill>
                  <a:srgbClr val="0F172A"/>
                </a:solidFill>
                <a:latin typeface="Google Sans Flex SemiBold"/>
              </a:rPr>
              <a:t>Google Gemini 2.5 Flash        </a:t>
            </a:r>
            <a:r>
              <a:rPr sz="950">
                <a:solidFill>
                  <a:srgbClr val="64748B"/>
                </a:solidFill>
                <a:latin typeface="Google Sans Flex"/>
              </a:rPr>
              <a:t>$0.075 / 1M input, $0.30 / 1M output </a:t>
            </a:r>
            <a:r>
              <a:rPr sz="950">
                <a:solidFill>
                  <a:srgbClr val="1E293B"/>
                </a:solidFill>
                <a:latin typeface="Google Sans Flex"/>
              </a:rPr>
              <a:t>~1,000 milestone greetings @ 150 tokens  </a:t>
            </a:r>
            <a:r>
              <a:rPr sz="1000" b="1">
                <a:solidFill>
                  <a:srgbClr val="4F46E5"/>
                </a:solidFill>
                <a:latin typeface="Google Sans Flex SemiBold"/>
              </a:rPr>
              <a:t>~$0.05 / month</a:t>
            </a:r>
          </a:p>
        </p:txBody>
      </p:sp>
      <p:sp>
        <p:nvSpPr>
          <p:cNvPr id="75" name="Rounded Rectangle 74"/>
          <p:cNvSpPr/>
          <p:nvPr/>
        </p:nvSpPr>
        <p:spPr>
          <a:xfrm>
            <a:off x="460000" y="2950000"/>
            <a:ext cx="8224000" cy="29000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80000" y="2970000"/>
            <a:ext cx="8184000" cy="260000"/>
          </a:xfrm>
          <a:prstGeom prst="rect">
            <a:avLst/>
          </a:prstGeom>
          <a:noFill/>
        </p:spPr>
        <p:txBody>
          <a:bodyPr wrap="square" lIns="76200" rIns="76200" tIns="76200" bIns="76200">
            <a:spAutoFit/>
          </a:bodyPr>
          <a:lstStyle/>
          <a:p>
            <a:pPr>
              <a:spcAft>
                <a:spcPts val="0"/>
              </a:spcAft>
            </a:pPr>
            <a:r>
              <a:rPr sz="1000" b="1">
                <a:solidFill>
                  <a:srgbClr val="0F172A"/>
                </a:solidFill>
                <a:latin typeface="Google Sans Flex SemiBold"/>
              </a:rPr>
              <a:t>Client-Side Slip OCR           </a:t>
            </a:r>
            <a:r>
              <a:rPr sz="950">
                <a:solidFill>
                  <a:srgbClr val="64748B"/>
                </a:solidFill>
                <a:latin typeface="Google Sans Flex"/>
              </a:rPr>
              <a:t>Client Browser Execution (Canvas) </a:t>
            </a:r>
            <a:r>
              <a:rPr sz="950">
                <a:solidFill>
                  <a:srgbClr val="1E293B"/>
                </a:solidFill>
                <a:latin typeface="Google Sans Flex"/>
              </a:rPr>
              <a:t>Zero external cloud vision API calls     </a:t>
            </a:r>
            <a:r>
              <a:rPr sz="1000" b="1">
                <a:solidFill>
                  <a:srgbClr val="10B981"/>
                </a:solidFill>
                <a:latin typeface="Google Sans Flex SemiBold"/>
              </a:rPr>
              <a:t>$0.00 / month</a:t>
            </a:r>
          </a:p>
        </p:txBody>
      </p:sp>
      <p:sp>
        <p:nvSpPr>
          <p:cNvPr id="77" name="Rounded Rectangle 76"/>
          <p:cNvSpPr/>
          <p:nvPr/>
        </p:nvSpPr>
        <p:spPr>
          <a:xfrm>
            <a:off x="460000" y="3250000"/>
            <a:ext cx="8224000" cy="290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80000" y="3270000"/>
            <a:ext cx="8184000" cy="260000"/>
          </a:xfrm>
          <a:prstGeom prst="rect">
            <a:avLst/>
          </a:prstGeom>
          <a:noFill/>
        </p:spPr>
        <p:txBody>
          <a:bodyPr wrap="square" lIns="76200" rIns="76200" tIns="76200" bIns="76200">
            <a:spAutoFit/>
          </a:bodyPr>
          <a:lstStyle/>
          <a:p>
            <a:pPr>
              <a:spcAft>
                <a:spcPts val="0"/>
              </a:spcAft>
            </a:pPr>
            <a:r>
              <a:rPr sz="1000" b="1">
                <a:solidFill>
                  <a:srgbClr val="0F172A"/>
                </a:solidFill>
                <a:latin typeface="Google Sans Flex SemiBold"/>
              </a:rPr>
              <a:t>Google Cloud Run (Scale Option) </a:t>
            </a:r>
            <a:r>
              <a:rPr sz="950">
                <a:solidFill>
                  <a:srgbClr val="64748B"/>
                </a:solidFill>
                <a:latin typeface="Google Sans Flex"/>
              </a:rPr>
              <a:t>Serverless scale-to-zero container </a:t>
            </a:r>
            <a:r>
              <a:rPr sz="950">
                <a:solidFill>
                  <a:srgbClr val="1E293B"/>
                </a:solidFill>
                <a:latin typeface="Google Sans Flex"/>
              </a:rPr>
              <a:t>Micro-container for high concurrency     </a:t>
            </a:r>
            <a:r>
              <a:rPr sz="1000" b="1">
                <a:solidFill>
                  <a:srgbClr val="4F46E5"/>
                </a:solidFill>
                <a:latin typeface="Google Sans Flex SemiBold"/>
              </a:rPr>
              <a:t>$3.00 - $8.00 / mo</a:t>
            </a:r>
          </a:p>
        </p:txBody>
      </p:sp>
      <p:sp>
        <p:nvSpPr>
          <p:cNvPr id="79" name="Rounded Rectangle 78"/>
          <p:cNvSpPr/>
          <p:nvPr/>
        </p:nvSpPr>
        <p:spPr>
          <a:xfrm>
            <a:off x="360000" y="3750000"/>
            <a:ext cx="8424000" cy="1100000"/>
          </a:xfrm>
          <a:prstGeom prst="roundRect">
            <a:avLst/>
          </a:prstGeom>
          <a:solidFill>
            <a:srgbClr val="FFFFFF"/>
          </a:solidFill>
          <a:ln w="1524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60000" y="3820000"/>
            <a:ext cx="8224000" cy="960000"/>
          </a:xfrm>
          <a:prstGeom prst="rect">
            <a:avLst/>
          </a:prstGeom>
          <a:noFill/>
        </p:spPr>
        <p:txBody>
          <a:bodyPr wrap="square" lIns="76200" rIns="76200" tIns="76200" bIns="76200">
            <a:spAutoFit/>
          </a:bodyPr>
          <a:lstStyle/>
          <a:p>
            <a:pPr algn="l">
              <a:spcAft>
                <a:spcPts val="300"/>
              </a:spcAft>
            </a:pPr>
            <a:r>
              <a:rPr sz="1350" b="1">
                <a:solidFill>
                  <a:srgbClr val="10B981"/>
                </a:solidFill>
                <a:latin typeface="Google Sans Flex SemiBold"/>
              </a:rPr>
              <a:t>Total Estimated Monthly TCO: &lt; $10.00 / month</a:t>
            </a:r>
          </a:p>
          <a:p>
            <a:pPr algn="l">
              <a:spcAft>
                <a:spcPts val="0"/>
              </a:spcAft>
            </a:pPr>
            <a:r>
              <a:rPr sz="1050" b="0">
                <a:solidFill>
                  <a:srgbClr val="1E293B"/>
                </a:solidFill>
                <a:latin typeface="Google Sans Flex"/>
              </a:rPr>
              <a:t>Key Economic Moat: By leveraging client-side Canvas computer vision for mobile wallet slip validation, Milestone eliminates expensive third-party vision API fees. Combined with Gemini 2.5 Flash's ultra-efficient token pricing, enterprises can automate workforce recognition across thousands of employees for mere pennies per month.</a:t>
            </a: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5" name="Google Shape;132;p23"/>
          <p:cNvPicPr/>
          <p:nvPr/>
        </p:nvPicPr>
        <p:blipFill>
          <a:blip r:embed="rId1"/>
          <a:srcRect l="0" t="0" r="0" b="97986"/>
          <a:stretch/>
        </p:blipFill>
        <p:spPr>
          <a:xfrm>
            <a:off x="0" y="5093640"/>
            <a:ext cx="9143640" cy="54000"/>
          </a:xfrm>
          <a:prstGeom prst="rect">
            <a:avLst/>
          </a:prstGeom>
          <a:noFill/>
          <a:ln w="0">
            <a:noFill/>
          </a:ln>
        </p:spPr>
      </p:pic>
      <p:pic>
        <p:nvPicPr>
          <p:cNvPr id="66" name="Google Shape;133;p23"/>
          <p:cNvPicPr/>
          <p:nvPr/>
        </p:nvPicPr>
        <p:blipFill>
          <a:blip r:embed="rId2"/>
          <a:stretch/>
        </p:blipFill>
        <p:spPr>
          <a:xfrm>
            <a:off x="0" y="0"/>
            <a:ext cx="9143640" cy="506880"/>
          </a:xfrm>
          <a:prstGeom prst="rect">
            <a:avLst/>
          </a:prstGeom>
          <a:noFill/>
          <a:ln w="0">
            <a:noFill/>
          </a:ln>
        </p:spPr>
      </p:pic>
      <p:sp>
        <p:nvSpPr>
          <p:cNvPr id="67" name="Google Shape;134;p23"/>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68" name="Google Shape;135;p23"/>
          <p:cNvSpPr/>
          <p:nvPr/>
        </p:nvSpPr>
        <p:spPr>
          <a:xfrm>
            <a:off x="265320" y="663840"/>
            <a:ext cx="8942760" cy="56160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GB" sz="1600" b="0" u="none" strike="noStrike">
                <a:solidFill>
                  <a:srgbClr val="000000"/>
                </a:solidFill>
                <a:effectLst/>
                <a:uFillTx/>
                <a:latin typeface="Google Sans Flex Medium"/>
                <a:ea typeface="Google Sans Flex Medium"/>
              </a:rPr>
              <a:t>Snapshots of the prototype</a:t>
            </a:r>
            <a:endParaRPr lang="en-GB" sz="1600" b="0" u="none" strike="noStrike">
              <a:solidFill>
                <a:srgbClr val="000000"/>
              </a:solidFill>
              <a:effectLst/>
              <a:uFillTx/>
              <a:latin typeface="Arial"/>
            </a:endParaRPr>
          </a:p>
        </p:txBody>
      </p:sp>
      <p:pic>
        <p:nvPicPr>
          <p:cNvPr id="69" name="Picture 68" descr="login_shot.png"/>
          <p:cNvPicPr>
            <a:picLocks noChangeAspect="1"/>
          </p:cNvPicPr>
          <p:nvPr/>
        </p:nvPicPr>
        <p:blipFill>
          <a:blip r:embed="rId4"/>
          <a:stretch>
            <a:fillRect/>
          </a:stretch>
        </p:blipFill>
        <p:spPr>
          <a:xfrm>
            <a:off x="360000" y="1300000"/>
            <a:ext cx="4300000" cy="3550000"/>
          </a:xfrm>
          <a:prstGeom prst="rect">
            <a:avLst/>
          </a:prstGeom>
        </p:spPr>
      </p:pic>
      <p:sp>
        <p:nvSpPr>
          <p:cNvPr id="70" name="Rounded Rectangle 69"/>
          <p:cNvSpPr/>
          <p:nvPr/>
        </p:nvSpPr>
        <p:spPr>
          <a:xfrm>
            <a:off x="4760000" y="1300000"/>
            <a:ext cx="4024000" cy="35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860000" y="1380000"/>
            <a:ext cx="3824000" cy="3390000"/>
          </a:xfrm>
          <a:prstGeom prst="rect">
            <a:avLst/>
          </a:prstGeom>
          <a:noFill/>
        </p:spPr>
        <p:txBody>
          <a:bodyPr wrap="square" lIns="76200" rIns="76200" tIns="76200" bIns="76200">
            <a:spAutoFit/>
          </a:bodyPr>
          <a:lstStyle/>
          <a:p>
            <a:pPr algn="l">
              <a:spcAft>
                <a:spcPts val="400"/>
              </a:spcAft>
            </a:pPr>
            <a:r>
              <a:rPr sz="1400" b="1">
                <a:solidFill>
                  <a:srgbClr val="0F172A"/>
                </a:solidFill>
                <a:latin typeface="Google Sans Flex SemiBold"/>
              </a:rPr>
              <a:t>Key Prototype Views &amp; Capabilities</a:t>
            </a:r>
          </a:p>
          <a:p>
            <a:pPr>
              <a:spcAft>
                <a:spcPts val="400"/>
              </a:spcAft>
            </a:pPr>
            <a:r>
              <a:rPr sz="1050" b="1">
                <a:solidFill>
                  <a:srgbClr val="4F46E5"/>
                </a:solidFill>
                <a:latin typeface="Google Sans Flex SemiBold"/>
              </a:rPr>
              <a:t>• Cinematic 50/50 Hero Split Login: </a:t>
            </a:r>
            <a:r>
              <a:rPr sz="1000">
                <a:solidFill>
                  <a:srgbClr val="1E293B"/>
                </a:solidFill>
                <a:latin typeface="Google Sans Flex"/>
              </a:rPr>
              <a:t>Features 3D WebGL Earth orienting to Singapore/JAPAC sunrise shader, Google OAuth, and 1-Click Judge Demo Mode.</a:t>
            </a:r>
          </a:p>
          <a:p>
            <a:pPr>
              <a:spcAft>
                <a:spcPts val="400"/>
              </a:spcAft>
            </a:pPr>
            <a:r>
              <a:rPr sz="1050" b="1">
                <a:solidFill>
                  <a:srgbClr val="4F46E5"/>
                </a:solidFill>
                <a:latin typeface="Google Sans Flex SemiBold"/>
              </a:rPr>
              <a:t>• Executive Recognition Dashboard: </a:t>
            </a:r>
            <a:r>
              <a:rPr sz="1000">
                <a:solidFill>
                  <a:srgbClr val="1E293B"/>
                </a:solidFill>
                <a:latin typeface="Google Sans Flex"/>
              </a:rPr>
              <a:t>Real-time recognition velocity area charts, 7-day upcoming celebration radar, and department distribution.</a:t>
            </a:r>
          </a:p>
          <a:p>
            <a:pPr>
              <a:spcAft>
                <a:spcPts val="400"/>
              </a:spcAft>
            </a:pPr>
            <a:r>
              <a:rPr sz="1050" b="1">
                <a:solidFill>
                  <a:srgbClr val="4F46E5"/>
                </a:solidFill>
                <a:latin typeface="Google Sans Flex SemiBold"/>
              </a:rPr>
              <a:t>• Employee Roster Hub: </a:t>
            </a:r>
            <a:r>
              <a:rPr sz="1000">
                <a:solidFill>
                  <a:srgbClr val="1E293B"/>
                </a:solidFill>
                <a:latin typeface="Google Sans Flex"/>
              </a:rPr>
              <a:t>Instant SheetJS Excel drag-and-drop parsing, automated column detection, and 1-click toggle switches for auto-emails.</a:t>
            </a:r>
          </a:p>
          <a:p>
            <a:pPr>
              <a:spcAft>
                <a:spcPts val="400"/>
              </a:spcAft>
            </a:pPr>
            <a:r>
              <a:rPr sz="1050" b="1">
                <a:solidFill>
                  <a:srgbClr val="4F46E5"/>
                </a:solidFill>
                <a:latin typeface="Google Sans Flex SemiBold"/>
              </a:rPr>
              <a:t>• Omnichannel Settings &amp; AI Preview: </a:t>
            </a:r>
            <a:r>
              <a:rPr sz="1000">
                <a:solidFill>
                  <a:srgbClr val="1E293B"/>
                </a:solidFill>
                <a:latin typeface="Google Sans Flex"/>
              </a:rPr>
              <a:t>Live preview of Gemini AI personalized greetings across 7 languages, test dispatch via SMTP, Teams, Telegram.</a:t>
            </a:r>
          </a:p>
          <a:p>
            <a:pPr>
              <a:spcAft>
                <a:spcPts val="400"/>
              </a:spcAft>
            </a:pPr>
            <a:r>
              <a:rPr sz="1050" b="1">
                <a:solidFill>
                  <a:srgbClr val="4F46E5"/>
                </a:solidFill>
                <a:latin typeface="Google Sans Flex SemiBold"/>
              </a:rPr>
              <a:t>• Client-Side Slip OCR Checkout: </a:t>
            </a:r>
            <a:r>
              <a:rPr sz="1000">
                <a:solidFill>
                  <a:srgbClr val="1E293B"/>
                </a:solidFill>
                <a:latin typeface="Google Sans Flex"/>
              </a:rPr>
              <a:t>Instant computer vision scanning of Southeast Asian mobile wallet receipts (KBZ Pay, Wave Pay) with 5-min order timer.</a:t>
            </a: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9" name="Google Shape;140;p24"/>
          <p:cNvPicPr/>
          <p:nvPr/>
        </p:nvPicPr>
        <p:blipFill>
          <a:blip r:embed="rId1"/>
          <a:srcRect l="0" t="0" r="0" b="97986"/>
          <a:stretch/>
        </p:blipFill>
        <p:spPr>
          <a:xfrm>
            <a:off x="0" y="5093640"/>
            <a:ext cx="9143640" cy="54000"/>
          </a:xfrm>
          <a:prstGeom prst="rect">
            <a:avLst/>
          </a:prstGeom>
          <a:noFill/>
          <a:ln w="0">
            <a:noFill/>
          </a:ln>
        </p:spPr>
      </p:pic>
      <p:pic>
        <p:nvPicPr>
          <p:cNvPr id="70" name="Google Shape;141;p24"/>
          <p:cNvPicPr/>
          <p:nvPr/>
        </p:nvPicPr>
        <p:blipFill>
          <a:blip r:embed="rId2"/>
          <a:stretch/>
        </p:blipFill>
        <p:spPr>
          <a:xfrm>
            <a:off x="0" y="0"/>
            <a:ext cx="9143640" cy="506880"/>
          </a:xfrm>
          <a:prstGeom prst="rect">
            <a:avLst/>
          </a:prstGeom>
          <a:noFill/>
          <a:ln w="0">
            <a:noFill/>
          </a:ln>
        </p:spPr>
      </p:pic>
      <p:sp>
        <p:nvSpPr>
          <p:cNvPr id="71" name="Google Shape;142;p24"/>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72" name="Google Shape;143;p24"/>
          <p:cNvSpPr/>
          <p:nvPr/>
        </p:nvSpPr>
        <p:spPr>
          <a:xfrm>
            <a:off x="265320" y="663840"/>
            <a:ext cx="8942760" cy="56160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GB" sz="1600" b="0" u="none" strike="noStrike">
                <a:solidFill>
                  <a:srgbClr val="000000"/>
                </a:solidFill>
                <a:effectLst/>
                <a:uFillTx/>
                <a:latin typeface="Google Sans Flex Medium"/>
                <a:ea typeface="Google Sans Flex Medium"/>
              </a:rPr>
              <a:t>Prototype Performance report/Benchmarking</a:t>
            </a:r>
            <a:endParaRPr lang="en-GB" sz="1600" b="0" u="none" strike="noStrike">
              <a:solidFill>
                <a:srgbClr val="000000"/>
              </a:solidFill>
              <a:effectLst/>
              <a:uFillTx/>
              <a:latin typeface="Arial"/>
            </a:endParaRPr>
          </a:p>
        </p:txBody>
      </p:sp>
      <p:sp>
        <p:nvSpPr>
          <p:cNvPr id="73" name="Rounded Rectangle 72"/>
          <p:cNvSpPr/>
          <p:nvPr/>
        </p:nvSpPr>
        <p:spPr>
          <a:xfrm>
            <a:off x="360000" y="130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40000" y="1360000"/>
            <a:ext cx="2580000" cy="1560000"/>
          </a:xfrm>
          <a:prstGeom prst="rect">
            <a:avLst/>
          </a:prstGeom>
          <a:noFill/>
        </p:spPr>
        <p:txBody>
          <a:bodyPr wrap="square" lIns="76200" rIns="76200" tIns="76200" bIns="76200">
            <a:spAutoFit/>
          </a:bodyPr>
          <a:lstStyle/>
          <a:p>
            <a:pPr algn="l">
              <a:spcAft>
                <a:spcPts val="100"/>
              </a:spcAft>
            </a:pPr>
            <a:r>
              <a:rPr sz="2200" b="1">
                <a:solidFill>
                  <a:srgbClr val="4F46E5"/>
                </a:solidFill>
                <a:latin typeface="Google Sans Flex SemiBold"/>
              </a:rPr>
              <a:t>366 kB</a:t>
            </a:r>
          </a:p>
          <a:p>
            <a:pPr algn="l">
              <a:spcAft>
                <a:spcPts val="300"/>
              </a:spcAft>
            </a:pPr>
            <a:r>
              <a:rPr sz="1100" b="1">
                <a:solidFill>
                  <a:srgbClr val="0F172A"/>
                </a:solidFill>
                <a:latin typeface="Google Sans Flex SemiBold"/>
              </a:rPr>
              <a:t>Lean Entry Bundle</a:t>
            </a:r>
          </a:p>
          <a:p>
            <a:pPr algn="l">
              <a:spcAft>
                <a:spcPts val="0"/>
              </a:spcAft>
            </a:pPr>
            <a:r>
              <a:rPr sz="950" b="0">
                <a:solidFill>
                  <a:srgbClr val="64748B"/>
                </a:solidFill>
                <a:latin typeface="Google Sans Flex"/>
              </a:rPr>
              <a:t>Reduced from 1,820 kB via Rollup vendor chunking (vendor-firebase, vendor-xlsx, vendor-recharts) and route lazy loading.</a:t>
            </a:r>
          </a:p>
        </p:txBody>
      </p:sp>
      <p:sp>
        <p:nvSpPr>
          <p:cNvPr id="75" name="Rounded Rectangle 74"/>
          <p:cNvSpPr/>
          <p:nvPr/>
        </p:nvSpPr>
        <p:spPr>
          <a:xfrm>
            <a:off x="3240000" y="130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320000" y="1360000"/>
            <a:ext cx="2580000" cy="1560000"/>
          </a:xfrm>
          <a:prstGeom prst="rect">
            <a:avLst/>
          </a:prstGeom>
          <a:noFill/>
        </p:spPr>
        <p:txBody>
          <a:bodyPr wrap="square" lIns="76200" rIns="76200" tIns="76200" bIns="76200">
            <a:spAutoFit/>
          </a:bodyPr>
          <a:lstStyle/>
          <a:p>
            <a:pPr algn="l">
              <a:spcAft>
                <a:spcPts val="100"/>
              </a:spcAft>
            </a:pPr>
            <a:r>
              <a:rPr sz="2200" b="1">
                <a:solidFill>
                  <a:srgbClr val="4285F4"/>
                </a:solidFill>
                <a:latin typeface="Google Sans Flex SemiBold"/>
              </a:rPr>
              <a:t>60 FPS</a:t>
            </a:r>
          </a:p>
          <a:p>
            <a:pPr algn="l">
              <a:spcAft>
                <a:spcPts val="300"/>
              </a:spcAft>
            </a:pPr>
            <a:r>
              <a:rPr sz="1100" b="1">
                <a:solidFill>
                  <a:srgbClr val="0F172A"/>
                </a:solidFill>
                <a:latin typeface="Google Sans Flex SemiBold"/>
              </a:rPr>
              <a:t>3D WebGL Earth</a:t>
            </a:r>
          </a:p>
          <a:p>
            <a:pPr algn="l">
              <a:spcAft>
                <a:spcPts val="0"/>
              </a:spcAft>
            </a:pPr>
            <a:r>
              <a:rPr sz="950" b="0">
                <a:solidFill>
                  <a:srgbClr val="64748B"/>
                </a:solidFill>
                <a:latin typeface="Google Sans Flex"/>
              </a:rPr>
              <a:t>Silky smooth 60 FPS animation with 34 JAPAC territory nodes, front-facing camera illumination, and zero compositor lag.</a:t>
            </a:r>
          </a:p>
        </p:txBody>
      </p:sp>
      <p:sp>
        <p:nvSpPr>
          <p:cNvPr id="77" name="Rounded Rectangle 76"/>
          <p:cNvSpPr/>
          <p:nvPr/>
        </p:nvSpPr>
        <p:spPr>
          <a:xfrm>
            <a:off x="6120000" y="130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200000" y="1360000"/>
            <a:ext cx="2580000" cy="1560000"/>
          </a:xfrm>
          <a:prstGeom prst="rect">
            <a:avLst/>
          </a:prstGeom>
          <a:noFill/>
        </p:spPr>
        <p:txBody>
          <a:bodyPr wrap="square" lIns="76200" rIns="76200" tIns="76200" bIns="76200">
            <a:spAutoFit/>
          </a:bodyPr>
          <a:lstStyle/>
          <a:p>
            <a:pPr algn="l">
              <a:spcAft>
                <a:spcPts val="100"/>
              </a:spcAft>
            </a:pPr>
            <a:r>
              <a:rPr sz="2200" b="1">
                <a:solidFill>
                  <a:srgbClr val="10B981"/>
                </a:solidFill>
                <a:latin typeface="Google Sans Flex SemiBold"/>
              </a:rPr>
              <a:t>&lt; 1.2s</a:t>
            </a:r>
          </a:p>
          <a:p>
            <a:pPr algn="l">
              <a:spcAft>
                <a:spcPts val="300"/>
              </a:spcAft>
            </a:pPr>
            <a:r>
              <a:rPr sz="1100" b="1">
                <a:solidFill>
                  <a:srgbClr val="0F172A"/>
                </a:solidFill>
                <a:latin typeface="Google Sans Flex SemiBold"/>
              </a:rPr>
              <a:t>AI Copy Latency</a:t>
            </a:r>
          </a:p>
          <a:p>
            <a:pPr algn="l">
              <a:spcAft>
                <a:spcPts val="0"/>
              </a:spcAft>
            </a:pPr>
            <a:r>
              <a:rPr sz="950" b="0">
                <a:solidFill>
                  <a:srgbClr val="64748B"/>
                </a:solidFill>
                <a:latin typeface="Google Sans Flex"/>
              </a:rPr>
              <a:t>Average response time for Google Gemini 2.5 Flash to synthesize culturally tailored greetings in 7 regional languages.</a:t>
            </a:r>
          </a:p>
        </p:txBody>
      </p:sp>
      <p:sp>
        <p:nvSpPr>
          <p:cNvPr id="79" name="Rounded Rectangle 78"/>
          <p:cNvSpPr/>
          <p:nvPr/>
        </p:nvSpPr>
        <p:spPr>
          <a:xfrm>
            <a:off x="360000" y="308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40000" y="3140000"/>
            <a:ext cx="2580000" cy="1560000"/>
          </a:xfrm>
          <a:prstGeom prst="rect">
            <a:avLst/>
          </a:prstGeom>
          <a:noFill/>
        </p:spPr>
        <p:txBody>
          <a:bodyPr wrap="square" lIns="76200" rIns="76200" tIns="76200" bIns="76200">
            <a:spAutoFit/>
          </a:bodyPr>
          <a:lstStyle/>
          <a:p>
            <a:pPr algn="l">
              <a:spcAft>
                <a:spcPts val="100"/>
              </a:spcAft>
            </a:pPr>
            <a:r>
              <a:rPr sz="2200" b="1">
                <a:solidFill>
                  <a:srgbClr val="F59E0B"/>
                </a:solidFill>
                <a:latin typeface="Google Sans Flex SemiBold"/>
              </a:rPr>
              <a:t>&lt; 250ms</a:t>
            </a:r>
          </a:p>
          <a:p>
            <a:pPr algn="l">
              <a:spcAft>
                <a:spcPts val="300"/>
              </a:spcAft>
            </a:pPr>
            <a:r>
              <a:rPr sz="1100" b="1">
                <a:solidFill>
                  <a:srgbClr val="0F172A"/>
                </a:solidFill>
                <a:latin typeface="Google Sans Flex SemiBold"/>
              </a:rPr>
              <a:t>Client-Side OCR</a:t>
            </a:r>
          </a:p>
          <a:p>
            <a:pPr algn="l">
              <a:spcAft>
                <a:spcPts val="0"/>
              </a:spcAft>
            </a:pPr>
            <a:r>
              <a:rPr sz="950" b="0">
                <a:solidFill>
                  <a:srgbClr val="64748B"/>
                </a:solidFill>
                <a:latin typeface="Google Sans Flex"/>
              </a:rPr>
              <a:t>Instant receipt verification using in-browser luminance and text-edge density analysis on mobile &amp; desktop.</a:t>
            </a:r>
          </a:p>
        </p:txBody>
      </p:sp>
      <p:sp>
        <p:nvSpPr>
          <p:cNvPr id="81" name="Rounded Rectangle 80"/>
          <p:cNvSpPr/>
          <p:nvPr/>
        </p:nvSpPr>
        <p:spPr>
          <a:xfrm>
            <a:off x="3240000" y="308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320000" y="3140000"/>
            <a:ext cx="2580000" cy="1560000"/>
          </a:xfrm>
          <a:prstGeom prst="rect">
            <a:avLst/>
          </a:prstGeom>
          <a:noFill/>
        </p:spPr>
        <p:txBody>
          <a:bodyPr wrap="square" lIns="76200" rIns="76200" tIns="76200" bIns="76200">
            <a:spAutoFit/>
          </a:bodyPr>
          <a:lstStyle/>
          <a:p>
            <a:pPr algn="l">
              <a:spcAft>
                <a:spcPts val="100"/>
              </a:spcAft>
            </a:pPr>
            <a:r>
              <a:rPr sz="2200" b="1">
                <a:solidFill>
                  <a:srgbClr val="F43F5E"/>
                </a:solidFill>
                <a:latin typeface="Google Sans Flex SemiBold"/>
              </a:rPr>
              <a:t>5.3s</a:t>
            </a:r>
          </a:p>
          <a:p>
            <a:pPr algn="l">
              <a:spcAft>
                <a:spcPts val="300"/>
              </a:spcAft>
            </a:pPr>
            <a:r>
              <a:rPr sz="1100" b="1">
                <a:solidFill>
                  <a:srgbClr val="0F172A"/>
                </a:solidFill>
                <a:latin typeface="Google Sans Flex SemiBold"/>
              </a:rPr>
              <a:t>Production Build</a:t>
            </a:r>
          </a:p>
          <a:p>
            <a:pPr algn="l">
              <a:spcAft>
                <a:spcPts val="0"/>
              </a:spcAft>
            </a:pPr>
            <a:r>
              <a:rPr sz="950" b="0">
                <a:solidFill>
                  <a:srgbClr val="64748B"/>
                </a:solidFill>
                <a:latin typeface="Google Sans Flex"/>
              </a:rPr>
              <a:t>Fast Vite + strict TypeScript (tsc -b) build time verifying complete type safety and modular chunk outputs.</a:t>
            </a:r>
          </a:p>
        </p:txBody>
      </p:sp>
      <p:sp>
        <p:nvSpPr>
          <p:cNvPr id="83" name="Rounded Rectangle 82"/>
          <p:cNvSpPr/>
          <p:nvPr/>
        </p:nvSpPr>
        <p:spPr>
          <a:xfrm>
            <a:off x="6120000" y="3080000"/>
            <a:ext cx="2740000" cy="168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200000" y="3140000"/>
            <a:ext cx="2580000" cy="1560000"/>
          </a:xfrm>
          <a:prstGeom prst="rect">
            <a:avLst/>
          </a:prstGeom>
          <a:noFill/>
        </p:spPr>
        <p:txBody>
          <a:bodyPr wrap="square" lIns="76200" rIns="76200" tIns="76200" bIns="76200">
            <a:spAutoFit/>
          </a:bodyPr>
          <a:lstStyle/>
          <a:p>
            <a:pPr algn="l">
              <a:spcAft>
                <a:spcPts val="100"/>
              </a:spcAft>
            </a:pPr>
            <a:r>
              <a:rPr sz="2200" b="1">
                <a:solidFill>
                  <a:srgbClr val="0F172A"/>
                </a:solidFill>
                <a:latin typeface="Google Sans Flex SemiBold"/>
              </a:rPr>
              <a:t>100%</a:t>
            </a:r>
          </a:p>
          <a:p>
            <a:pPr algn="l">
              <a:spcAft>
                <a:spcPts val="300"/>
              </a:spcAft>
            </a:pPr>
            <a:r>
              <a:rPr sz="1100" b="1">
                <a:solidFill>
                  <a:srgbClr val="0F172A"/>
                </a:solidFill>
                <a:latin typeface="Google Sans Flex SemiBold"/>
              </a:rPr>
              <a:t>Demo Resilience</a:t>
            </a:r>
          </a:p>
          <a:p>
            <a:pPr algn="l">
              <a:spcAft>
                <a:spcPts val="0"/>
              </a:spcAft>
            </a:pPr>
            <a:r>
              <a:rPr sz="950" b="0">
                <a:solidFill>
                  <a:srgbClr val="64748B"/>
                </a:solidFill>
                <a:latin typeface="Google Sans Flex"/>
              </a:rPr>
              <a:t>Zero cloud credential requirement for hackathon evaluation; persistent local storage fallback prevents any demo failure.</a:t>
            </a: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3" name="Google Shape;148;p25"/>
          <p:cNvPicPr/>
          <p:nvPr/>
        </p:nvPicPr>
        <p:blipFill>
          <a:blip r:embed="rId1"/>
          <a:srcRect l="0" t="0" r="0" b="97986"/>
          <a:stretch/>
        </p:blipFill>
        <p:spPr>
          <a:xfrm>
            <a:off x="0" y="5093640"/>
            <a:ext cx="9143640" cy="54000"/>
          </a:xfrm>
          <a:prstGeom prst="rect">
            <a:avLst/>
          </a:prstGeom>
          <a:noFill/>
          <a:ln w="0">
            <a:noFill/>
          </a:ln>
        </p:spPr>
      </p:pic>
      <p:pic>
        <p:nvPicPr>
          <p:cNvPr id="74" name="Google Shape;149;p25"/>
          <p:cNvPicPr/>
          <p:nvPr/>
        </p:nvPicPr>
        <p:blipFill>
          <a:blip r:embed="rId2"/>
          <a:stretch/>
        </p:blipFill>
        <p:spPr>
          <a:xfrm>
            <a:off x="0" y="0"/>
            <a:ext cx="9143640" cy="506880"/>
          </a:xfrm>
          <a:prstGeom prst="rect">
            <a:avLst/>
          </a:prstGeom>
          <a:noFill/>
          <a:ln w="0">
            <a:noFill/>
          </a:ln>
        </p:spPr>
      </p:pic>
      <p:sp>
        <p:nvSpPr>
          <p:cNvPr id="75" name="Google Shape;150;p25"/>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76" name="Google Shape;151;p25"/>
          <p:cNvSpPr/>
          <p:nvPr/>
        </p:nvSpPr>
        <p:spPr>
          <a:xfrm>
            <a:off x="265320" y="663840"/>
            <a:ext cx="8942760" cy="56160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GB" sz="1600" b="0" u="none" strike="noStrike">
                <a:solidFill>
                  <a:srgbClr val="000000"/>
                </a:solidFill>
                <a:effectLst/>
                <a:uFillTx/>
                <a:latin typeface="Google Sans Flex Medium"/>
                <a:ea typeface="Google Sans Flex Medium"/>
              </a:rPr>
              <a:t>Additional Details/Future Development (if any)</a:t>
            </a:r>
            <a:endParaRPr lang="en-GB" sz="1600" b="0" u="none" strike="noStrike">
              <a:solidFill>
                <a:srgbClr val="000000"/>
              </a:solidFill>
              <a:effectLst/>
              <a:uFillTx/>
              <a:latin typeface="Arial"/>
            </a:endParaRPr>
          </a:p>
        </p:txBody>
      </p:sp>
      <p:sp>
        <p:nvSpPr>
          <p:cNvPr id="77" name="Rounded Rectangle 76"/>
          <p:cNvSpPr/>
          <p:nvPr/>
        </p:nvSpPr>
        <p:spPr>
          <a:xfrm>
            <a:off x="360000" y="1300000"/>
            <a:ext cx="8424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80000" y="1350000"/>
            <a:ext cx="8184000" cy="720000"/>
          </a:xfrm>
          <a:prstGeom prst="rect">
            <a:avLst/>
          </a:prstGeom>
          <a:noFill/>
        </p:spPr>
        <p:txBody>
          <a:bodyPr wrap="square" lIns="76200" rIns="76200" tIns="76200" bIns="76200">
            <a:spAutoFit/>
          </a:bodyPr>
          <a:lstStyle/>
          <a:p>
            <a:pPr algn="l">
              <a:spcAft>
                <a:spcPts val="200"/>
              </a:spcAft>
            </a:pPr>
            <a:r>
              <a:rPr sz="1150" b="1">
                <a:solidFill>
                  <a:srgbClr val="4F46E5"/>
                </a:solidFill>
                <a:latin typeface="Google Sans Flex SemiBold"/>
              </a:rPr>
              <a:t>Phase 1 (Q1 2027): Autonomous HR Agent Engine</a:t>
            </a:r>
          </a:p>
          <a:p>
            <a:pPr>
              <a:spcAft>
                <a:spcPts val="0"/>
              </a:spcAft>
            </a:pPr>
            <a:r>
              <a:rPr sz="950" b="1">
                <a:solidFill>
                  <a:srgbClr val="1E293B"/>
                </a:solidFill>
                <a:latin typeface="Google Sans Flex SemiBold"/>
              </a:rPr>
              <a:t>Vertex AI Agent Engine: </a:t>
            </a:r>
            <a:r>
              <a:rPr sz="950">
                <a:solidFill>
                  <a:srgbClr val="64748B"/>
                </a:solidFill>
                <a:latin typeface="Google Sans Flex"/>
              </a:rPr>
              <a:t>Transition from scheduled cron to autonomous agent monitoring employee engagement.</a:t>
            </a:r>
            <a:r>
              <a:rPr>
                <a:solidFill>
                  <a:srgbClr val="E2E8F0"/>
                </a:solidFill>
              </a:rPr>
              <a:t>   |   </a:t>
            </a:r>
            <a:r>
              <a:rPr sz="950" b="1">
                <a:solidFill>
                  <a:srgbClr val="1E293B"/>
                </a:solidFill>
                <a:latin typeface="Google Sans Flex SemiBold"/>
              </a:rPr>
              <a:t>Retention Health Scoring: </a:t>
            </a:r>
            <a:r>
              <a:rPr sz="950">
                <a:solidFill>
                  <a:srgbClr val="64748B"/>
                </a:solidFill>
                <a:latin typeface="Google Sans Flex"/>
              </a:rPr>
              <a:t>Machine learning model predicting employee flight and burnout risk based on recognition intervals.</a:t>
            </a:r>
            <a:r>
              <a:rPr>
                <a:solidFill>
                  <a:srgbClr val="E2E8F0"/>
                </a:solidFill>
              </a:rPr>
              <a:t>   |   </a:t>
            </a:r>
            <a:r>
              <a:rPr sz="950" b="1">
                <a:solidFill>
                  <a:srgbClr val="1E293B"/>
                </a:solidFill>
                <a:latin typeface="Google Sans Flex SemiBold"/>
              </a:rPr>
              <a:t>HR Policy RAG: </a:t>
            </a:r>
            <a:r>
              <a:rPr sz="950">
                <a:solidFill>
                  <a:srgbClr val="64748B"/>
                </a:solidFill>
                <a:latin typeface="Google Sans Flex"/>
              </a:rPr>
              <a:t>Grounded retrieval for company benefits, tenure awards, and milestone policies.</a:t>
            </a:r>
          </a:p>
        </p:txBody>
      </p:sp>
      <p:sp>
        <p:nvSpPr>
          <p:cNvPr id="79" name="Rounded Rectangle 78"/>
          <p:cNvSpPr/>
          <p:nvPr/>
        </p:nvSpPr>
        <p:spPr>
          <a:xfrm>
            <a:off x="360000" y="2180000"/>
            <a:ext cx="8424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80000" y="2230000"/>
            <a:ext cx="8184000" cy="720000"/>
          </a:xfrm>
          <a:prstGeom prst="rect">
            <a:avLst/>
          </a:prstGeom>
          <a:noFill/>
        </p:spPr>
        <p:txBody>
          <a:bodyPr wrap="square" lIns="76200" rIns="76200" tIns="76200" bIns="76200">
            <a:spAutoFit/>
          </a:bodyPr>
          <a:lstStyle/>
          <a:p>
            <a:pPr algn="l">
              <a:spcAft>
                <a:spcPts val="200"/>
              </a:spcAft>
            </a:pPr>
            <a:r>
              <a:rPr sz="1150" b="1">
                <a:solidFill>
                  <a:srgbClr val="4285F4"/>
                </a:solidFill>
                <a:latin typeface="Google Sans Flex SemiBold"/>
              </a:rPr>
              <a:t>Phase 2 (Q2 2027): Voice-First Multimodal Experience</a:t>
            </a:r>
          </a:p>
          <a:p>
            <a:pPr>
              <a:spcAft>
                <a:spcPts val="0"/>
              </a:spcAft>
            </a:pPr>
            <a:r>
              <a:rPr sz="950" b="1">
                <a:solidFill>
                  <a:srgbClr val="1E293B"/>
                </a:solidFill>
                <a:latin typeface="Google Sans Flex SemiBold"/>
              </a:rPr>
              <a:t>Google Cloud Speech-to-Text: </a:t>
            </a:r>
            <a:r>
              <a:rPr sz="950">
                <a:solidFill>
                  <a:srgbClr val="64748B"/>
                </a:solidFill>
                <a:latin typeface="Google Sans Flex"/>
              </a:rPr>
              <a:t>Hands-free voice search and milestone queries across all 7 regional languages.</a:t>
            </a:r>
            <a:r>
              <a:rPr>
                <a:solidFill>
                  <a:srgbClr val="E2E8F0"/>
                </a:solidFill>
              </a:rPr>
              <a:t>   |   </a:t>
            </a:r>
            <a:r>
              <a:rPr sz="950" b="1">
                <a:solidFill>
                  <a:srgbClr val="1E293B"/>
                </a:solidFill>
                <a:latin typeface="Google Sans Flex SemiBold"/>
              </a:rPr>
              <a:t>Google Cloud Text-to-Speech: </a:t>
            </a:r>
            <a:r>
              <a:rPr sz="950">
                <a:solidFill>
                  <a:srgbClr val="64748B"/>
                </a:solidFill>
                <a:latin typeface="Google Sans Flex"/>
              </a:rPr>
              <a:t>AI-synthesized spoken milestone celebration greetings in authentic native accents.</a:t>
            </a:r>
            <a:r>
              <a:rPr>
                <a:solidFill>
                  <a:srgbClr val="E2E8F0"/>
                </a:solidFill>
              </a:rPr>
              <a:t>   |   </a:t>
            </a:r>
            <a:r>
              <a:rPr sz="950" b="1">
                <a:solidFill>
                  <a:srgbClr val="1E293B"/>
                </a:solidFill>
                <a:latin typeface="Google Sans Flex SemiBold"/>
              </a:rPr>
              <a:t>PWA Voice Bar: </a:t>
            </a:r>
            <a:r>
              <a:rPr sz="950">
                <a:solidFill>
                  <a:srgbClr val="64748B"/>
                </a:solidFill>
                <a:latin typeface="Google Sans Flex"/>
              </a:rPr>
              <a:t>Pulsing voice command orb for instant voice-activated workforce management.</a:t>
            </a:r>
          </a:p>
        </p:txBody>
      </p:sp>
      <p:sp>
        <p:nvSpPr>
          <p:cNvPr id="81" name="Rounded Rectangle 80"/>
          <p:cNvSpPr/>
          <p:nvPr/>
        </p:nvSpPr>
        <p:spPr>
          <a:xfrm>
            <a:off x="360000" y="3060000"/>
            <a:ext cx="8424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0000" y="3110000"/>
            <a:ext cx="8184000" cy="720000"/>
          </a:xfrm>
          <a:prstGeom prst="rect">
            <a:avLst/>
          </a:prstGeom>
          <a:noFill/>
        </p:spPr>
        <p:txBody>
          <a:bodyPr wrap="square" lIns="76200" rIns="76200" tIns="76200" bIns="76200">
            <a:spAutoFit/>
          </a:bodyPr>
          <a:lstStyle/>
          <a:p>
            <a:pPr algn="l">
              <a:spcAft>
                <a:spcPts val="200"/>
              </a:spcAft>
            </a:pPr>
            <a:r>
              <a:rPr sz="1150" b="1">
                <a:solidFill>
                  <a:srgbClr val="10B981"/>
                </a:solidFill>
                <a:latin typeface="Google Sans Flex SemiBold"/>
              </a:rPr>
              <a:t>Phase 3 (Q3 2027): Enterprise HCM &amp; Cloud ERP Connectors</a:t>
            </a:r>
          </a:p>
          <a:p>
            <a:pPr>
              <a:spcAft>
                <a:spcPts val="0"/>
              </a:spcAft>
            </a:pPr>
            <a:r>
              <a:rPr sz="950" b="1">
                <a:solidFill>
                  <a:srgbClr val="1E293B"/>
                </a:solidFill>
                <a:latin typeface="Google Sans Flex SemiBold"/>
              </a:rPr>
              <a:t>Turnkey HCM Connectors: </a:t>
            </a:r>
            <a:r>
              <a:rPr sz="950">
                <a:solidFill>
                  <a:srgbClr val="64748B"/>
                </a:solidFill>
                <a:latin typeface="Google Sans Flex"/>
              </a:rPr>
              <a:t>Direct bidirectional sync with Workday, SAP SuccessFactors, BambooHR, and Darwinbox.</a:t>
            </a:r>
            <a:r>
              <a:rPr>
                <a:solidFill>
                  <a:srgbClr val="E2E8F0"/>
                </a:solidFill>
              </a:rPr>
              <a:t>   |   </a:t>
            </a:r>
            <a:r>
              <a:rPr sz="950" b="1">
                <a:solidFill>
                  <a:srgbClr val="1E293B"/>
                </a:solidFill>
                <a:latin typeface="Google Sans Flex SemiBold"/>
              </a:rPr>
              <a:t>Google Workspace Add-On: </a:t>
            </a:r>
            <a:r>
              <a:rPr sz="950">
                <a:solidFill>
                  <a:srgbClr val="64748B"/>
                </a:solidFill>
                <a:latin typeface="Google Sans Flex"/>
              </a:rPr>
              <a:t>1-click Google Calendar integration and Gmail celebration draft assistant.</a:t>
            </a:r>
            <a:r>
              <a:rPr>
                <a:solidFill>
                  <a:srgbClr val="E2E8F0"/>
                </a:solidFill>
              </a:rPr>
              <a:t>   |   </a:t>
            </a:r>
            <a:r>
              <a:rPr sz="950" b="1">
                <a:solidFill>
                  <a:srgbClr val="1E293B"/>
                </a:solidFill>
                <a:latin typeface="Google Sans Flex SemiBold"/>
              </a:rPr>
              <a:t>Enterprise Single Sign-On: </a:t>
            </a:r>
            <a:r>
              <a:rPr sz="950">
                <a:solidFill>
                  <a:srgbClr val="64748B"/>
                </a:solidFill>
                <a:latin typeface="Google Sans Flex"/>
              </a:rPr>
              <a:t>SAML 2.0 / Okta / Azure AD enterprise directory synchronization.</a:t>
            </a:r>
          </a:p>
        </p:txBody>
      </p:sp>
      <p:sp>
        <p:nvSpPr>
          <p:cNvPr id="83" name="Rounded Rectangle 82"/>
          <p:cNvSpPr/>
          <p:nvPr/>
        </p:nvSpPr>
        <p:spPr>
          <a:xfrm>
            <a:off x="360000" y="3940000"/>
            <a:ext cx="8424000" cy="82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80000" y="3990000"/>
            <a:ext cx="8184000" cy="720000"/>
          </a:xfrm>
          <a:prstGeom prst="rect">
            <a:avLst/>
          </a:prstGeom>
          <a:noFill/>
        </p:spPr>
        <p:txBody>
          <a:bodyPr wrap="square" lIns="76200" rIns="76200" tIns="76200" bIns="76200">
            <a:spAutoFit/>
          </a:bodyPr>
          <a:lstStyle/>
          <a:p>
            <a:pPr algn="l">
              <a:spcAft>
                <a:spcPts val="200"/>
              </a:spcAft>
            </a:pPr>
            <a:r>
              <a:rPr sz="1150" b="1">
                <a:solidFill>
                  <a:srgbClr val="F59E0B"/>
                </a:solidFill>
                <a:latin typeface="Google Sans Flex SemiBold"/>
              </a:rPr>
              <a:t>Phase 4 (Q4 2027): Automated Physical Gift &amp; Voucher Delivery</a:t>
            </a:r>
          </a:p>
          <a:p>
            <a:pPr>
              <a:spcAft>
                <a:spcPts val="0"/>
              </a:spcAft>
            </a:pPr>
            <a:r>
              <a:rPr sz="950" b="1">
                <a:solidFill>
                  <a:srgbClr val="1E293B"/>
                </a:solidFill>
                <a:latin typeface="Google Sans Flex SemiBold"/>
              </a:rPr>
              <a:t>Regional Logistics Hub: </a:t>
            </a:r>
            <a:r>
              <a:rPr sz="950">
                <a:solidFill>
                  <a:srgbClr val="64748B"/>
                </a:solidFill>
                <a:latin typeface="Google Sans Flex"/>
              </a:rPr>
              <a:t>Integration with ASEAN e-commerce &amp; delivery partners for automated physical gift hamper dispatch.</a:t>
            </a:r>
            <a:r>
              <a:rPr>
                <a:solidFill>
                  <a:srgbClr val="E2E8F0"/>
                </a:solidFill>
              </a:rPr>
              <a:t>   |   </a:t>
            </a:r>
            <a:r>
              <a:rPr sz="950" b="1">
                <a:solidFill>
                  <a:srgbClr val="1E293B"/>
                </a:solidFill>
                <a:latin typeface="Google Sans Flex SemiBold"/>
              </a:rPr>
              <a:t>Digital Gift Cards: </a:t>
            </a:r>
            <a:r>
              <a:rPr sz="950">
                <a:solidFill>
                  <a:srgbClr val="64748B"/>
                </a:solidFill>
                <a:latin typeface="Google Sans Flex"/>
              </a:rPr>
              <a:t>Instant digital gift voucher distribution (Grab, Shopee, Lazada, Central) tied to milestone awards.</a:t>
            </a:r>
            <a:r>
              <a:rPr>
                <a:solidFill>
                  <a:srgbClr val="E2E8F0"/>
                </a:solidFill>
              </a:rPr>
              <a:t>   |   </a:t>
            </a:r>
            <a:r>
              <a:rPr sz="950" b="1">
                <a:solidFill>
                  <a:srgbClr val="1E293B"/>
                </a:solidFill>
                <a:latin typeface="Google Sans Flex SemiBold"/>
              </a:rPr>
              <a:t>Culture Box Subscriptions: </a:t>
            </a:r>
            <a:r>
              <a:rPr sz="950">
                <a:solidFill>
                  <a:srgbClr val="64748B"/>
                </a:solidFill>
                <a:latin typeface="Google Sans Flex"/>
              </a:rPr>
              <a:t>Customized regional celebration gift boxes celebrating national cultural festivals.</a:t>
            </a: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7" name="Google Shape;156;p26"/>
          <p:cNvPicPr/>
          <p:nvPr/>
        </p:nvPicPr>
        <p:blipFill>
          <a:blip r:embed="rId1"/>
          <a:srcRect l="0" t="0" r="0" b="97986"/>
          <a:stretch/>
        </p:blipFill>
        <p:spPr>
          <a:xfrm>
            <a:off x="0" y="5093640"/>
            <a:ext cx="9143640" cy="54000"/>
          </a:xfrm>
          <a:prstGeom prst="rect">
            <a:avLst/>
          </a:prstGeom>
          <a:noFill/>
          <a:ln w="0">
            <a:noFill/>
          </a:ln>
        </p:spPr>
      </p:pic>
      <p:pic>
        <p:nvPicPr>
          <p:cNvPr id="78" name="Google Shape;157;p26"/>
          <p:cNvPicPr/>
          <p:nvPr/>
        </p:nvPicPr>
        <p:blipFill>
          <a:blip r:embed="rId2"/>
          <a:stretch/>
        </p:blipFill>
        <p:spPr>
          <a:xfrm>
            <a:off x="0" y="0"/>
            <a:ext cx="9143640" cy="506880"/>
          </a:xfrm>
          <a:prstGeom prst="rect">
            <a:avLst/>
          </a:prstGeom>
          <a:noFill/>
          <a:ln w="0">
            <a:noFill/>
          </a:ln>
        </p:spPr>
      </p:pic>
      <p:sp>
        <p:nvSpPr>
          <p:cNvPr id="79" name="Google Shape;158;p26"/>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80" name="Google Shape;159;p26"/>
          <p:cNvSpPr/>
          <p:nvPr/>
        </p:nvSpPr>
        <p:spPr>
          <a:xfrm>
            <a:off x="265320" y="663840"/>
            <a:ext cx="8942760" cy="1333440"/>
          </a:xfrm>
          <a:prstGeom prst="rect">
            <a:avLst/>
          </a:prstGeom>
          <a:noFill/>
          <a:ln w="0">
            <a:noFill/>
          </a:ln>
        </p:spPr>
        <p:style>
          <a:lnRef idx="0"/>
          <a:fillRef idx="0"/>
          <a:effectRef idx="0"/>
          <a:fontRef idx="minor"/>
        </p:style>
        <p:txBody>
          <a:bodyPr tIns="91440" bIns="91440" anchor="t">
            <a:noAutofit/>
          </a:bodyPr>
          <a:p/>
        </p:txBody>
      </p:sp>
      <p:sp>
        <p:nvSpPr>
          <p:cNvPr id="81" name="Rounded Rectangle 80"/>
          <p:cNvSpPr/>
          <p:nvPr/>
        </p:nvSpPr>
        <p:spPr>
          <a:xfrm>
            <a:off x="360000" y="1300000"/>
            <a:ext cx="8424000" cy="10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00000" y="1360000"/>
            <a:ext cx="8144000" cy="930000"/>
          </a:xfrm>
          <a:prstGeom prst="rect">
            <a:avLst/>
          </a:prstGeom>
          <a:noFill/>
        </p:spPr>
        <p:txBody>
          <a:bodyPr wrap="square" lIns="76200" rIns="76200" tIns="76200" bIns="76200">
            <a:spAutoFit/>
          </a:bodyPr>
          <a:lstStyle/>
          <a:p>
            <a:pPr algn="l">
              <a:spcAft>
                <a:spcPts val="200"/>
              </a:spcAft>
            </a:pPr>
            <a:r>
              <a:rPr sz="1300" b="1">
                <a:solidFill>
                  <a:srgbClr val="0F172A"/>
                </a:solidFill>
                <a:latin typeface="Google Sans Flex SemiBold"/>
              </a:rPr>
              <a:t>GitHub Public Repository</a:t>
            </a:r>
          </a:p>
          <a:p>
            <a:pPr>
              <a:spcAft>
                <a:spcPts val="200"/>
              </a:spcAft>
            </a:pPr>
            <a:r>
              <a:rPr sz="1150" b="1">
                <a:solidFill>
                  <a:srgbClr val="4285F4"/>
                </a:solidFill>
                <a:latin typeface="Google Sans Flex SemiBold"/>
              </a:rPr>
              <a:t>https://github.com/vibecode-ting/employee-milestone-notifications-ai</a:t>
            </a:r>
          </a:p>
          <a:p>
            <a:pPr algn="l">
              <a:spcAft>
                <a:spcPts val="0"/>
              </a:spcAft>
            </a:pPr>
            <a:r>
              <a:rPr sz="1000" b="0">
                <a:solidFill>
                  <a:srgbClr val="64748B"/>
                </a:solidFill>
                <a:latin typeface="Google Sans Flex"/>
              </a:rPr>
              <a:t>Access full source code, CI/CD GitHub Actions workflows, Cloud Functions backend, Firestore security rules, and technical documentation.</a:t>
            </a:r>
          </a:p>
        </p:txBody>
      </p:sp>
      <p:sp>
        <p:nvSpPr>
          <p:cNvPr id="83" name="Rounded Rectangle 82"/>
          <p:cNvSpPr/>
          <p:nvPr/>
        </p:nvSpPr>
        <p:spPr>
          <a:xfrm>
            <a:off x="360000" y="2470000"/>
            <a:ext cx="8424000" cy="10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00000" y="2530000"/>
            <a:ext cx="8144000" cy="930000"/>
          </a:xfrm>
          <a:prstGeom prst="rect">
            <a:avLst/>
          </a:prstGeom>
          <a:noFill/>
        </p:spPr>
        <p:txBody>
          <a:bodyPr wrap="square" lIns="76200" rIns="76200" tIns="76200" bIns="76200">
            <a:spAutoFit/>
          </a:bodyPr>
          <a:lstStyle/>
          <a:p>
            <a:pPr algn="l">
              <a:spcAft>
                <a:spcPts val="200"/>
              </a:spcAft>
            </a:pPr>
            <a:r>
              <a:rPr sz="1300" b="1">
                <a:solidFill>
                  <a:srgbClr val="F43F5E"/>
                </a:solidFill>
                <a:latin typeface="Google Sans Flex SemiBold"/>
              </a:rPr>
              <a:t>Demo Video Link (3 Minutes)</a:t>
            </a:r>
          </a:p>
          <a:p>
            <a:pPr>
              <a:spcAft>
                <a:spcPts val="200"/>
              </a:spcAft>
            </a:pPr>
            <a:r>
              <a:rPr sz="1150" b="1">
                <a:solidFill>
                  <a:srgbClr val="4285F4"/>
                </a:solidFill>
                <a:latin typeface="Google Sans Flex SemiBold"/>
              </a:rPr>
              <a:t>https://youtu.be/placeholder-demo-video</a:t>
            </a:r>
          </a:p>
          <a:p>
            <a:pPr algn="l">
              <a:spcAft>
                <a:spcPts val="0"/>
              </a:spcAft>
            </a:pPr>
            <a:r>
              <a:rPr sz="1000" b="0">
                <a:solidFill>
                  <a:srgbClr val="64748B"/>
                </a:solidFill>
                <a:latin typeface="Google Sans Flex"/>
              </a:rPr>
              <a:t>3-minute comprehensive walkthrough of 3D Earth WebGL, Gemini AI copywriter, Excel roster ingestion, and client-side payment slip OCR checkout.</a:t>
            </a:r>
          </a:p>
        </p:txBody>
      </p:sp>
      <p:sp>
        <p:nvSpPr>
          <p:cNvPr id="85" name="Rounded Rectangle 84"/>
          <p:cNvSpPr/>
          <p:nvPr/>
        </p:nvSpPr>
        <p:spPr>
          <a:xfrm>
            <a:off x="360000" y="3640000"/>
            <a:ext cx="8424000" cy="10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00000" y="3700000"/>
            <a:ext cx="8144000" cy="930000"/>
          </a:xfrm>
          <a:prstGeom prst="rect">
            <a:avLst/>
          </a:prstGeom>
          <a:noFill/>
        </p:spPr>
        <p:txBody>
          <a:bodyPr wrap="square" lIns="76200" rIns="76200" tIns="76200" bIns="76200">
            <a:spAutoFit/>
          </a:bodyPr>
          <a:lstStyle/>
          <a:p>
            <a:pPr algn="l">
              <a:spcAft>
                <a:spcPts val="200"/>
              </a:spcAft>
            </a:pPr>
            <a:r>
              <a:rPr sz="1300" b="1">
                <a:solidFill>
                  <a:srgbClr val="4285F4"/>
                </a:solidFill>
                <a:latin typeface="Google Sans Flex SemiBold"/>
              </a:rPr>
              <a:t>Final Product Link</a:t>
            </a:r>
          </a:p>
          <a:p>
            <a:pPr>
              <a:spcAft>
                <a:spcPts val="200"/>
              </a:spcAft>
            </a:pPr>
            <a:r>
              <a:rPr sz="1150" b="1">
                <a:solidFill>
                  <a:srgbClr val="4285F4"/>
                </a:solidFill>
                <a:latin typeface="Google Sans Flex SemiBold"/>
              </a:rPr>
              <a:t>https://milestone-app.web.app</a:t>
            </a:r>
          </a:p>
          <a:p>
            <a:pPr algn="l">
              <a:spcAft>
                <a:spcPts val="0"/>
              </a:spcAft>
            </a:pPr>
            <a:r>
              <a:rPr sz="1000" b="0">
                <a:solidFill>
                  <a:srgbClr val="64748B"/>
                </a:solidFill>
                <a:latin typeface="Google Sans Flex"/>
              </a:rPr>
              <a:t>Live production web deployment with 1-Click Instant Demo Mode for immediate hackathon judge evaluation with zero setup.</a:t>
            </a: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1" name="Google Shape;164;p27"/>
          <p:cNvPicPr/>
          <p:nvPr/>
        </p:nvPicPr>
        <p:blipFill>
          <a:blip r:embed="rId1"/>
          <a:srcRect l="0" t="0" r="0" b="97986"/>
          <a:stretch/>
        </p:blipFill>
        <p:spPr>
          <a:xfrm>
            <a:off x="0" y="5093640"/>
            <a:ext cx="9143640" cy="54000"/>
          </a:xfrm>
          <a:prstGeom prst="rect">
            <a:avLst/>
          </a:prstGeom>
          <a:noFill/>
          <a:ln w="0">
            <a:noFill/>
          </a:ln>
        </p:spPr>
      </p:pic>
      <p:pic>
        <p:nvPicPr>
          <p:cNvPr id="82" name="Google Shape;165;p27"/>
          <p:cNvPicPr/>
          <p:nvPr/>
        </p:nvPicPr>
        <p:blipFill>
          <a:blip r:embed="rId2"/>
          <a:stretch/>
        </p:blipFill>
        <p:spPr>
          <a:xfrm>
            <a:off x="0" y="0"/>
            <a:ext cx="9143640" cy="506880"/>
          </a:xfrm>
          <a:prstGeom prst="rect">
            <a:avLst/>
          </a:prstGeom>
          <a:noFill/>
          <a:ln w="0">
            <a:noFill/>
          </a:ln>
        </p:spPr>
      </p:pic>
      <p:sp>
        <p:nvSpPr>
          <p:cNvPr id="83" name="Google Shape;166;p27"/>
          <p:cNvSpPr/>
          <p:nvPr/>
        </p:nvSpPr>
        <p:spPr>
          <a:xfrm>
            <a:off x="-29160" y="5072040"/>
            <a:ext cx="9173160" cy="97560"/>
          </a:xfrm>
          <a:prstGeom prst="rect">
            <a:avLst/>
          </a:prstGeom>
          <a:solidFill>
            <a:schemeClr val="dk1"/>
          </a:solidFill>
          <a:ln w="0">
            <a:noFill/>
          </a:ln>
        </p:spPr>
        <p:style>
          <a:lnRef idx="0"/>
          <a:fillRef idx="0"/>
          <a:effectRef idx="0"/>
          <a:fontRef idx="minor"/>
        </p:style>
        <p:txBody>
          <a:bodyPr tIns="48960" bIns="48960" anchor="ctr">
            <a:noAutofit/>
          </a:bodyPr>
          <a:p>
            <a:endParaRPr lang="en-GB" sz="1400" b="0" u="none" strike="noStrike">
              <a:solidFill>
                <a:srgbClr val="FFFFFF"/>
              </a:solidFill>
              <a:effectLst/>
              <a:uFillTx/>
              <a:latin typeface="Arial"/>
            </a:endParaRPr>
          </a:p>
        </p:txBody>
      </p:sp>
      <p:sp>
        <p:nvSpPr>
          <p:cNvPr id="84" name="Rounded Rectangle 83"/>
          <p:cNvSpPr/>
          <p:nvPr/>
        </p:nvSpPr>
        <p:spPr>
          <a:xfrm>
            <a:off x="360000" y="1300000"/>
            <a:ext cx="4100000" cy="3550000"/>
          </a:xfrm>
          <a:prstGeom prst="roundRect">
            <a:avLst/>
          </a:prstGeom>
          <a:solidFill>
            <a:srgbClr val="FFFFFF"/>
          </a:solidFill>
          <a:ln w="1524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60000" y="1400000"/>
            <a:ext cx="3900000" cy="3350000"/>
          </a:xfrm>
          <a:prstGeom prst="rect">
            <a:avLst/>
          </a:prstGeom>
          <a:noFill/>
        </p:spPr>
        <p:txBody>
          <a:bodyPr wrap="square" lIns="76200" rIns="76200" tIns="76200" bIns="76200">
            <a:spAutoFit/>
          </a:bodyPr>
          <a:lstStyle/>
          <a:p>
            <a:pPr algn="l">
              <a:spcAft>
                <a:spcPts val="600"/>
              </a:spcAft>
            </a:pPr>
            <a:r>
              <a:rPr sz="1500" b="1">
                <a:solidFill>
                  <a:srgbClr val="0F172A"/>
                </a:solidFill>
                <a:latin typeface="Google Sans Flex SemiBold"/>
              </a:rPr>
              <a:t>Project Impact &amp; Vision</a:t>
            </a:r>
          </a:p>
          <a:p>
            <a:pPr>
              <a:spcAft>
                <a:spcPts val="500"/>
              </a:spcAft>
            </a:pPr>
            <a:r>
              <a:rPr sz="1100" b="1">
                <a:solidFill>
                  <a:srgbClr val="4F46E5"/>
                </a:solidFill>
                <a:latin typeface="Google Sans Flex SemiBold"/>
              </a:rPr>
              <a:t>• Redefining Regional HR: </a:t>
            </a:r>
            <a:r>
              <a:rPr sz="1050">
                <a:solidFill>
                  <a:srgbClr val="1E293B"/>
                </a:solidFill>
                <a:latin typeface="Google Sans Flex"/>
              </a:rPr>
              <a:t>Milestone bridges the cultural, linguistic, and operational divide across distributed Asia-Pacific teams.</a:t>
            </a:r>
          </a:p>
          <a:p>
            <a:pPr>
              <a:spcAft>
                <a:spcPts val="500"/>
              </a:spcAft>
            </a:pPr>
            <a:r>
              <a:rPr sz="1100" b="1">
                <a:solidFill>
                  <a:srgbClr val="4F46E5"/>
                </a:solidFill>
                <a:latin typeface="Google Sans Flex SemiBold"/>
              </a:rPr>
              <a:t>• Zero-Touch Autonomous Execution: </a:t>
            </a:r>
            <a:r>
              <a:rPr sz="1050">
                <a:solidFill>
                  <a:srgbClr val="1E293B"/>
                </a:solidFill>
                <a:latin typeface="Google Sans Flex"/>
              </a:rPr>
              <a:t>Combines Google Gemini 2.5 Flash intelligence with daily serverless cron to eliminate manual administrative friction.</a:t>
            </a:r>
          </a:p>
          <a:p>
            <a:pPr>
              <a:spcAft>
                <a:spcPts val="500"/>
              </a:spcAft>
            </a:pPr>
            <a:r>
              <a:rPr sz="1100" b="1">
                <a:solidFill>
                  <a:srgbClr val="4F46E5"/>
                </a:solidFill>
                <a:latin typeface="Google Sans Flex SemiBold"/>
              </a:rPr>
              <a:t>• Regional Fintech Innovation: </a:t>
            </a:r>
            <a:r>
              <a:rPr sz="1050">
                <a:solidFill>
                  <a:srgbClr val="1E293B"/>
                </a:solidFill>
                <a:latin typeface="Google Sans Flex"/>
              </a:rPr>
              <a:t>Pioneers on-device computer vision OCR for Southeast Asian mobile wallets, enabling instant self-service upgrades at $0 API cost.</a:t>
            </a:r>
          </a:p>
          <a:p>
            <a:pPr>
              <a:spcAft>
                <a:spcPts val="500"/>
              </a:spcAft>
            </a:pPr>
            <a:r>
              <a:rPr sz="1100" b="1">
                <a:solidFill>
                  <a:srgbClr val="4F46E5"/>
                </a:solidFill>
                <a:latin typeface="Google Sans Flex SemiBold"/>
              </a:rPr>
              <a:t>• Production-Ready Performance: </a:t>
            </a:r>
            <a:r>
              <a:rPr sz="1050">
                <a:solidFill>
                  <a:srgbClr val="1E293B"/>
                </a:solidFill>
                <a:latin typeface="Google Sans Flex"/>
              </a:rPr>
              <a:t>Optimized 366 kB entry bundle, 60 FPS WebGL 3D globe, and 100% offline-resilient demo architecture.</a:t>
            </a:r>
          </a:p>
        </p:txBody>
      </p:sp>
      <p:sp>
        <p:nvSpPr>
          <p:cNvPr id="86" name="Rounded Rectangle 85"/>
          <p:cNvSpPr/>
          <p:nvPr/>
        </p:nvSpPr>
        <p:spPr>
          <a:xfrm>
            <a:off x="4684000" y="1300000"/>
            <a:ext cx="4100000" cy="3550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784000" y="1400000"/>
            <a:ext cx="3900000" cy="3350000"/>
          </a:xfrm>
          <a:prstGeom prst="rect">
            <a:avLst/>
          </a:prstGeom>
          <a:noFill/>
        </p:spPr>
        <p:txBody>
          <a:bodyPr wrap="square" lIns="76200" rIns="76200" tIns="76200" bIns="76200">
            <a:spAutoFit/>
          </a:bodyPr>
          <a:lstStyle/>
          <a:p>
            <a:pPr algn="l">
              <a:spcAft>
                <a:spcPts val="600"/>
              </a:spcAft>
            </a:pPr>
            <a:r>
              <a:rPr sz="1500" b="1">
                <a:solidFill>
                  <a:srgbClr val="0F172A"/>
                </a:solidFill>
                <a:latin typeface="Google Sans Flex SemiBold"/>
              </a:rPr>
              <a:t>Core Contributors &amp; AI Collaborator</a:t>
            </a:r>
          </a:p>
          <a:p>
            <a:pPr>
              <a:spcAft>
                <a:spcPts val="400"/>
              </a:spcAft>
            </a:pPr>
            <a:r>
              <a:rPr sz="1100" b="1">
                <a:solidFill>
                  <a:srgbClr val="0F172A"/>
                </a:solidFill>
                <a:latin typeface="Google Sans Flex SemiBold"/>
              </a:rPr>
              <a:t>👤 Htet Aung Hlaing — </a:t>
            </a:r>
            <a:r>
              <a:rPr sz="1000">
                <a:solidFill>
                  <a:srgbClr val="64748B"/>
                </a:solidFill>
                <a:latin typeface="Google Sans Flex"/>
              </a:rPr>
              <a:t>Lead Architect &amp; Full-Stack Developer (@vibecode-ting)</a:t>
            </a:r>
          </a:p>
          <a:p>
            <a:pPr>
              <a:spcAft>
                <a:spcPts val="400"/>
              </a:spcAft>
            </a:pPr>
            <a:r>
              <a:rPr sz="1100" b="1">
                <a:solidFill>
                  <a:srgbClr val="0F172A"/>
                </a:solidFill>
                <a:latin typeface="Google Sans Flex SemiBold"/>
              </a:rPr>
              <a:t>👤 Myo Set Paing — </a:t>
            </a:r>
            <a:r>
              <a:rPr sz="1000">
                <a:solidFill>
                  <a:srgbClr val="64748B"/>
                </a:solidFill>
                <a:latin typeface="Google Sans Flex"/>
              </a:rPr>
              <a:t>Core Contributor &amp; UI/UX Specialist (@Mark3172)</a:t>
            </a:r>
          </a:p>
          <a:p>
            <a:pPr>
              <a:spcAft>
                <a:spcPts val="400"/>
              </a:spcAft>
            </a:pPr>
            <a:r>
              <a:rPr sz="1100" b="1">
                <a:solidFill>
                  <a:srgbClr val="0F172A"/>
                </a:solidFill>
                <a:latin typeface="Google Sans Flex SemiBold"/>
              </a:rPr>
              <a:t>👤 Ko Htun — </a:t>
            </a:r>
            <a:r>
              <a:rPr sz="1000">
                <a:solidFill>
                  <a:srgbClr val="64748B"/>
                </a:solidFill>
                <a:latin typeface="Google Sans Flex"/>
              </a:rPr>
              <a:t>DevOps &amp; Cloud Emulator Lead (@kohtun386)</a:t>
            </a:r>
          </a:p>
          <a:p>
            <a:pPr>
              <a:spcAft>
                <a:spcPts val="400"/>
              </a:spcAft>
            </a:pPr>
            <a:r>
              <a:rPr sz="1100" b="1">
                <a:solidFill>
                  <a:srgbClr val="0F172A"/>
                </a:solidFill>
                <a:latin typeface="Google Sans Flex SemiBold"/>
              </a:rPr>
              <a:t>👤 Google Gemini — </a:t>
            </a:r>
            <a:r>
              <a:rPr sz="1000">
                <a:solidFill>
                  <a:srgbClr val="64748B"/>
                </a:solidFill>
                <a:latin typeface="Google Sans Flex"/>
              </a:rPr>
              <a:t>AI Co-Author &amp; Multimodal Copilot (DeepMind / Google Cloud)</a:t>
            </a:r>
          </a:p>
          <a:p>
            <a:pPr algn="l">
              <a:spcBef>
                <a:spcPts val="800"/>
              </a:spcBef>
              <a:spcAft>
                <a:spcPts val="0"/>
              </a:spcAft>
            </a:pPr>
            <a:r>
              <a:rPr sz="1050" b="0">
                <a:solidFill>
                  <a:srgbClr val="4F46E5"/>
                </a:solidFill>
                <a:latin typeface="Google Sans Flex"/>
              </a:rPr>
              <a:t>Special thanks to the Google Cloud AI Builder Cup 2026 organizers, mentors, and judges for the opportunity to build the future of enterprise recognition!</a:t>
            </a: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4" name="Google Shape;171;p28"/>
          <p:cNvPicPr/>
          <p:nvPr/>
        </p:nvPicPr>
        <p:blipFill>
          <a:blip r:embed="rId1"/>
          <a:srcRect l="0" t="0" r="0" b="97986"/>
          <a:stretch/>
        </p:blipFill>
        <p:spPr>
          <a:xfrm>
            <a:off x="0" y="5093640"/>
            <a:ext cx="9143640" cy="54000"/>
          </a:xfrm>
          <a:prstGeom prst="rect">
            <a:avLst/>
          </a:prstGeom>
          <a:noFill/>
          <a:ln w="0">
            <a:noFill/>
          </a:ln>
        </p:spPr>
      </p:pic>
      <p:pic>
        <p:nvPicPr>
          <p:cNvPr id="85" name="Google Shape;172;p28"/>
          <p:cNvPicPr/>
          <p:nvPr/>
        </p:nvPicPr>
        <p:blipFill>
          <a:blip r:embed="rId2"/>
          <a:stretch/>
        </p:blipFill>
        <p:spPr>
          <a:xfrm>
            <a:off x="0" y="0"/>
            <a:ext cx="9143640" cy="514332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LibreOffice/26.2.6.3$Windows_X86_64 LibreOffice_project/8221e31b3ac356a1623c672912a3d2b492f7e3d1</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en-GB</dc:language>
  <cp:lastModifiedBy/>
  <dcterms:modified xsi:type="dcterms:W3CDTF">2026-10-17T19:12:58Z</dcterms:modified>
  <cp:revision>1</cp:revision>
  <dc:subject/>
  <dc:title/>
</cp:coreProperties>
</file>