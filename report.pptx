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p:notesSz cx="7559675" cy="10691813"/>
  <p:embeddedFontLst>
    <p:embeddedFont>
      <p:font typeface="Google Sans Flex"/>
      <p:regular r:id="rId18"/>
      <p:bold r:id="rId19"/>
      <p:italic r:id="rId19"/>
    </p:embeddedFont>
    <p:embeddedFont>
      <p:font typeface="Google Sans Flex SemiBold"/>
      <p:regular r:id="rId20"/>
    </p:embeddedFont>
    <p:embeddedFont>
      <p:font typeface="Google Sans Flex Medium"/>
      <p:regular r:id="rId21"/>
    </p:embeddedFont>
    <p:embeddedFont>
      <p:font typeface="Noto Sans SC"/>
      <p:regular r:id="rId22"/>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font" Target="fonts/Font_1_Google_Sans_Flex_Regular.fntdata"/><Relationship Id="rId19" Type="http://schemas.openxmlformats.org/officeDocument/2006/relationships/font" Target="fonts/Font_2_Google_Sans_Flex_Bold.fntdata"/><Relationship Id="rId20" Type="http://schemas.openxmlformats.org/officeDocument/2006/relationships/font" Target="fonts/Font_3_Google_Sans_Flex_SemiBold_Regular.fntdata"/><Relationship Id="rId21" Type="http://schemas.openxmlformats.org/officeDocument/2006/relationships/font" Target="fonts/Font_4_Google_Sans_Flex_Medium_Regular.fntdata"/><Relationship Id="rId22" Type="http://schemas.openxmlformats.org/officeDocument/2006/relationships/font" Target="fonts/Font_5_Noto_Sans_SC_Regular.fntdata"/><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90320" y="450000"/>
            <a:ext cx="6366960" cy="4089960"/>
          </a:xfrm>
          <a:prstGeom prst="rect">
            <a:avLst/>
          </a:prstGeom>
          <a:noFill/>
          <a:ln w="0">
            <a:noFill/>
          </a:ln>
        </p:spPr>
        <p:txBody>
          <a:bodyPr lIns="91440" tIns="91440" rIns="91440" bIns="91440" anchor="ctr">
            <a:normAutofit/>
          </a:bodyPr>
          <a:lstStyle>
            <a:lvl1pPr indent="0" algn="l">
              <a:lnSpc>
                <a:spcPct val="100000"/>
              </a:lnSpc>
              <a:buNone/>
              <a:tabLst>
                <a:tab pos="0" algn="l"/>
              </a:tabLst>
              <a:defRPr lang="en-GB" sz="4800" b="0" u="none" strike="noStrike">
                <a:solidFill>
                  <a:srgbClr val="000000"/>
                </a:solidFill>
                <a:effectLst/>
                <a:uFillTx/>
                <a:latin typeface="Arial"/>
              </a:defRPr>
            </a:lvl1pPr>
          </a:lstStyle>
          <a:p>
            <a:pPr indent="0" algn="l">
              <a:lnSpc>
                <a:spcPct val="100000"/>
              </a:lnSpc>
              <a:buNone/>
              <a:tabLst>
                <a:tab pos="0" algn="l"/>
              </a:tabLst>
            </a:pPr>
            <a:r>
              <a:rPr lang="en-GB" sz="4800" b="0" u="none" strike="noStrike">
                <a:solidFill>
                  <a:srgbClr val="000000"/>
                </a:solidFill>
                <a:effectLst/>
                <a:uFillTx/>
                <a:latin typeface="Arial"/>
              </a:rPr>
              <a:t>Click to edit the title text format</a:t>
            </a:r>
            <a:endParaRPr lang="en-GB" sz="4800" b="0" u="none" strike="noStrike">
              <a:solidFill>
                <a:srgbClr val="000000"/>
              </a:solidFill>
              <a:effectLst/>
              <a:uFillTx/>
              <a:latin typeface="Arial"/>
            </a:endParaRPr>
          </a:p>
        </p:txBody>
      </p:sp>
      <p:sp>
        <p:nvSpPr>
          <p:cNvPr id="3" name="PlaceHolder 2"/>
          <p:cNvSpPr>
            <a:spLocks noGrp="1"/>
          </p:cNvSpPr>
          <p:nvPr>
            <p:ph type="sldNum" idx="1"/>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14A12B5D-EE00-4595-B899-4A17CFEFD89F}"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 name="Google Shape;36;p9"/>
          <p:cNvSpPr/>
          <p:nvPr/>
        </p:nvSpPr>
        <p:spPr>
          <a:xfrm>
            <a:off x="4572000" y="0"/>
            <a:ext cx="4571280" cy="5142960"/>
          </a:xfrm>
          <a:prstGeom prst="rect">
            <a:avLst/>
          </a:prstGeom>
          <a:solidFill>
            <a:schemeClr val="lt2"/>
          </a:solidFill>
          <a:ln w="0">
            <a:noFill/>
          </a:ln>
        </p:spPr>
        <p:style>
          <a:lnRef idx="0"/>
          <a:fillRef idx="0"/>
          <a:effectRef idx="0"/>
          <a:fontRef idx="minor"/>
        </p:style>
        <p:txBody>
          <a:bodyPr lIns="90000" tIns="91440" rIns="90000" bIns="91440" anchor="ctr">
            <a:noAutofit/>
          </a:bodyPr>
          <a:p>
            <a:endParaRPr lang="en-GB" sz="1400" b="0" u="none" strike="noStrike">
              <a:solidFill>
                <a:srgbClr val="000000"/>
              </a:solidFill>
              <a:effectLst/>
              <a:uFillTx/>
              <a:latin typeface="Arial"/>
            </a:endParaRPr>
          </a:p>
        </p:txBody>
      </p:sp>
      <p:sp>
        <p:nvSpPr>
          <p:cNvPr id="5" name="PlaceHolder 1"/>
          <p:cNvSpPr>
            <a:spLocks noGrp="1"/>
          </p:cNvSpPr>
          <p:nvPr>
            <p:ph type="title"/>
          </p:nvPr>
        </p:nvSpPr>
        <p:spPr>
          <a:xfrm>
            <a:off x="265680" y="1233000"/>
            <a:ext cx="4044600" cy="1481760"/>
          </a:xfrm>
          <a:prstGeom prst="rect">
            <a:avLst/>
          </a:prstGeom>
          <a:noFill/>
          <a:ln w="0">
            <a:noFill/>
          </a:ln>
        </p:spPr>
        <p:txBody>
          <a:bodyPr lIns="91440" tIns="91440" rIns="91440" bIns="91440" anchor="b">
            <a:normAutofit/>
          </a:bodyPr>
          <a:lstStyle>
            <a:lvl1pPr indent="0" algn="l">
              <a:lnSpc>
                <a:spcPct val="100000"/>
              </a:lnSpc>
              <a:buNone/>
              <a:tabLst>
                <a:tab pos="0" algn="l"/>
              </a:tabLst>
              <a:defRPr lang="en-GB" sz="4200" b="0" u="none" strike="noStrike">
                <a:solidFill>
                  <a:srgbClr val="000000"/>
                </a:solidFill>
                <a:effectLst/>
                <a:uFillTx/>
                <a:latin typeface="Arial"/>
              </a:defRPr>
            </a:lvl1pPr>
          </a:lstStyle>
          <a:p>
            <a:pPr indent="0" algn="l">
              <a:lnSpc>
                <a:spcPct val="100000"/>
              </a:lnSpc>
              <a:buNone/>
              <a:tabLst>
                <a:tab pos="0" algn="l"/>
              </a:tabLst>
            </a:pPr>
            <a:r>
              <a:rPr lang="en-GB" sz="4200" b="0" u="none" strike="noStrike">
                <a:solidFill>
                  <a:srgbClr val="000000"/>
                </a:solidFill>
                <a:effectLst/>
                <a:uFillTx/>
                <a:latin typeface="Arial"/>
              </a:rPr>
              <a:t>Click to edit the title text format</a:t>
            </a:r>
            <a:endParaRPr lang="en-GB" sz="4200" b="0" u="none" strike="noStrike">
              <a:solidFill>
                <a:srgbClr val="000000"/>
              </a:solidFill>
              <a:effectLst/>
              <a:uFillTx/>
              <a:latin typeface="Arial"/>
            </a:endParaRPr>
          </a:p>
        </p:txBody>
      </p:sp>
      <p:sp>
        <p:nvSpPr>
          <p:cNvPr id="6" name="PlaceHolder 2"/>
          <p:cNvSpPr>
            <a:spLocks noGrp="1"/>
          </p:cNvSpPr>
          <p:nvPr>
            <p:ph type="body"/>
          </p:nvPr>
        </p:nvSpPr>
        <p:spPr>
          <a:xfrm>
            <a:off x="4939560" y="723960"/>
            <a:ext cx="3836160" cy="3694320"/>
          </a:xfrm>
          <a:prstGeom prst="rect">
            <a:avLst/>
          </a:prstGeom>
          <a:noFill/>
          <a:ln w="0">
            <a:noFill/>
          </a:ln>
        </p:spPr>
        <p:txBody>
          <a:bodyPr lIns="91440" tIns="91440" rIns="91440" bIns="91440" anchor="ctr">
            <a:normAutofit fontScale="85000" lnSpcReduction="9999"/>
          </a:bodyPr>
          <a:lstStyle>
            <a:lvl1pPr algn="l">
              <a:lnSpc>
                <a:spcPct val="100000"/>
              </a:lnSpc>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7" name="PlaceHolder 3"/>
          <p:cNvSpPr>
            <a:spLocks noGrp="1"/>
          </p:cNvSpPr>
          <p:nvPr>
            <p:ph type="sldNum" idx="2"/>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98A2576E-5547-4045-B6DA-58A96746B261}"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body"/>
          </p:nvPr>
        </p:nvSpPr>
        <p:spPr>
          <a:xfrm>
            <a:off x="311760" y="4230720"/>
            <a:ext cx="5997960" cy="604440"/>
          </a:xfrm>
          <a:prstGeom prst="rect">
            <a:avLst/>
          </a:prstGeom>
          <a:noFill/>
          <a:ln w="0">
            <a:noFill/>
          </a:ln>
        </p:spPr>
        <p:txBody>
          <a:bodyPr lIns="91440" tIns="91440" rIns="91440" bIns="91440" anchor="ctr">
            <a:normAutofit fontScale="25000" lnSpcReduction="19999"/>
          </a:bodyPr>
          <a:lstStyle>
            <a:lvl1pPr algn="l">
              <a:lnSpc>
                <a:spcPct val="100000"/>
              </a:lnSpc>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9" name="PlaceHolder 2"/>
          <p:cNvSpPr>
            <a:spLocks noGrp="1"/>
          </p:cNvSpPr>
          <p:nvPr>
            <p:ph type="sldNum" idx="3"/>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A55D0CA5-9791-42EF-BA1B-F8FC3F676FDB}"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744480"/>
            <a:ext cx="8519760" cy="2052000"/>
          </a:xfrm>
          <a:prstGeom prst="rect">
            <a:avLst/>
          </a:prstGeom>
          <a:noFill/>
          <a:ln w="0">
            <a:noFill/>
          </a:ln>
        </p:spPr>
        <p:txBody>
          <a:bodyPr lIns="91440" tIns="91440" rIns="91440" bIns="91440" anchor="b">
            <a:normAutofit/>
          </a:bodyPr>
          <a:lstStyle>
            <a:lvl1pPr indent="0" algn="l">
              <a:lnSpc>
                <a:spcPct val="100000"/>
              </a:lnSpc>
              <a:buNone/>
              <a:tabLst>
                <a:tab pos="0" algn="l"/>
              </a:tabLst>
              <a:defRPr lang="en-GB" sz="5200" b="0" u="none" strike="noStrike">
                <a:solidFill>
                  <a:srgbClr val="000000"/>
                </a:solidFill>
                <a:effectLst/>
                <a:uFillTx/>
                <a:latin typeface="Arial"/>
              </a:defRPr>
            </a:lvl1pPr>
          </a:lstStyle>
          <a:p>
            <a:pPr indent="0" algn="l">
              <a:lnSpc>
                <a:spcPct val="100000"/>
              </a:lnSpc>
              <a:buNone/>
              <a:tabLst>
                <a:tab pos="0" algn="l"/>
              </a:tabLst>
            </a:pPr>
            <a:r>
              <a:rPr lang="en-GB" sz="5200" b="0" u="none" strike="noStrike">
                <a:solidFill>
                  <a:srgbClr val="000000"/>
                </a:solidFill>
                <a:effectLst/>
                <a:uFillTx/>
                <a:latin typeface="Arial"/>
              </a:rPr>
              <a:t>Click to edit the title text format</a:t>
            </a:r>
            <a:endParaRPr lang="en-GB" sz="5200" b="0" u="none" strike="noStrike">
              <a:solidFill>
                <a:srgbClr val="000000"/>
              </a:solidFill>
              <a:effectLst/>
              <a:uFillTx/>
              <a:latin typeface="Arial"/>
            </a:endParaRPr>
          </a:p>
        </p:txBody>
      </p:sp>
      <p:sp>
        <p:nvSpPr>
          <p:cNvPr id="11" name="PlaceHolder 2"/>
          <p:cNvSpPr>
            <a:spLocks noGrp="1"/>
          </p:cNvSpPr>
          <p:nvPr>
            <p:ph type="sldNum" idx="4"/>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AF69284C-068F-4F6C-8F71-9AEC63951CDC}"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
        <p:nvSpPr>
          <p:cNvPr id="12" name="PlaceHolder 3"/>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hasCustomPrompt="1"/>
          </p:nvPr>
        </p:nvSpPr>
        <p:spPr>
          <a:xfrm>
            <a:off x="311760" y="1106280"/>
            <a:ext cx="8519760" cy="1962720"/>
          </a:xfrm>
          <a:prstGeom prst="rect">
            <a:avLst/>
          </a:prstGeom>
          <a:noFill/>
          <a:ln w="0">
            <a:noFill/>
          </a:ln>
        </p:spPr>
        <p:txBody>
          <a:bodyPr lIns="91440" tIns="91440" rIns="91440" bIns="91440" anchor="b">
            <a:normAutofit lnSpcReduction="9999"/>
          </a:bodyPr>
          <a:lstStyle>
            <a:lvl1pPr indent="0" algn="ctr">
              <a:lnSpc>
                <a:spcPct val="100000"/>
              </a:lnSpc>
              <a:buNone/>
              <a:tabLst>
                <a:tab pos="0" algn="l"/>
              </a:tabLst>
              <a:defRPr lang="en-GB" sz="12000" b="0" u="none" strike="noStrike">
                <a:solidFill>
                  <a:schemeClr val="dk1"/>
                </a:solidFill>
                <a:effectLst/>
                <a:uFillTx/>
                <a:latin typeface="Arial"/>
                <a:ea typeface="Arial"/>
              </a:defRPr>
            </a:lvl1pPr>
          </a:lstStyle>
          <a:p>
            <a:pPr indent="0" algn="ctr">
              <a:lnSpc>
                <a:spcPct val="100000"/>
              </a:lnSpc>
              <a:buNone/>
              <a:tabLst>
                <a:tab pos="0" algn="l"/>
              </a:tabLst>
            </a:pPr>
            <a:r>
              <a:rPr lang="en-GB" sz="12000" b="0" u="none" strike="noStrike">
                <a:solidFill>
                  <a:schemeClr val="dk1"/>
                </a:solidFill>
                <a:effectLst/>
                <a:uFillTx/>
                <a:latin typeface="Arial"/>
                <a:ea typeface="Arial"/>
              </a:rPr>
              <a:t>xx%</a:t>
            </a:r>
            <a:endParaRPr lang="en-GB" sz="12000" b="0" u="none" strike="noStrike">
              <a:solidFill>
                <a:schemeClr val="dk1"/>
              </a:solidFill>
              <a:effectLst/>
              <a:uFillTx/>
              <a:latin typeface="Arial"/>
            </a:endParaRPr>
          </a:p>
        </p:txBody>
      </p:sp>
      <p:sp>
        <p:nvSpPr>
          <p:cNvPr id="14" name="PlaceHolder 2"/>
          <p:cNvSpPr>
            <a:spLocks noGrp="1"/>
          </p:cNvSpPr>
          <p:nvPr>
            <p:ph type="body"/>
          </p:nvPr>
        </p:nvSpPr>
        <p:spPr>
          <a:xfrm>
            <a:off x="311760" y="3152160"/>
            <a:ext cx="8519760" cy="1299960"/>
          </a:xfrm>
          <a:prstGeom prst="rect">
            <a:avLst/>
          </a:prstGeom>
          <a:noFill/>
          <a:ln w="0">
            <a:noFill/>
          </a:ln>
        </p:spPr>
        <p:txBody>
          <a:bodyPr lIns="91440" tIns="91440" rIns="91440" bIns="91440" anchor="t">
            <a:normAutofit fontScale="47500" lnSpcReduction="19999"/>
          </a:bodyPr>
          <a:lstStyle>
            <a:lvl1pPr algn="l">
              <a:lnSpc>
                <a:spcPct val="100000"/>
              </a:lnSpc>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15" name="PlaceHolder 3"/>
          <p:cNvSpPr>
            <a:spLocks noGrp="1"/>
          </p:cNvSpPr>
          <p:nvPr>
            <p:ph type="sldNum" idx="5"/>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71AC5B4F-E492-4245-9992-ABA567EDAB9D}"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sldNum" idx="6"/>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369C4BA3-FF39-4860-ABDA-38D2F302DF91}"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11760" y="2151000"/>
            <a:ext cx="8519760" cy="840960"/>
          </a:xfrm>
          <a:prstGeom prst="rect">
            <a:avLst/>
          </a:prstGeom>
          <a:noFill/>
          <a:ln w="0">
            <a:noFill/>
          </a:ln>
        </p:spPr>
        <p:txBody>
          <a:bodyPr lIns="91440" tIns="91440" rIns="91440" bIns="91440" anchor="ctr">
            <a:normAutofit/>
          </a:bodyPr>
          <a:lstStyle>
            <a:lvl1pPr indent="0" algn="l">
              <a:lnSpc>
                <a:spcPct val="100000"/>
              </a:lnSpc>
              <a:buNone/>
              <a:tabLst>
                <a:tab pos="0" algn="l"/>
              </a:tabLst>
              <a:defRPr lang="en-GB" sz="3600" b="0" u="none" strike="noStrike">
                <a:solidFill>
                  <a:srgbClr val="000000"/>
                </a:solidFill>
                <a:effectLst/>
                <a:uFillTx/>
                <a:latin typeface="Arial"/>
              </a:defRPr>
            </a:lvl1pPr>
          </a:lstStyle>
          <a:p>
            <a:pPr indent="0" algn="l">
              <a:lnSpc>
                <a:spcPct val="100000"/>
              </a:lnSpc>
              <a:buNone/>
              <a:tabLst>
                <a:tab pos="0" algn="l"/>
              </a:tabLst>
            </a:pPr>
            <a:r>
              <a:rPr lang="en-GB" sz="3600" b="0" u="none" strike="noStrike">
                <a:solidFill>
                  <a:srgbClr val="000000"/>
                </a:solidFill>
                <a:effectLst/>
                <a:uFillTx/>
                <a:latin typeface="Arial"/>
              </a:rPr>
              <a:t>Click to edit the title text format</a:t>
            </a:r>
            <a:endParaRPr lang="en-GB" sz="3600" b="0" u="none" strike="noStrike">
              <a:solidFill>
                <a:srgbClr val="000000"/>
              </a:solidFill>
              <a:effectLst/>
              <a:uFillTx/>
              <a:latin typeface="Arial"/>
            </a:endParaRPr>
          </a:p>
        </p:txBody>
      </p:sp>
      <p:sp>
        <p:nvSpPr>
          <p:cNvPr id="18" name="PlaceHolder 2"/>
          <p:cNvSpPr>
            <a:spLocks noGrp="1"/>
          </p:cNvSpPr>
          <p:nvPr>
            <p:ph type="sldNum" idx="7"/>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82A9F15B-E2BD-49BC-9C8A-52EB80238803}"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11760" y="444960"/>
            <a:ext cx="8519760" cy="572040"/>
          </a:xfrm>
          <a:prstGeom prst="rect">
            <a:avLst/>
          </a:prstGeom>
          <a:noFill/>
          <a:ln w="0">
            <a:noFill/>
          </a:ln>
        </p:spPr>
        <p:txBody>
          <a:bodyPr lIns="91440" tIns="91440" rIns="91440" bIns="91440" anchor="t">
            <a:normAutofit lnSpcReduction="9999"/>
          </a:bodyPr>
          <a:lstStyle>
            <a:lvl1pPr indent="0" algn="l">
              <a:lnSpc>
                <a:spcPct val="100000"/>
              </a:lnSpc>
              <a:buNone/>
              <a:tabLst>
                <a:tab pos="0" algn="l"/>
              </a:tabLst>
              <a:defRPr lang="en-GB" sz="2800" b="0" u="none" strike="noStrike">
                <a:solidFill>
                  <a:srgbClr val="000000"/>
                </a:solidFill>
                <a:effectLst/>
                <a:uFillTx/>
                <a:latin typeface="Arial"/>
              </a:defRPr>
            </a:lvl1pPr>
          </a:lstStyle>
          <a:p>
            <a:pPr indent="0" algn="l">
              <a:lnSpc>
                <a:spcPct val="100000"/>
              </a:lnSpc>
              <a:buNone/>
              <a:tabLst>
                <a:tab pos="0" algn="l"/>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20" name="PlaceHolder 2"/>
          <p:cNvSpPr>
            <a:spLocks noGrp="1"/>
          </p:cNvSpPr>
          <p:nvPr>
            <p:ph type="body"/>
          </p:nvPr>
        </p:nvSpPr>
        <p:spPr>
          <a:xfrm>
            <a:off x="311760" y="1152360"/>
            <a:ext cx="8519760" cy="3415680"/>
          </a:xfrm>
          <a:prstGeom prst="rect">
            <a:avLst/>
          </a:prstGeom>
          <a:noFill/>
          <a:ln w="0">
            <a:noFill/>
          </a:ln>
        </p:spPr>
        <p:txBody>
          <a:bodyPr lIns="91440" tIns="91440" rIns="91440" bIns="91440" anchor="t">
            <a:normAutofit/>
          </a:bodyPr>
          <a:lstStyle>
            <a:lvl1pPr algn="l">
              <a:lnSpc>
                <a:spcPct val="100000"/>
              </a:lnSpc>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21" name="PlaceHolder 3"/>
          <p:cNvSpPr>
            <a:spLocks noGrp="1"/>
          </p:cNvSpPr>
          <p:nvPr>
            <p:ph type="sldNum" idx="8"/>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D1EAC698-16FD-4B3A-ADA9-EACD9801229F}"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444960"/>
            <a:ext cx="8519760" cy="572040"/>
          </a:xfrm>
          <a:prstGeom prst="rect">
            <a:avLst/>
          </a:prstGeom>
          <a:noFill/>
          <a:ln w="0">
            <a:noFill/>
          </a:ln>
        </p:spPr>
        <p:txBody>
          <a:bodyPr lIns="91440" tIns="91440" rIns="91440" bIns="91440" anchor="t">
            <a:normAutofit lnSpcReduction="9999"/>
          </a:bodyPr>
          <a:lstStyle>
            <a:lvl1pPr indent="0" algn="l">
              <a:lnSpc>
                <a:spcPct val="100000"/>
              </a:lnSpc>
              <a:buNone/>
              <a:tabLst>
                <a:tab pos="0" algn="l"/>
              </a:tabLst>
              <a:defRPr lang="en-GB" sz="2800" b="0" u="none" strike="noStrike">
                <a:solidFill>
                  <a:srgbClr val="000000"/>
                </a:solidFill>
                <a:effectLst/>
                <a:uFillTx/>
                <a:latin typeface="Arial"/>
              </a:defRPr>
            </a:lvl1pPr>
          </a:lstStyle>
          <a:p>
            <a:pPr indent="0" algn="l">
              <a:lnSpc>
                <a:spcPct val="100000"/>
              </a:lnSpc>
              <a:buNone/>
              <a:tabLst>
                <a:tab pos="0" algn="l"/>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23" name="PlaceHolder 2"/>
          <p:cNvSpPr>
            <a:spLocks noGrp="1"/>
          </p:cNvSpPr>
          <p:nvPr>
            <p:ph type="body"/>
          </p:nvPr>
        </p:nvSpPr>
        <p:spPr>
          <a:xfrm>
            <a:off x="311760" y="1152360"/>
            <a:ext cx="3999240" cy="3415680"/>
          </a:xfrm>
          <a:prstGeom prst="rect">
            <a:avLst/>
          </a:prstGeom>
          <a:noFill/>
          <a:ln w="0">
            <a:noFill/>
          </a:ln>
        </p:spPr>
        <p:txBody>
          <a:bodyPr lIns="91440" tIns="91440" rIns="91440" bIns="91440" anchor="t">
            <a:normAutofit/>
          </a:bodyPr>
          <a:lstStyle>
            <a:lvl1pPr algn="l">
              <a:lnSpc>
                <a:spcPct val="100000"/>
              </a:lnSpc>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7pPr>
          </a:lstStyle>
          <a:p>
            <a:pPr marL="457200" indent="-317520" algn="l">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914400" lvl="1" indent="-304920" algn="l">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371600" lvl="2" indent="-304920" algn="l">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828800" lvl="3" indent="-304920" algn="l">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286000" lvl="4"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743200" lvl="5"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200400" lvl="6"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24" name="PlaceHolder 3"/>
          <p:cNvSpPr>
            <a:spLocks noGrp="1"/>
          </p:cNvSpPr>
          <p:nvPr>
            <p:ph type="body"/>
          </p:nvPr>
        </p:nvSpPr>
        <p:spPr>
          <a:xfrm>
            <a:off x="4832280" y="1152360"/>
            <a:ext cx="3999240" cy="3415680"/>
          </a:xfrm>
          <a:prstGeom prst="rect">
            <a:avLst/>
          </a:prstGeom>
          <a:noFill/>
          <a:ln w="0">
            <a:noFill/>
          </a:ln>
        </p:spPr>
        <p:txBody>
          <a:bodyPr lIns="91440" tIns="91440" rIns="91440" bIns="91440" anchor="t">
            <a:normAutofit/>
          </a:bodyPr>
          <a:lstStyle>
            <a:lvl1pPr algn="l">
              <a:lnSpc>
                <a:spcPct val="100000"/>
              </a:lnSpc>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400" b="0" u="none" strike="noStrike">
                <a:solidFill>
                  <a:srgbClr val="000000"/>
                </a:solidFill>
                <a:effectLst/>
                <a:uFillTx/>
                <a:latin typeface="Arial"/>
              </a:defRPr>
            </a:lvl7pPr>
          </a:lstStyle>
          <a:p>
            <a:pPr marL="457200" indent="-317520" algn="l">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914400" lvl="1" indent="-304920" algn="l">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371600" lvl="2" indent="-304920" algn="l">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828800" lvl="3" indent="-304920" algn="l">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286000" lvl="4"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743200" lvl="5"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200400" lvl="6" indent="-304920" algn="l">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25" name="PlaceHolder 4"/>
          <p:cNvSpPr>
            <a:spLocks noGrp="1"/>
          </p:cNvSpPr>
          <p:nvPr>
            <p:ph type="sldNum" idx="9"/>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EFF66351-E1E6-4A7A-975F-FC27A2958F70}"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444960"/>
            <a:ext cx="8519760" cy="572040"/>
          </a:xfrm>
          <a:prstGeom prst="rect">
            <a:avLst/>
          </a:prstGeom>
          <a:noFill/>
          <a:ln w="0">
            <a:noFill/>
          </a:ln>
        </p:spPr>
        <p:txBody>
          <a:bodyPr lIns="91440" tIns="91440" rIns="91440" bIns="91440" anchor="t">
            <a:normAutofit lnSpcReduction="9999"/>
          </a:bodyPr>
          <a:lstStyle>
            <a:lvl1pPr indent="0" algn="l">
              <a:lnSpc>
                <a:spcPct val="100000"/>
              </a:lnSpc>
              <a:buNone/>
              <a:tabLst>
                <a:tab pos="0" algn="l"/>
              </a:tabLst>
              <a:defRPr lang="en-GB" sz="2800" b="0" u="none" strike="noStrike">
                <a:solidFill>
                  <a:srgbClr val="000000"/>
                </a:solidFill>
                <a:effectLst/>
                <a:uFillTx/>
                <a:latin typeface="Arial"/>
              </a:defRPr>
            </a:lvl1pPr>
          </a:lstStyle>
          <a:p>
            <a:pPr indent="0" algn="l">
              <a:lnSpc>
                <a:spcPct val="100000"/>
              </a:lnSpc>
              <a:buNone/>
              <a:tabLst>
                <a:tab pos="0" algn="l"/>
              </a:tabLst>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27" name="PlaceHolder 2"/>
          <p:cNvSpPr>
            <a:spLocks noGrp="1"/>
          </p:cNvSpPr>
          <p:nvPr>
            <p:ph type="sldNum" idx="10"/>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289DFB49-84DE-4AB3-A839-61FEE8314319}"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311760" y="555480"/>
            <a:ext cx="2807280" cy="754920"/>
          </a:xfrm>
          <a:prstGeom prst="rect">
            <a:avLst/>
          </a:prstGeom>
          <a:noFill/>
          <a:ln w="0">
            <a:noFill/>
          </a:ln>
        </p:spPr>
        <p:txBody>
          <a:bodyPr lIns="91440" tIns="91440" rIns="91440" bIns="91440" anchor="b">
            <a:normAutofit fontScale="85000" lnSpcReduction="9999"/>
          </a:bodyPr>
          <a:lstStyle>
            <a:lvl1pPr indent="0" algn="l">
              <a:lnSpc>
                <a:spcPct val="100000"/>
              </a:lnSpc>
              <a:buNone/>
              <a:tabLst>
                <a:tab pos="0" algn="l"/>
              </a:tabLst>
              <a:defRPr lang="en-GB" sz="2400" b="0" u="none" strike="noStrike">
                <a:solidFill>
                  <a:srgbClr val="000000"/>
                </a:solidFill>
                <a:effectLst/>
                <a:uFillTx/>
                <a:latin typeface="Arial"/>
              </a:defRPr>
            </a:lvl1pPr>
          </a:lstStyle>
          <a:p>
            <a:pPr indent="0" algn="l">
              <a:lnSpc>
                <a:spcPct val="100000"/>
              </a:lnSpc>
              <a:buNone/>
              <a:tabLst>
                <a:tab pos="0" algn="l"/>
              </a:tabLst>
            </a:pPr>
            <a:r>
              <a:rPr lang="en-GB" sz="2400" b="0" u="none" strike="noStrike">
                <a:solidFill>
                  <a:srgbClr val="000000"/>
                </a:solidFill>
                <a:effectLst/>
                <a:uFillTx/>
                <a:latin typeface="Arial"/>
              </a:rPr>
              <a:t>Click to edit the title text format</a:t>
            </a:r>
            <a:endParaRPr lang="en-GB" sz="2400" b="0" u="none" strike="noStrike">
              <a:solidFill>
                <a:srgbClr val="000000"/>
              </a:solidFill>
              <a:effectLst/>
              <a:uFillTx/>
              <a:latin typeface="Arial"/>
            </a:endParaRPr>
          </a:p>
        </p:txBody>
      </p:sp>
      <p:sp>
        <p:nvSpPr>
          <p:cNvPr id="29" name="PlaceHolder 2"/>
          <p:cNvSpPr>
            <a:spLocks noGrp="1"/>
          </p:cNvSpPr>
          <p:nvPr>
            <p:ph type="body"/>
          </p:nvPr>
        </p:nvSpPr>
        <p:spPr>
          <a:xfrm>
            <a:off x="311760" y="1389600"/>
            <a:ext cx="2807280" cy="3178800"/>
          </a:xfrm>
          <a:prstGeom prst="rect">
            <a:avLst/>
          </a:prstGeom>
          <a:noFill/>
          <a:ln w="0">
            <a:noFill/>
          </a:ln>
        </p:spPr>
        <p:txBody>
          <a:bodyPr lIns="91440" tIns="91440" rIns="91440" bIns="91440" anchor="t">
            <a:normAutofit fontScale="32500" lnSpcReduction="19999"/>
          </a:bodyPr>
          <a:lstStyle>
            <a:lvl1pPr algn="l">
              <a:lnSpc>
                <a:spcPct val="100000"/>
              </a:lnSpc>
              <a:spcBef>
                <a:spcPts val="1417"/>
              </a:spcBef>
              <a:buClr>
                <a:srgbClr val="000000"/>
              </a:buClr>
              <a:buSzPct val="45000"/>
              <a:buFont typeface="Wingdings" charset="2"/>
              <a:buChar char=""/>
              <a:defRPr lang="en-GB" sz="1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GB" sz="1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GB" sz="1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GB" sz="1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GB" sz="1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GB" sz="1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GB" sz="1200" b="0" u="none" strike="noStrike">
                <a:solidFill>
                  <a:srgbClr val="000000"/>
                </a:solidFill>
                <a:effectLst/>
                <a:uFillTx/>
                <a:latin typeface="Arial"/>
              </a:defRPr>
            </a:lvl7pPr>
          </a:lstStyle>
          <a:p>
            <a:pPr marL="457200" indent="-304920" algn="l">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endParaRPr lang="en-GB" sz="1200" b="0" u="none" strike="noStrike">
              <a:solidFill>
                <a:srgbClr val="000000"/>
              </a:solidFill>
              <a:effectLst/>
              <a:uFillTx/>
              <a:latin typeface="Arial"/>
            </a:endParaRPr>
          </a:p>
          <a:p>
            <a:pPr marL="914400" lvl="1" indent="-304920" algn="l">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endParaRPr lang="en-GB" sz="1200" b="0" u="none" strike="noStrike">
              <a:solidFill>
                <a:srgbClr val="000000"/>
              </a:solidFill>
              <a:effectLst/>
              <a:uFillTx/>
              <a:latin typeface="Arial"/>
            </a:endParaRPr>
          </a:p>
          <a:p>
            <a:pPr marL="1371600" lvl="2" indent="-304920" algn="l">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endParaRPr lang="en-GB" sz="1200" b="0" u="none" strike="noStrike">
              <a:solidFill>
                <a:srgbClr val="000000"/>
              </a:solidFill>
              <a:effectLst/>
              <a:uFillTx/>
              <a:latin typeface="Arial"/>
            </a:endParaRPr>
          </a:p>
          <a:p>
            <a:pPr marL="1828800" lvl="3" indent="-304920" algn="l">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endParaRPr lang="en-GB" sz="1200" b="0" u="none" strike="noStrike">
              <a:solidFill>
                <a:srgbClr val="000000"/>
              </a:solidFill>
              <a:effectLst/>
              <a:uFillTx/>
              <a:latin typeface="Arial"/>
            </a:endParaRPr>
          </a:p>
          <a:p>
            <a:pPr marL="2286000" lvl="4" indent="-304920" algn="l">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endParaRPr lang="en-GB" sz="1200" b="0" u="none" strike="noStrike">
              <a:solidFill>
                <a:srgbClr val="000000"/>
              </a:solidFill>
              <a:effectLst/>
              <a:uFillTx/>
              <a:latin typeface="Arial"/>
            </a:endParaRPr>
          </a:p>
          <a:p>
            <a:pPr marL="2743200" lvl="5" indent="-304920" algn="l">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endParaRPr lang="en-GB" sz="1200" b="0" u="none" strike="noStrike">
              <a:solidFill>
                <a:srgbClr val="000000"/>
              </a:solidFill>
              <a:effectLst/>
              <a:uFillTx/>
              <a:latin typeface="Arial"/>
            </a:endParaRPr>
          </a:p>
          <a:p>
            <a:pPr marL="3200400" lvl="6" indent="-304920" algn="l">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endParaRPr lang="en-GB" sz="1200" b="0" u="none" strike="noStrike">
              <a:solidFill>
                <a:srgbClr val="000000"/>
              </a:solidFill>
              <a:effectLst/>
              <a:uFillTx/>
              <a:latin typeface="Arial"/>
            </a:endParaRPr>
          </a:p>
        </p:txBody>
      </p:sp>
      <p:sp>
        <p:nvSpPr>
          <p:cNvPr id="30" name="PlaceHolder 3"/>
          <p:cNvSpPr>
            <a:spLocks noGrp="1"/>
          </p:cNvSpPr>
          <p:nvPr>
            <p:ph type="sldNum" idx="11"/>
          </p:nvPr>
        </p:nvSpPr>
        <p:spPr>
          <a:xfrm>
            <a:off x="8472600" y="4663080"/>
            <a:ext cx="547920" cy="39276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GB" sz="1000" b="0" u="none" strike="noStrike">
                <a:solidFill>
                  <a:schemeClr val="dk2"/>
                </a:solidFill>
                <a:effectLst/>
                <a:uFillTx/>
                <a:latin typeface="Arial"/>
                <a:ea typeface="Arial"/>
              </a:defRPr>
            </a:lvl1pPr>
          </a:lstStyle>
          <a:p>
            <a:pPr indent="0" algn="r">
              <a:lnSpc>
                <a:spcPct val="100000"/>
              </a:lnSpc>
              <a:buNone/>
              <a:tabLst>
                <a:tab pos="0" algn="l"/>
              </a:tabLst>
            </a:pPr>
            <a:fld id="{4510556E-B195-4937-8A82-785C9B7E54ED}" type="slidenum">
              <a:rPr lang="en-GB"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Google Shape;54;p13"/>
          <p:cNvSpPr/>
          <p:nvPr/>
        </p:nvSpPr>
        <p:spPr>
          <a:xfrm>
            <a:off x="146520" y="2902680"/>
            <a:ext cx="8759160" cy="2003040"/>
          </a:xfrm>
          <a:prstGeom prst="rect">
            <a:avLst/>
          </a:prstGeom>
          <a:noFill/>
          <a:ln w="0">
            <a:noFill/>
          </a:ln>
        </p:spPr>
        <p:style>
          <a:lnRef idx="0"/>
          <a:fillRef idx="0"/>
          <a:effectRef idx="0"/>
          <a:fontRef idx="minor"/>
        </p:style>
        <p:txBody>
          <a:bodyPr lIns="90000" tIns="91440" rIns="90000" bIns="91440" anchor="t">
            <a:noAutofit/>
          </a:bodyPr>
          <a:p>
            <a:pPr>
              <a:lnSpc>
                <a:spcPct val="100000"/>
              </a:lnSpc>
              <a:spcAft>
                <a:spcPts val="799"/>
              </a:spcAft>
            </a:pPr>
            <a:r>
              <a:rPr lang="en-GB" sz="2200" b="1" u="none" strike="noStrike">
                <a:solidFill>
                  <a:srgbClr val="0F172A"/>
                </a:solidFill>
                <a:effectLst/>
                <a:uFillTx/>
                <a:latin typeface="Google Sans Flex SemiBold"/>
              </a:rPr>
              <a:t>Team Details</a:t>
            </a:r>
            <a:endParaRPr lang="en-GB" sz="2200" b="0" u="none" strike="noStrike">
              <a:solidFill>
                <a:srgbClr val="000000"/>
              </a:solidFill>
              <a:effectLst/>
              <a:uFillTx/>
              <a:latin typeface="Arial"/>
            </a:endParaRPr>
          </a:p>
          <a:p>
            <a:pPr>
              <a:lnSpc>
                <a:spcPct val="100000"/>
              </a:lnSpc>
              <a:spcAft>
                <a:spcPts val="400"/>
              </a:spcAft>
            </a:pPr>
            <a:r>
              <a:rPr lang="en-GB" sz="1500" b="1" u="none" strike="noStrike">
                <a:solidFill>
                  <a:srgbClr val="0F172A"/>
                </a:solidFill>
                <a:effectLst/>
                <a:uFillTx/>
                <a:latin typeface="Google Sans Flex SemiBold"/>
              </a:rPr>
              <a:t>Team name: </a:t>
            </a:r>
            <a:r>
              <a:rPr lang="en-GB" sz="1500" b="1" u="none" strike="noStrike">
                <a:solidFill>
                  <a:srgbClr val="0F172A"/>
                </a:solidFill>
                <a:effectLst/>
                <a:highlight>
                  <a:srgbClr val="FFFF00"/>
                </a:highlight>
                <a:uFillTx/>
                <a:latin typeface="Google Sans Flex SemiBold"/>
              </a:rPr>
              <a:t>Myanmar Dev</a:t>
            </a:r>
            <a:r>
              <a:rPr lang="en-GB" sz="1500" b="0" u="none" strike="noStrike">
                <a:solidFill>
                  <a:srgbClr val="4F46E5"/>
                </a:solidFill>
                <a:effectLst/>
                <a:uFillTx/>
                <a:latin typeface="Google Sans Flex"/>
              </a:rPr>
              <a:t> (JAPAC Workforce Recognition Intelligence)</a:t>
            </a:r>
            <a:endParaRPr lang="en-GB" sz="1500" b="0" u="none" strike="noStrike">
              <a:solidFill>
                <a:srgbClr val="000000"/>
              </a:solidFill>
              <a:effectLst/>
              <a:uFillTx/>
              <a:latin typeface="Arial"/>
            </a:endParaRPr>
          </a:p>
          <a:p>
            <a:pPr>
              <a:lnSpc>
                <a:spcPct val="100000"/>
              </a:lnSpc>
              <a:spcAft>
                <a:spcPts val="400"/>
              </a:spcAft>
            </a:pPr>
            <a:r>
              <a:rPr lang="en-GB" sz="1500" b="1" u="none" strike="noStrike">
                <a:solidFill>
                  <a:srgbClr val="0F172A"/>
                </a:solidFill>
                <a:effectLst/>
                <a:uFillTx/>
                <a:latin typeface="Google Sans Flex SemiBold"/>
              </a:rPr>
              <a:t>Team leader name: </a:t>
            </a:r>
            <a:r>
              <a:rPr lang="en-GB" sz="1400" b="0" u="none" strike="noStrike">
                <a:solidFill>
                  <a:srgbClr val="1E293B"/>
                </a:solidFill>
                <a:effectLst/>
                <a:uFillTx/>
                <a:latin typeface="Google Sans Flex"/>
              </a:rPr>
              <a:t>Htet Aung Hlaing (@vibecode-ting) — Lead Architect &amp; Full-Stack Developer</a:t>
            </a:r>
            <a:endParaRPr lang="en-GB" sz="1400" b="0" u="none" strike="noStrike">
              <a:solidFill>
                <a:srgbClr val="000000"/>
              </a:solidFill>
              <a:effectLst/>
              <a:uFillTx/>
              <a:latin typeface="Arial"/>
            </a:endParaRPr>
          </a:p>
          <a:p>
            <a:pPr>
              <a:lnSpc>
                <a:spcPct val="100000"/>
              </a:lnSpc>
              <a:spcAft>
                <a:spcPts val="601"/>
              </a:spcAft>
            </a:pPr>
            <a:r>
              <a:rPr lang="en-GB" sz="1400" b="1" u="none" strike="noStrike">
                <a:solidFill>
                  <a:srgbClr val="0F172A"/>
                </a:solidFill>
                <a:effectLst/>
                <a:uFillTx/>
                <a:latin typeface="Google Sans Flex SemiBold"/>
              </a:rPr>
              <a:t>Team members: </a:t>
            </a:r>
            <a:r>
              <a:rPr lang="en-GB" sz="1350" b="0" u="none" strike="noStrike">
                <a:solidFill>
                  <a:srgbClr val="64748B"/>
                </a:solidFill>
                <a:effectLst/>
                <a:uFillTx/>
                <a:latin typeface="Google Sans Flex"/>
              </a:rPr>
              <a:t>Myo Set Paing (UI/UX), Ko Htun (DevOps), Google Gemini (AI Co-Author)</a:t>
            </a:r>
            <a:endParaRPr lang="en-GB" sz="1350" b="0" u="none" strike="noStrike">
              <a:solidFill>
                <a:srgbClr val="000000"/>
              </a:solidFill>
              <a:effectLst/>
              <a:uFillTx/>
              <a:latin typeface="Arial"/>
            </a:endParaRPr>
          </a:p>
          <a:p>
            <a:pPr>
              <a:lnSpc>
                <a:spcPct val="100000"/>
              </a:lnSpc>
            </a:pPr>
            <a:r>
              <a:rPr lang="en-GB" sz="1400" b="1" u="none" strike="noStrike">
                <a:solidFill>
                  <a:srgbClr val="0F172A"/>
                </a:solidFill>
                <a:effectLst/>
                <a:uFillTx/>
                <a:latin typeface="Google Sans Flex SemiBold"/>
              </a:rPr>
              <a:t>Problem Statement: </a:t>
            </a:r>
            <a:r>
              <a:rPr lang="en-GB" sz="1250" b="0" u="none" strike="noStrike">
                <a:solidFill>
                  <a:srgbClr val="1E293B"/>
                </a:solidFill>
                <a:effectLst/>
                <a:uFillTx/>
                <a:latin typeface="Google Sans Flex"/>
              </a:rPr>
              <a:t>Hybrid and distributed organizations across JAPAC face severe recognition fragmentation: critical employee milestones (birthdays, work jubilees) are siloed in manual spreadsheets, standard SaaS tools lack native localized greetings across diverse Asian cultures, and HR administrative friction leads to delayed or forgotten celebrations and reduced workforce engagement.</a:t>
            </a:r>
            <a:endParaRPr lang="en-GB" sz="1250" b="0" u="none" strike="noStrike">
              <a:solidFill>
                <a:srgbClr val="000000"/>
              </a:solidFill>
              <a:effectLst/>
              <a:uFillTx/>
              <a:latin typeface="Arial"/>
            </a:endParaRPr>
          </a:p>
        </p:txBody>
      </p:sp>
      <p:pic>
        <p:nvPicPr>
          <p:cNvPr id="32" name="Google Shape;55;p13"/>
          <p:cNvPicPr/>
          <p:nvPr/>
        </p:nvPicPr>
        <p:blipFill>
          <a:blip r:embed="rId1"/>
          <a:stretch/>
        </p:blipFill>
        <p:spPr>
          <a:xfrm>
            <a:off x="0" y="0"/>
            <a:ext cx="9143280" cy="2714760"/>
          </a:xfrm>
          <a:prstGeom prst="rect">
            <a:avLst/>
          </a:prstGeom>
          <a:noFill/>
          <a:ln w="0">
            <a:noFill/>
          </a:ln>
        </p:spPr>
      </p:pic>
      <p:pic>
        <p:nvPicPr>
          <p:cNvPr id="33" name="Google Shape;56;p13"/>
          <p:cNvPicPr/>
          <p:nvPr/>
        </p:nvPicPr>
        <p:blipFill>
          <a:blip r:embed="rId2"/>
          <a:srcRect l="0" t="0" r="0" b="97970"/>
          <a:stretch/>
        </p:blipFill>
        <p:spPr>
          <a:xfrm>
            <a:off x="0" y="5093640"/>
            <a:ext cx="9143280" cy="536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Google Shape;69;p15"/>
          <p:cNvPicPr/>
          <p:nvPr/>
        </p:nvPicPr>
        <p:blipFill>
          <a:blip r:embed="rId1"/>
          <a:stretch/>
        </p:blipFill>
        <p:spPr>
          <a:xfrm>
            <a:off x="0" y="0"/>
            <a:ext cx="9143280" cy="506520"/>
          </a:xfrm>
          <a:prstGeom prst="rect">
            <a:avLst/>
          </a:prstGeom>
          <a:noFill/>
          <a:ln w="0">
            <a:noFill/>
          </a:ln>
        </p:spPr>
      </p:pic>
      <p:sp>
        <p:nvSpPr>
          <p:cNvPr id="35" name="Google Shape;70;p15"/>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36" name="Google Shape;71;p15"/>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Brief about the idea</a:t>
            </a:r>
            <a:endParaRPr lang="en-GB" sz="1600" b="0" u="none" strike="noStrike">
              <a:solidFill>
                <a:srgbClr val="000000"/>
              </a:solidFill>
              <a:effectLst/>
              <a:uFillTx/>
              <a:latin typeface="Arial"/>
            </a:endParaRPr>
          </a:p>
        </p:txBody>
      </p:sp>
      <p:sp>
        <p:nvSpPr>
          <p:cNvPr id="37" name="Rounded Rectangle 36"/>
          <p:cNvSpPr/>
          <p:nvPr/>
        </p:nvSpPr>
        <p:spPr>
          <a:xfrm>
            <a:off x="360000" y="1299960"/>
            <a:ext cx="409968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38" name="TextBox 37"/>
          <p:cNvSpPr/>
          <p:nvPr/>
        </p:nvSpPr>
        <p:spPr>
          <a:xfrm>
            <a:off x="460080" y="1400040"/>
            <a:ext cx="3899520" cy="334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500" b="1" u="none" strike="noStrike">
                <a:solidFill>
                  <a:srgbClr val="0F172A"/>
                </a:solidFill>
                <a:effectLst/>
                <a:uFillTx/>
                <a:latin typeface="Google Sans Flex SemiBold"/>
              </a:rPr>
              <a:t>Enterprise AI Milestone &amp; Culture Platform</a:t>
            </a:r>
            <a:endParaRPr lang="en-GB" sz="1500" b="0" u="none" strike="noStrike">
              <a:solidFill>
                <a:srgbClr val="000000"/>
              </a:solidFill>
              <a:effectLst/>
              <a:uFillTx/>
              <a:latin typeface="Arial"/>
            </a:endParaRPr>
          </a:p>
          <a:p>
            <a:pPr>
              <a:lnSpc>
                <a:spcPct val="100000"/>
              </a:lnSpc>
              <a:spcAft>
                <a:spcPts val="499"/>
              </a:spcAft>
            </a:pPr>
            <a:r>
              <a:rPr lang="en-GB" sz="1150" b="1" u="none" strike="noStrike">
                <a:solidFill>
                  <a:srgbClr val="4F46E5"/>
                </a:solidFill>
                <a:effectLst/>
                <a:uFillTx/>
                <a:latin typeface="Google Sans Flex SemiBold"/>
              </a:rPr>
              <a:t>• Zero-Touch Automation: </a:t>
            </a:r>
            <a:r>
              <a:rPr lang="en-GB" sz="1100" b="0" u="none" strike="noStrike">
                <a:solidFill>
                  <a:srgbClr val="1E293B"/>
                </a:solidFill>
                <a:effectLst/>
                <a:uFillTx/>
                <a:latin typeface="Google Sans Flex"/>
              </a:rPr>
              <a:t>Serverless Cloud Functions daily cron at 09:00 AM (Asia/Rangoon) automatically evaluates workforce records for birthdays and tenure jubilees (&gt;= 1 year).</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F46E5"/>
                </a:solidFill>
                <a:effectLst/>
                <a:uFillTx/>
                <a:latin typeface="Google Sans Flex SemiBold"/>
              </a:rPr>
              <a:t>• Culture-Aware Gemini AI: </a:t>
            </a:r>
            <a:r>
              <a:rPr lang="en-GB" sz="1100" b="0" u="none" strike="noStrike">
                <a:solidFill>
                  <a:srgbClr val="1E293B"/>
                </a:solidFill>
                <a:effectLst/>
                <a:uFillTx/>
                <a:latin typeface="Google Sans Flex"/>
              </a:rPr>
              <a:t>Google Gemini (gemini-2.5-flash) synthesizes authentic, culturally attuned celebratory greetings tailored to each employee's language and tenure.</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F46E5"/>
                </a:solidFill>
                <a:effectLst/>
                <a:uFillTx/>
                <a:latin typeface="Google Sans Flex SemiBold"/>
              </a:rPr>
              <a:t>• Omnichannel Delivery Hub: </a:t>
            </a:r>
            <a:r>
              <a:rPr lang="en-GB" sz="1100" b="0" u="none" strike="noStrike">
                <a:solidFill>
                  <a:srgbClr val="1E293B"/>
                </a:solidFill>
                <a:effectLst/>
                <a:uFillTx/>
                <a:latin typeface="Google Sans Flex"/>
              </a:rPr>
              <a:t>Zero-touch multi-channel dispatch via SMTP Email, Microsoft Teams Adaptive Cards, and Telegram Bots.</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F46E5"/>
                </a:solidFill>
                <a:effectLst/>
                <a:uFillTx/>
                <a:latin typeface="Google Sans Flex SemiBold"/>
              </a:rPr>
              <a:t>• 3D Interactive Network: </a:t>
            </a:r>
            <a:r>
              <a:rPr lang="en-GB" sz="1100" b="0" u="none" strike="noStrike">
                <a:solidFill>
                  <a:srgbClr val="1E293B"/>
                </a:solidFill>
                <a:effectLst/>
                <a:uFillTx/>
                <a:latin typeface="Google Sans Flex"/>
              </a:rPr>
              <a:t>Real-time Three.js WebGL globe mapping 34 JAPAC territory nodes with Great-Circle flight arcs connecting regional offices to the Singapore hub.</a:t>
            </a:r>
            <a:endParaRPr lang="en-GB" sz="1100" b="0" u="none" strike="noStrike">
              <a:solidFill>
                <a:srgbClr val="000000"/>
              </a:solidFill>
              <a:effectLst/>
              <a:uFillTx/>
              <a:latin typeface="Arial"/>
            </a:endParaRPr>
          </a:p>
        </p:txBody>
      </p:sp>
      <p:sp>
        <p:nvSpPr>
          <p:cNvPr id="39" name="Rounded Rectangle 38"/>
          <p:cNvSpPr/>
          <p:nvPr/>
        </p:nvSpPr>
        <p:spPr>
          <a:xfrm>
            <a:off x="4683960" y="1299960"/>
            <a:ext cx="4099680" cy="3549600"/>
          </a:xfrm>
          <a:prstGeom prst="roundRect">
            <a:avLst>
              <a:gd name="adj" fmla="val 16667"/>
            </a:avLst>
          </a:prstGeom>
          <a:solidFill>
            <a:srgbClr val="FFFFFF"/>
          </a:solidFill>
          <a:ln w="15240">
            <a:solidFill>
              <a:srgbClr val="C7D2FE"/>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40" name="TextBox 39"/>
          <p:cNvSpPr/>
          <p:nvPr/>
        </p:nvSpPr>
        <p:spPr>
          <a:xfrm>
            <a:off x="4784040" y="1400040"/>
            <a:ext cx="3899520" cy="334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500" b="1" u="none" strike="noStrike">
                <a:solidFill>
                  <a:srgbClr val="0F172A"/>
                </a:solidFill>
                <a:effectLst/>
                <a:uFillTx/>
                <a:latin typeface="Google Sans Flex SemiBold"/>
              </a:rPr>
              <a:t>Built Specifically for Asia-Pacific Teams</a:t>
            </a:r>
            <a:endParaRPr lang="en-GB" sz="1500" b="0" u="none" strike="noStrike">
              <a:solidFill>
                <a:srgbClr val="000000"/>
              </a:solidFill>
              <a:effectLst/>
              <a:uFillTx/>
              <a:latin typeface="Arial"/>
            </a:endParaRPr>
          </a:p>
          <a:p>
            <a:pPr>
              <a:lnSpc>
                <a:spcPct val="100000"/>
              </a:lnSpc>
              <a:spcAft>
                <a:spcPts val="499"/>
              </a:spcAft>
            </a:pPr>
            <a:r>
              <a:rPr lang="en-GB" sz="1150" b="1" u="none" strike="noStrike">
                <a:solidFill>
                  <a:srgbClr val="4285F4"/>
                </a:solidFill>
                <a:effectLst/>
                <a:uFillTx/>
                <a:latin typeface="Google Sans Flex SemiBold"/>
              </a:rPr>
              <a:t>• 7 Native JAPAC Locales: </a:t>
            </a:r>
            <a:r>
              <a:rPr lang="en-GB" sz="1100" b="0" u="none" strike="noStrike">
                <a:solidFill>
                  <a:srgbClr val="1E293B"/>
                </a:solidFill>
                <a:effectLst/>
                <a:uFillTx/>
                <a:latin typeface="Google Sans Flex"/>
              </a:rPr>
              <a:t>100% translation parity across English, Burmese, Vietnamese, Traditional Chinese, Cantonese, Korean, and Japanese with script-safe typography.</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285F4"/>
                </a:solidFill>
                <a:effectLst/>
                <a:uFillTx/>
                <a:latin typeface="Google Sans Flex SemiBold"/>
              </a:rPr>
              <a:t>• Client-Side Slip OCR: </a:t>
            </a:r>
            <a:r>
              <a:rPr lang="en-GB" sz="1100" b="0" u="none" strike="noStrike">
                <a:solidFill>
                  <a:srgbClr val="1E293B"/>
                </a:solidFill>
                <a:effectLst/>
                <a:uFillTx/>
                <a:latin typeface="Google Sans Flex"/>
              </a:rPr>
              <a:t>On-device computer vision receipt scanner supporting regional mobile wallets (KBZ Pay, Wave Pay, AYA Pay, CB Pay) + multi-currency checkout.</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285F4"/>
                </a:solidFill>
                <a:effectLst/>
                <a:uFillTx/>
                <a:latin typeface="Google Sans Flex SemiBold"/>
              </a:rPr>
              <a:t>• Lean Performance Architecture: </a:t>
            </a:r>
            <a:r>
              <a:rPr lang="en-GB" sz="1100" b="0" u="none" strike="noStrike">
                <a:solidFill>
                  <a:srgbClr val="1E293B"/>
                </a:solidFill>
                <a:effectLst/>
                <a:uFillTx/>
                <a:latin typeface="Google Sans Flex"/>
              </a:rPr>
              <a:t>Rollup chunk splitting and route-level lazy loading reducing entry bundle from 1,820 kB to 366 kB (112 kB gzip).</a:t>
            </a:r>
            <a:endParaRPr lang="en-GB" sz="1100" b="0" u="none" strike="noStrike">
              <a:solidFill>
                <a:srgbClr val="000000"/>
              </a:solidFill>
              <a:effectLst/>
              <a:uFillTx/>
              <a:latin typeface="Arial"/>
            </a:endParaRPr>
          </a:p>
          <a:p>
            <a:pPr>
              <a:lnSpc>
                <a:spcPct val="100000"/>
              </a:lnSpc>
              <a:spcAft>
                <a:spcPts val="499"/>
              </a:spcAft>
            </a:pPr>
            <a:r>
              <a:rPr lang="en-GB" sz="1150" b="1" u="none" strike="noStrike">
                <a:solidFill>
                  <a:srgbClr val="4285F4"/>
                </a:solidFill>
                <a:effectLst/>
                <a:uFillTx/>
                <a:latin typeface="Google Sans Flex SemiBold"/>
              </a:rPr>
              <a:t>• 1-Click Judge Demo Mode: </a:t>
            </a:r>
            <a:r>
              <a:rPr lang="en-GB" sz="1100" b="0" u="none" strike="noStrike">
                <a:solidFill>
                  <a:srgbClr val="1E293B"/>
                </a:solidFill>
                <a:effectLst/>
                <a:uFillTx/>
                <a:latin typeface="Google Sans Flex"/>
              </a:rPr>
              <a:t>Instant evaluation mode with local storage persistence and mock telemetry requiring zero cloud credential setup.</a:t>
            </a:r>
            <a:endParaRPr lang="en-GB"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Google Shape;76;p16"/>
          <p:cNvPicPr/>
          <p:nvPr/>
        </p:nvPicPr>
        <p:blipFill>
          <a:blip r:embed="rId1"/>
          <a:srcRect l="0" t="0" r="0" b="97970"/>
          <a:stretch/>
        </p:blipFill>
        <p:spPr>
          <a:xfrm>
            <a:off x="0" y="5093640"/>
            <a:ext cx="9143280" cy="53640"/>
          </a:xfrm>
          <a:prstGeom prst="rect">
            <a:avLst/>
          </a:prstGeom>
          <a:noFill/>
          <a:ln w="0">
            <a:noFill/>
          </a:ln>
        </p:spPr>
      </p:pic>
      <p:pic>
        <p:nvPicPr>
          <p:cNvPr id="42" name="Google Shape;77;p16"/>
          <p:cNvPicPr/>
          <p:nvPr/>
        </p:nvPicPr>
        <p:blipFill>
          <a:blip r:embed="rId2"/>
          <a:stretch/>
        </p:blipFill>
        <p:spPr>
          <a:xfrm>
            <a:off x="0" y="0"/>
            <a:ext cx="9143280" cy="506520"/>
          </a:xfrm>
          <a:prstGeom prst="rect">
            <a:avLst/>
          </a:prstGeom>
          <a:noFill/>
          <a:ln w="0">
            <a:noFill/>
          </a:ln>
        </p:spPr>
      </p:pic>
      <p:sp>
        <p:nvSpPr>
          <p:cNvPr id="43" name="Google Shape;78;p16"/>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44" name="Google Shape;79;p16"/>
          <p:cNvSpPr/>
          <p:nvPr/>
        </p:nvSpPr>
        <p:spPr>
          <a:xfrm>
            <a:off x="265320" y="663840"/>
            <a:ext cx="8942400" cy="1365480"/>
          </a:xfrm>
          <a:prstGeom prst="rect">
            <a:avLst/>
          </a:prstGeom>
          <a:noFill/>
          <a:ln w="0">
            <a:noFill/>
          </a:ln>
        </p:spPr>
        <p:style>
          <a:lnRef idx="0"/>
          <a:fillRef idx="0"/>
          <a:effectRef idx="0"/>
          <a:fontRef idx="minor"/>
        </p:style>
        <p:txBody>
          <a:bodyPr lIns="90000" tIns="91440" rIns="90000" bIns="91440" anchor="t">
            <a:noAutofit/>
          </a:bodyPr>
          <a:p>
            <a:pPr>
              <a:lnSpc>
                <a:spcPct val="100000"/>
              </a:lnSpc>
              <a:spcAft>
                <a:spcPts val="400"/>
              </a:spcAft>
            </a:pPr>
            <a:r>
              <a:rPr lang="en-GB" sz="1800" b="1" u="none" strike="noStrike">
                <a:solidFill>
                  <a:srgbClr val="0F172A"/>
                </a:solidFill>
                <a:effectLst/>
                <a:uFillTx/>
                <a:latin typeface="Google Sans Flex SemiBold"/>
              </a:rPr>
              <a:t>Opportunities &amp; Market Differentiation</a:t>
            </a:r>
            <a:endParaRPr lang="en-GB" sz="1800" b="0" u="none" strike="noStrike">
              <a:solidFill>
                <a:srgbClr val="000000"/>
              </a:solidFill>
              <a:effectLst/>
              <a:uFillTx/>
              <a:latin typeface="Arial"/>
            </a:endParaRPr>
          </a:p>
        </p:txBody>
      </p:sp>
      <p:sp>
        <p:nvSpPr>
          <p:cNvPr id="45" name="Rounded Rectangle 40"/>
          <p:cNvSpPr/>
          <p:nvPr/>
        </p:nvSpPr>
        <p:spPr>
          <a:xfrm>
            <a:off x="360000" y="1299960"/>
            <a:ext cx="267948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46" name="Rounded Rectangle 41"/>
          <p:cNvSpPr/>
          <p:nvPr/>
        </p:nvSpPr>
        <p:spPr>
          <a:xfrm>
            <a:off x="439920" y="1379880"/>
            <a:ext cx="2519640" cy="419760"/>
          </a:xfrm>
          <a:prstGeom prst="roundRect">
            <a:avLst>
              <a:gd name="adj" fmla="val 16667"/>
            </a:avLst>
          </a:prstGeom>
          <a:solidFill>
            <a:srgbClr val="4F46E5"/>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47" name="TextBox 42"/>
          <p:cNvSpPr/>
          <p:nvPr/>
        </p:nvSpPr>
        <p:spPr>
          <a:xfrm>
            <a:off x="460080" y="1400040"/>
            <a:ext cx="2479680" cy="37980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pPr>
            <a:r>
              <a:rPr lang="en-GB" sz="1200" b="1" u="none" strike="noStrike">
                <a:solidFill>
                  <a:srgbClr val="FFFFFF"/>
                </a:solidFill>
                <a:effectLst/>
                <a:uFillTx/>
                <a:latin typeface="Google Sans Flex SemiBold"/>
              </a:rPr>
              <a:t>How Different from Existing Ideas?</a:t>
            </a:r>
            <a:endParaRPr lang="en-GB" sz="1200" b="0" u="none" strike="noStrike">
              <a:solidFill>
                <a:srgbClr val="000000"/>
              </a:solidFill>
              <a:effectLst/>
              <a:uFillTx/>
              <a:latin typeface="Arial"/>
            </a:endParaRPr>
          </a:p>
        </p:txBody>
      </p:sp>
      <p:sp>
        <p:nvSpPr>
          <p:cNvPr id="48" name="TextBox 43"/>
          <p:cNvSpPr/>
          <p:nvPr/>
        </p:nvSpPr>
        <p:spPr>
          <a:xfrm>
            <a:off x="479880" y="1860120"/>
            <a:ext cx="2439720" cy="290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100" b="1" u="none" strike="noStrike">
                <a:solidFill>
                  <a:srgbClr val="4F46E5"/>
                </a:solidFill>
                <a:effectLst/>
                <a:uFillTx/>
                <a:latin typeface="Google Sans Flex SemiBold"/>
              </a:rPr>
              <a:t>✔ Legacy HR Limitation: </a:t>
            </a:r>
            <a:r>
              <a:rPr lang="en-GB" sz="1050" b="0" u="none" strike="noStrike">
                <a:solidFill>
                  <a:srgbClr val="1E293B"/>
                </a:solidFill>
                <a:effectLst/>
                <a:uFillTx/>
                <a:latin typeface="Google Sans Flex"/>
              </a:rPr>
              <a:t>Workday, Lattice, and BambooHR enforce US/EU corporate workflows with rigid English-only templates and weeks of onboarding.</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4F46E5"/>
                </a:solidFill>
                <a:effectLst/>
                <a:uFillTx/>
                <a:latin typeface="Google Sans Flex SemiBold"/>
              </a:rPr>
              <a:t>✔ Regional Native Parity: </a:t>
            </a:r>
            <a:r>
              <a:rPr lang="en-GB" sz="1050" b="0" u="none" strike="noStrike">
                <a:solidFill>
                  <a:srgbClr val="1E293B"/>
                </a:solidFill>
                <a:effectLst/>
                <a:uFillTx/>
                <a:latin typeface="Google Sans Flex"/>
              </a:rPr>
              <a:t>Milestone is engineered ground-up for JAPAC with 7 native regional languages and cultural celebration etiquette.</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4F46E5"/>
                </a:solidFill>
                <a:effectLst/>
                <a:uFillTx/>
                <a:latin typeface="Google Sans Flex SemiBold"/>
              </a:rPr>
              <a:t>✔ Zero-Config Ingestion: </a:t>
            </a:r>
            <a:r>
              <a:rPr lang="en-GB" sz="1050" b="0" u="none" strike="noStrike">
                <a:solidFill>
                  <a:srgbClr val="1E293B"/>
                </a:solidFill>
                <a:effectLst/>
                <a:uFillTx/>
                <a:latin typeface="Google Sans Flex"/>
              </a:rPr>
              <a:t>Instant SheetJS Excel/CSV parsing with automated column detection and Metabase-style external database connectors.</a:t>
            </a:r>
            <a:endParaRPr lang="en-GB" sz="1050" b="0" u="none" strike="noStrike">
              <a:solidFill>
                <a:srgbClr val="000000"/>
              </a:solidFill>
              <a:effectLst/>
              <a:uFillTx/>
              <a:latin typeface="Arial"/>
            </a:endParaRPr>
          </a:p>
        </p:txBody>
      </p:sp>
      <p:sp>
        <p:nvSpPr>
          <p:cNvPr id="49" name="Rounded Rectangle 44"/>
          <p:cNvSpPr/>
          <p:nvPr/>
        </p:nvSpPr>
        <p:spPr>
          <a:xfrm>
            <a:off x="3219840" y="1299960"/>
            <a:ext cx="267948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50" name="Rounded Rectangle 45"/>
          <p:cNvSpPr/>
          <p:nvPr/>
        </p:nvSpPr>
        <p:spPr>
          <a:xfrm>
            <a:off x="3300120" y="1379880"/>
            <a:ext cx="2519640" cy="419760"/>
          </a:xfrm>
          <a:prstGeom prst="roundRect">
            <a:avLst>
              <a:gd name="adj" fmla="val 16667"/>
            </a:avLst>
          </a:prstGeom>
          <a:solidFill>
            <a:srgbClr val="4285F4"/>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51" name="TextBox 46"/>
          <p:cNvSpPr/>
          <p:nvPr/>
        </p:nvSpPr>
        <p:spPr>
          <a:xfrm>
            <a:off x="3319920" y="1400040"/>
            <a:ext cx="2479680" cy="37980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pPr>
            <a:r>
              <a:rPr lang="en-GB" sz="1200" b="1" u="none" strike="noStrike">
                <a:solidFill>
                  <a:srgbClr val="FFFFFF"/>
                </a:solidFill>
                <a:effectLst/>
                <a:uFillTx/>
                <a:latin typeface="Google Sans Flex SemiBold"/>
              </a:rPr>
              <a:t>How Will It Solve the Problem?</a:t>
            </a:r>
            <a:endParaRPr lang="en-GB" sz="1200" b="0" u="none" strike="noStrike">
              <a:solidFill>
                <a:srgbClr val="000000"/>
              </a:solidFill>
              <a:effectLst/>
              <a:uFillTx/>
              <a:latin typeface="Arial"/>
            </a:endParaRPr>
          </a:p>
        </p:txBody>
      </p:sp>
      <p:sp>
        <p:nvSpPr>
          <p:cNvPr id="52" name="TextBox 47"/>
          <p:cNvSpPr/>
          <p:nvPr/>
        </p:nvSpPr>
        <p:spPr>
          <a:xfrm>
            <a:off x="3340080" y="1860120"/>
            <a:ext cx="2439720" cy="290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100" b="1" u="none" strike="noStrike">
                <a:solidFill>
                  <a:srgbClr val="4285F4"/>
                </a:solidFill>
                <a:effectLst/>
                <a:uFillTx/>
                <a:latin typeface="Google Sans Flex SemiBold"/>
              </a:rPr>
              <a:t>✔ 100% Zero-Touch: </a:t>
            </a:r>
            <a:r>
              <a:rPr lang="en-GB" sz="1050" b="0" u="none" strike="noStrike">
                <a:solidFill>
                  <a:srgbClr val="1E293B"/>
                </a:solidFill>
                <a:effectLst/>
                <a:uFillTx/>
                <a:latin typeface="Google Sans Flex"/>
              </a:rPr>
              <a:t>Eliminates administrative reminder friction via autonomous daily Cloud Functions cron and Gemini AI copy generation.</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4285F4"/>
                </a:solidFill>
                <a:effectLst/>
                <a:uFillTx/>
                <a:latin typeface="Google Sans Flex SemiBold"/>
              </a:rPr>
              <a:t>✔ Cultural Relevance: </a:t>
            </a:r>
            <a:r>
              <a:rPr lang="en-GB" sz="1050" b="0" u="none" strike="noStrike">
                <a:solidFill>
                  <a:srgbClr val="1E293B"/>
                </a:solidFill>
                <a:effectLst/>
                <a:uFillTx/>
                <a:latin typeface="Google Sans Flex"/>
              </a:rPr>
              <a:t>Celebration copy is customized to employee tenure, role, and local culture, eliminating awkward machine-translated greetings.</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4285F4"/>
                </a:solidFill>
                <a:effectLst/>
                <a:uFillTx/>
                <a:latin typeface="Google Sans Flex SemiBold"/>
              </a:rPr>
              <a:t>✔ Omnichannel Presence: </a:t>
            </a:r>
            <a:r>
              <a:rPr lang="en-GB" sz="1050" b="0" u="none" strike="noStrike">
                <a:solidFill>
                  <a:srgbClr val="1E293B"/>
                </a:solidFill>
                <a:effectLst/>
                <a:uFillTx/>
                <a:latin typeface="Google Sans Flex"/>
              </a:rPr>
              <a:t>Delivers greetings straight to where distributed teams collaborate (Email, MS Teams, Telegram).</a:t>
            </a:r>
            <a:endParaRPr lang="en-GB" sz="1050" b="0" u="none" strike="noStrike">
              <a:solidFill>
                <a:srgbClr val="000000"/>
              </a:solidFill>
              <a:effectLst/>
              <a:uFillTx/>
              <a:latin typeface="Arial"/>
            </a:endParaRPr>
          </a:p>
        </p:txBody>
      </p:sp>
      <p:sp>
        <p:nvSpPr>
          <p:cNvPr id="53" name="Rounded Rectangle 48"/>
          <p:cNvSpPr/>
          <p:nvPr/>
        </p:nvSpPr>
        <p:spPr>
          <a:xfrm>
            <a:off x="6080040" y="1299960"/>
            <a:ext cx="267948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54" name="Rounded Rectangle 49"/>
          <p:cNvSpPr/>
          <p:nvPr/>
        </p:nvSpPr>
        <p:spPr>
          <a:xfrm>
            <a:off x="6159960" y="1379880"/>
            <a:ext cx="2519640" cy="419760"/>
          </a:xfrm>
          <a:prstGeom prst="roundRect">
            <a:avLst>
              <a:gd name="adj" fmla="val 16667"/>
            </a:avLst>
          </a:prstGeom>
          <a:solidFill>
            <a:srgbClr val="10B98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55" name="TextBox 50"/>
          <p:cNvSpPr/>
          <p:nvPr/>
        </p:nvSpPr>
        <p:spPr>
          <a:xfrm>
            <a:off x="6180120" y="1400040"/>
            <a:ext cx="2479680" cy="37980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pPr>
            <a:r>
              <a:rPr lang="en-GB" sz="1200" b="1" u="none" strike="noStrike">
                <a:solidFill>
                  <a:srgbClr val="FFFFFF"/>
                </a:solidFill>
                <a:effectLst/>
                <a:uFillTx/>
                <a:latin typeface="Google Sans Flex SemiBold"/>
              </a:rPr>
              <a:t>Unique Selling Proposition (USP)</a:t>
            </a:r>
            <a:endParaRPr lang="en-GB" sz="1200" b="0" u="none" strike="noStrike">
              <a:solidFill>
                <a:srgbClr val="000000"/>
              </a:solidFill>
              <a:effectLst/>
              <a:uFillTx/>
              <a:latin typeface="Arial"/>
            </a:endParaRPr>
          </a:p>
        </p:txBody>
      </p:sp>
      <p:sp>
        <p:nvSpPr>
          <p:cNvPr id="56" name="TextBox 51"/>
          <p:cNvSpPr/>
          <p:nvPr/>
        </p:nvSpPr>
        <p:spPr>
          <a:xfrm>
            <a:off x="6199920" y="1860120"/>
            <a:ext cx="2439720" cy="290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100" b="1" u="none" strike="noStrike">
                <a:solidFill>
                  <a:srgbClr val="10B981"/>
                </a:solidFill>
                <a:effectLst/>
                <a:uFillTx/>
                <a:latin typeface="Google Sans Flex SemiBold"/>
              </a:rPr>
              <a:t>✔ Contextual Gemini AI: </a:t>
            </a:r>
            <a:r>
              <a:rPr lang="en-GB" sz="1050" b="0" u="none" strike="noStrike">
                <a:solidFill>
                  <a:srgbClr val="1E293B"/>
                </a:solidFill>
                <a:effectLst/>
                <a:uFillTx/>
                <a:latin typeface="Google Sans Flex"/>
              </a:rPr>
              <a:t>Generative celebration engine honoring local Asian holidays, tenure milestones, and linguistic nuances.</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10B981"/>
                </a:solidFill>
                <a:effectLst/>
                <a:uFillTx/>
                <a:latin typeface="Google Sans Flex SemiBold"/>
              </a:rPr>
              <a:t>✔ 3D WebGL Workforce Globe: </a:t>
            </a:r>
            <a:r>
              <a:rPr lang="en-GB" sz="1050" b="0" u="none" strike="noStrike">
                <a:solidFill>
                  <a:srgbClr val="1E293B"/>
                </a:solidFill>
                <a:effectLst/>
                <a:uFillTx/>
                <a:latin typeface="Google Sans Flex"/>
              </a:rPr>
              <a:t>Interactive 3D spatial visualization of cross-border team connectivity and milestone density.</a:t>
            </a:r>
            <a:endParaRPr lang="en-GB" sz="1050" b="0" u="none" strike="noStrike">
              <a:solidFill>
                <a:srgbClr val="000000"/>
              </a:solidFill>
              <a:effectLst/>
              <a:uFillTx/>
              <a:latin typeface="Arial"/>
            </a:endParaRPr>
          </a:p>
          <a:p>
            <a:pPr>
              <a:lnSpc>
                <a:spcPct val="100000"/>
              </a:lnSpc>
              <a:spcAft>
                <a:spcPts val="601"/>
              </a:spcAft>
            </a:pPr>
            <a:r>
              <a:rPr lang="en-GB" sz="1100" b="1" u="none" strike="noStrike">
                <a:solidFill>
                  <a:srgbClr val="10B981"/>
                </a:solidFill>
                <a:effectLst/>
                <a:uFillTx/>
                <a:latin typeface="Google Sans Flex SemiBold"/>
              </a:rPr>
              <a:t>✔ Client-Side Wallet OCR: </a:t>
            </a:r>
            <a:r>
              <a:rPr lang="en-GB" sz="1050" b="0" u="none" strike="noStrike">
                <a:solidFill>
                  <a:srgbClr val="1E293B"/>
                </a:solidFill>
                <a:effectLst/>
                <a:uFillTx/>
                <a:latin typeface="Google Sans Flex"/>
              </a:rPr>
              <a:t>In-browser computer vision verification for local mobile wallet payment slips at $0 cloud API cost.</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Google Shape;84;p17"/>
          <p:cNvPicPr/>
          <p:nvPr/>
        </p:nvPicPr>
        <p:blipFill>
          <a:blip r:embed="rId1"/>
          <a:srcRect l="0" t="0" r="0" b="97970"/>
          <a:stretch/>
        </p:blipFill>
        <p:spPr>
          <a:xfrm>
            <a:off x="0" y="5093640"/>
            <a:ext cx="9143280" cy="53640"/>
          </a:xfrm>
          <a:prstGeom prst="rect">
            <a:avLst/>
          </a:prstGeom>
          <a:noFill/>
          <a:ln w="0">
            <a:noFill/>
          </a:ln>
        </p:spPr>
      </p:pic>
      <p:pic>
        <p:nvPicPr>
          <p:cNvPr id="58" name="Google Shape;85;p17"/>
          <p:cNvPicPr/>
          <p:nvPr/>
        </p:nvPicPr>
        <p:blipFill>
          <a:blip r:embed="rId2"/>
          <a:stretch/>
        </p:blipFill>
        <p:spPr>
          <a:xfrm>
            <a:off x="0" y="0"/>
            <a:ext cx="9143280" cy="506520"/>
          </a:xfrm>
          <a:prstGeom prst="rect">
            <a:avLst/>
          </a:prstGeom>
          <a:noFill/>
          <a:ln w="0">
            <a:noFill/>
          </a:ln>
        </p:spPr>
      </p:pic>
      <p:sp>
        <p:nvSpPr>
          <p:cNvPr id="59" name="Google Shape;86;p17"/>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60" name="Google Shape;87;p17"/>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List of features offered by the solution</a:t>
            </a:r>
            <a:endParaRPr lang="en-GB" sz="1600" b="0" u="none" strike="noStrike">
              <a:solidFill>
                <a:srgbClr val="000000"/>
              </a:solidFill>
              <a:effectLst/>
              <a:uFillTx/>
              <a:latin typeface="Arial"/>
            </a:endParaRPr>
          </a:p>
        </p:txBody>
      </p:sp>
      <p:sp>
        <p:nvSpPr>
          <p:cNvPr id="61" name="Rounded Rectangle 44"/>
          <p:cNvSpPr/>
          <p:nvPr/>
        </p:nvSpPr>
        <p:spPr>
          <a:xfrm>
            <a:off x="360000" y="129996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62" name="TextBox 45"/>
          <p:cNvSpPr/>
          <p:nvPr/>
        </p:nvSpPr>
        <p:spPr>
          <a:xfrm>
            <a:off x="460080" y="136008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F46E5"/>
                </a:solidFill>
                <a:effectLst/>
                <a:uFillTx/>
                <a:latin typeface="Google Sans Flex SemiBold"/>
              </a:rPr>
              <a:t>1. Automated Milestone Detection &amp; Cron</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Daily Cloud Functions cron at 09:00 AM (Asia/Rangoon) continuously calculates birthdays and completed work anniversaries (&gt;= 1 year) across all registered tenants.</a:t>
            </a:r>
            <a:endParaRPr lang="en-GB" sz="1000" b="0" u="none" strike="noStrike">
              <a:solidFill>
                <a:srgbClr val="000000"/>
              </a:solidFill>
              <a:effectLst/>
              <a:uFillTx/>
              <a:latin typeface="Arial"/>
            </a:endParaRPr>
          </a:p>
        </p:txBody>
      </p:sp>
      <p:sp>
        <p:nvSpPr>
          <p:cNvPr id="63" name="Rounded Rectangle 46"/>
          <p:cNvSpPr/>
          <p:nvPr/>
        </p:nvSpPr>
        <p:spPr>
          <a:xfrm>
            <a:off x="4683960" y="129996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64" name="TextBox 47"/>
          <p:cNvSpPr/>
          <p:nvPr/>
        </p:nvSpPr>
        <p:spPr>
          <a:xfrm>
            <a:off x="4784040" y="136008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285F4"/>
                </a:solidFill>
                <a:effectLst/>
                <a:uFillTx/>
                <a:latin typeface="Google Sans Flex SemiBold"/>
              </a:rPr>
              <a:t>2. Google Gemini Contextual Copywriter</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Gemini 2.5 Flash crafts warm, hyper-personalized celebration messages adapted to employee tenure, seniority, and preferred JAPAC language.</a:t>
            </a:r>
            <a:endParaRPr lang="en-GB" sz="1000" b="0" u="none" strike="noStrike">
              <a:solidFill>
                <a:srgbClr val="000000"/>
              </a:solidFill>
              <a:effectLst/>
              <a:uFillTx/>
              <a:latin typeface="Arial"/>
            </a:endParaRPr>
          </a:p>
        </p:txBody>
      </p:sp>
      <p:sp>
        <p:nvSpPr>
          <p:cNvPr id="65" name="Rounded Rectangle 48"/>
          <p:cNvSpPr/>
          <p:nvPr/>
        </p:nvSpPr>
        <p:spPr>
          <a:xfrm>
            <a:off x="360000" y="218016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66" name="TextBox 49"/>
          <p:cNvSpPr/>
          <p:nvPr/>
        </p:nvSpPr>
        <p:spPr>
          <a:xfrm>
            <a:off x="460080" y="223992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10B981"/>
                </a:solidFill>
                <a:effectLst/>
                <a:uFillTx/>
                <a:latin typeface="Google Sans Flex SemiBold"/>
              </a:rPr>
              <a:t>3. 3D Interactive JAPAC Earth Network</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Three.js WebGL globe visualizing 34 regional territories with camera-anchored lighting and elevated Great-Circle flight arcs connecting regional nodes.</a:t>
            </a:r>
            <a:endParaRPr lang="en-GB" sz="1000" b="0" u="none" strike="noStrike">
              <a:solidFill>
                <a:srgbClr val="000000"/>
              </a:solidFill>
              <a:effectLst/>
              <a:uFillTx/>
              <a:latin typeface="Arial"/>
            </a:endParaRPr>
          </a:p>
        </p:txBody>
      </p:sp>
      <p:sp>
        <p:nvSpPr>
          <p:cNvPr id="67" name="Rounded Rectangle 50"/>
          <p:cNvSpPr/>
          <p:nvPr/>
        </p:nvSpPr>
        <p:spPr>
          <a:xfrm>
            <a:off x="4683960" y="218016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68" name="TextBox 51"/>
          <p:cNvSpPr/>
          <p:nvPr/>
        </p:nvSpPr>
        <p:spPr>
          <a:xfrm>
            <a:off x="4784040" y="223992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F43F5E"/>
                </a:solidFill>
                <a:effectLst/>
                <a:uFillTx/>
                <a:latin typeface="Google Sans Flex SemiBold"/>
              </a:rPr>
              <a:t>4. Omnichannel Delivery Engine</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Multi-channel dispatching hub supporting SMTP Email (Gmail, custom host), Microsoft Teams Adaptive Cards, and Telegram Bots.</a:t>
            </a:r>
            <a:endParaRPr lang="en-GB" sz="1000" b="0" u="none" strike="noStrike">
              <a:solidFill>
                <a:srgbClr val="000000"/>
              </a:solidFill>
              <a:effectLst/>
              <a:uFillTx/>
              <a:latin typeface="Arial"/>
            </a:endParaRPr>
          </a:p>
        </p:txBody>
      </p:sp>
      <p:sp>
        <p:nvSpPr>
          <p:cNvPr id="69" name="Rounded Rectangle 52"/>
          <p:cNvSpPr/>
          <p:nvPr/>
        </p:nvSpPr>
        <p:spPr>
          <a:xfrm>
            <a:off x="360000" y="306000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70" name="TextBox 53"/>
          <p:cNvSpPr/>
          <p:nvPr/>
        </p:nvSpPr>
        <p:spPr>
          <a:xfrm>
            <a:off x="460080" y="312012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F59E0B"/>
                </a:solidFill>
                <a:effectLst/>
                <a:uFillTx/>
                <a:latin typeface="Google Sans Flex SemiBold"/>
              </a:rPr>
              <a:t>5. Smart Roster &amp; Database Ingestion</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Instant SheetJS Excel/CSV parsing with automated column mapping, inline validation, and Metabase-style external database connectors.</a:t>
            </a:r>
            <a:endParaRPr lang="en-GB" sz="1000" b="0" u="none" strike="noStrike">
              <a:solidFill>
                <a:srgbClr val="000000"/>
              </a:solidFill>
              <a:effectLst/>
              <a:uFillTx/>
              <a:latin typeface="Arial"/>
            </a:endParaRPr>
          </a:p>
        </p:txBody>
      </p:sp>
      <p:sp>
        <p:nvSpPr>
          <p:cNvPr id="71" name="Rounded Rectangle 54"/>
          <p:cNvSpPr/>
          <p:nvPr/>
        </p:nvSpPr>
        <p:spPr>
          <a:xfrm>
            <a:off x="4683960" y="306000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72" name="TextBox 55"/>
          <p:cNvSpPr/>
          <p:nvPr/>
        </p:nvSpPr>
        <p:spPr>
          <a:xfrm>
            <a:off x="4784040" y="312012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F46E5"/>
                </a:solidFill>
                <a:effectLst/>
                <a:uFillTx/>
                <a:latin typeface="Google Sans Flex SemiBold"/>
              </a:rPr>
              <a:t>6. Client-Side OCR &amp; Local Wallet Checkout</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Multi-currency plan upgrades with on-device computer vision OCR scanning KBZ Pay, Wave Pay, AYA Pay, and CB Pay transaction slips.</a:t>
            </a:r>
            <a:endParaRPr lang="en-GB" sz="1000" b="0" u="none" strike="noStrike">
              <a:solidFill>
                <a:srgbClr val="000000"/>
              </a:solidFill>
              <a:effectLst/>
              <a:uFillTx/>
              <a:latin typeface="Arial"/>
            </a:endParaRPr>
          </a:p>
        </p:txBody>
      </p:sp>
      <p:sp>
        <p:nvSpPr>
          <p:cNvPr id="73" name="Rounded Rectangle 56"/>
          <p:cNvSpPr/>
          <p:nvPr/>
        </p:nvSpPr>
        <p:spPr>
          <a:xfrm>
            <a:off x="360000" y="393984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74" name="TextBox 57"/>
          <p:cNvSpPr/>
          <p:nvPr/>
        </p:nvSpPr>
        <p:spPr>
          <a:xfrm>
            <a:off x="460080" y="399996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285F4"/>
                </a:solidFill>
                <a:effectLst/>
                <a:uFillTx/>
                <a:latin typeface="Google Sans Flex SemiBold"/>
              </a:rPr>
              <a:t>7. Executive Analytics &amp; Velocity Radar</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Interactive Recharts dashboard displaying 7-day recognition velocity, team milestone radar, and cross-border headcount distribution.</a:t>
            </a:r>
            <a:endParaRPr lang="en-GB" sz="1000" b="0" u="none" strike="noStrike">
              <a:solidFill>
                <a:srgbClr val="000000"/>
              </a:solidFill>
              <a:effectLst/>
              <a:uFillTx/>
              <a:latin typeface="Arial"/>
            </a:endParaRPr>
          </a:p>
        </p:txBody>
      </p:sp>
      <p:sp>
        <p:nvSpPr>
          <p:cNvPr id="75" name="Rounded Rectangle 58"/>
          <p:cNvSpPr/>
          <p:nvPr/>
        </p:nvSpPr>
        <p:spPr>
          <a:xfrm>
            <a:off x="4683960" y="3939840"/>
            <a:ext cx="409968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76" name="TextBox 59"/>
          <p:cNvSpPr/>
          <p:nvPr/>
        </p:nvSpPr>
        <p:spPr>
          <a:xfrm>
            <a:off x="4784040" y="3999960"/>
            <a:ext cx="3899520" cy="6994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10B981"/>
                </a:solidFill>
                <a:effectLst/>
                <a:uFillTx/>
                <a:latin typeface="Google Sans Flex SemiBold"/>
              </a:rPr>
              <a:t>8. Enterprise RBAC &amp; Multi-Tenant Quotas</a:t>
            </a:r>
            <a:endParaRPr lang="en-GB" sz="1150" b="0" u="none" strike="noStrike">
              <a:solidFill>
                <a:srgbClr val="000000"/>
              </a:solidFill>
              <a:effectLst/>
              <a:uFillTx/>
              <a:latin typeface="Arial"/>
            </a:endParaRPr>
          </a:p>
          <a:p>
            <a:pPr>
              <a:lnSpc>
                <a:spcPct val="100000"/>
              </a:lnSpc>
            </a:pPr>
            <a:r>
              <a:rPr lang="en-GB" sz="1000" b="0" u="none" strike="noStrike">
                <a:solidFill>
                  <a:srgbClr val="1E293B"/>
                </a:solidFill>
                <a:effectLst/>
                <a:uFillTx/>
                <a:latin typeface="Google Sans Flex"/>
              </a:rPr>
              <a:t>4 role tiers (user, pro, pro_plus, admin) with Firestore security rules, tenant employee limits, and superuser broadcast messaging.</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Google Shape;92;p18"/>
          <p:cNvPicPr/>
          <p:nvPr/>
        </p:nvPicPr>
        <p:blipFill>
          <a:blip r:embed="rId1"/>
          <a:srcRect l="0" t="0" r="0" b="97970"/>
          <a:stretch/>
        </p:blipFill>
        <p:spPr>
          <a:xfrm>
            <a:off x="0" y="5093640"/>
            <a:ext cx="9143280" cy="53640"/>
          </a:xfrm>
          <a:prstGeom prst="rect">
            <a:avLst/>
          </a:prstGeom>
          <a:noFill/>
          <a:ln w="0">
            <a:noFill/>
          </a:ln>
        </p:spPr>
      </p:pic>
      <p:pic>
        <p:nvPicPr>
          <p:cNvPr id="78" name="Google Shape;93;p18"/>
          <p:cNvPicPr/>
          <p:nvPr/>
        </p:nvPicPr>
        <p:blipFill>
          <a:blip r:embed="rId2"/>
          <a:stretch/>
        </p:blipFill>
        <p:spPr>
          <a:xfrm>
            <a:off x="0" y="0"/>
            <a:ext cx="9143280" cy="506520"/>
          </a:xfrm>
          <a:prstGeom prst="rect">
            <a:avLst/>
          </a:prstGeom>
          <a:noFill/>
          <a:ln w="0">
            <a:noFill/>
          </a:ln>
        </p:spPr>
      </p:pic>
      <p:sp>
        <p:nvSpPr>
          <p:cNvPr id="79" name="Google Shape;94;p18"/>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80" name="Google Shape;95;p18"/>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Process flow diagram or Use-case diagram</a:t>
            </a:r>
            <a:endParaRPr lang="en-GB" sz="1600" b="0" u="none" strike="noStrike">
              <a:solidFill>
                <a:srgbClr val="000000"/>
              </a:solidFill>
              <a:effectLst/>
              <a:uFillTx/>
              <a:latin typeface="Arial"/>
            </a:endParaRPr>
          </a:p>
        </p:txBody>
      </p:sp>
      <p:sp>
        <p:nvSpPr>
          <p:cNvPr id="81" name="Rounded Rectangle 48"/>
          <p:cNvSpPr/>
          <p:nvPr/>
        </p:nvSpPr>
        <p:spPr>
          <a:xfrm>
            <a:off x="360000" y="1299960"/>
            <a:ext cx="8423640" cy="1999800"/>
          </a:xfrm>
          <a:prstGeom prst="roundRect">
            <a:avLst>
              <a:gd name="adj" fmla="val 16667"/>
            </a:avLst>
          </a:prstGeom>
          <a:solidFill>
            <a:srgbClr val="FFFFFF"/>
          </a:solidFill>
          <a:ln w="15240">
            <a:solidFill>
              <a:srgbClr val="C7D2FE"/>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82" name="TextBox 49"/>
          <p:cNvSpPr/>
          <p:nvPr/>
        </p:nvSpPr>
        <p:spPr>
          <a:xfrm>
            <a:off x="460080" y="1360080"/>
            <a:ext cx="8223480" cy="31968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350" b="1" u="none" strike="noStrike">
                <a:solidFill>
                  <a:srgbClr val="0F172A"/>
                </a:solidFill>
                <a:effectLst/>
                <a:uFillTx/>
                <a:latin typeface="Google Sans Flex SemiBold"/>
              </a:rPr>
              <a:t>Primary Flow: Autonomous Daily Milestone Recognition Lifecycle</a:t>
            </a:r>
            <a:endParaRPr lang="en-GB" sz="1350" b="0" u="none" strike="noStrike">
              <a:solidFill>
                <a:srgbClr val="000000"/>
              </a:solidFill>
              <a:effectLst/>
              <a:uFillTx/>
              <a:latin typeface="Arial"/>
            </a:endParaRPr>
          </a:p>
        </p:txBody>
      </p:sp>
      <p:sp>
        <p:nvSpPr>
          <p:cNvPr id="83" name="Rounded Rectangle 50"/>
          <p:cNvSpPr/>
          <p:nvPr/>
        </p:nvSpPr>
        <p:spPr>
          <a:xfrm>
            <a:off x="460080" y="1720080"/>
            <a:ext cx="1309680" cy="1459800"/>
          </a:xfrm>
          <a:prstGeom prst="roundRect">
            <a:avLst>
              <a:gd name="adj" fmla="val 16667"/>
            </a:avLst>
          </a:prstGeom>
          <a:solidFill>
            <a:srgbClr val="F8FAFC"/>
          </a:solidFill>
          <a:ln w="15240">
            <a:solidFill>
              <a:srgbClr val="4F46E5"/>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84" name="TextBox 51"/>
          <p:cNvSpPr/>
          <p:nvPr/>
        </p:nvSpPr>
        <p:spPr>
          <a:xfrm>
            <a:off x="51984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4F46E5"/>
                </a:solidFill>
                <a:effectLst/>
                <a:uFillTx/>
                <a:latin typeface="Google Sans Flex SemiBold"/>
              </a:rPr>
              <a:t>1. Data Ingestion</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HR syncs roster via Excel/CSV or external DB; records encrypted in Firestore.</a:t>
            </a:r>
            <a:endParaRPr lang="en-GB" sz="950" b="0" u="none" strike="noStrike">
              <a:solidFill>
                <a:srgbClr val="000000"/>
              </a:solidFill>
              <a:effectLst/>
              <a:uFillTx/>
              <a:latin typeface="Arial"/>
            </a:endParaRPr>
          </a:p>
        </p:txBody>
      </p:sp>
      <p:sp>
        <p:nvSpPr>
          <p:cNvPr id="85" name="Rounded Rectangle 52"/>
          <p:cNvSpPr/>
          <p:nvPr/>
        </p:nvSpPr>
        <p:spPr>
          <a:xfrm>
            <a:off x="1839960" y="1720080"/>
            <a:ext cx="1309680" cy="1459800"/>
          </a:xfrm>
          <a:prstGeom prst="roundRect">
            <a:avLst>
              <a:gd name="adj" fmla="val 16667"/>
            </a:avLst>
          </a:prstGeom>
          <a:solidFill>
            <a:srgbClr val="F8FAFC"/>
          </a:solidFill>
          <a:ln w="15240">
            <a:solidFill>
              <a:srgbClr val="4285F4"/>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86" name="TextBox 53"/>
          <p:cNvSpPr/>
          <p:nvPr/>
        </p:nvSpPr>
        <p:spPr>
          <a:xfrm>
            <a:off x="190008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4285F4"/>
                </a:solidFill>
                <a:effectLst/>
                <a:uFillTx/>
                <a:latin typeface="Google Sans Flex SemiBold"/>
              </a:rPr>
              <a:t>2. Daily Cron</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Cloud Scheduler invokes Cloud Function at 09:00 AM (Asia/Rangoon).</a:t>
            </a:r>
            <a:endParaRPr lang="en-GB" sz="950" b="0" u="none" strike="noStrike">
              <a:solidFill>
                <a:srgbClr val="000000"/>
              </a:solidFill>
              <a:effectLst/>
              <a:uFillTx/>
              <a:latin typeface="Arial"/>
            </a:endParaRPr>
          </a:p>
        </p:txBody>
      </p:sp>
      <p:sp>
        <p:nvSpPr>
          <p:cNvPr id="87" name="Rounded Rectangle 54"/>
          <p:cNvSpPr/>
          <p:nvPr/>
        </p:nvSpPr>
        <p:spPr>
          <a:xfrm>
            <a:off x="3219840" y="1720080"/>
            <a:ext cx="1309680" cy="1459800"/>
          </a:xfrm>
          <a:prstGeom prst="roundRect">
            <a:avLst>
              <a:gd name="adj" fmla="val 16667"/>
            </a:avLst>
          </a:prstGeom>
          <a:solidFill>
            <a:srgbClr val="F8FAFC"/>
          </a:solidFill>
          <a:ln w="15240">
            <a:solidFill>
              <a:srgbClr val="F59E0B"/>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88" name="TextBox 55"/>
          <p:cNvSpPr/>
          <p:nvPr/>
        </p:nvSpPr>
        <p:spPr>
          <a:xfrm>
            <a:off x="327996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F59E0B"/>
                </a:solidFill>
                <a:effectLst/>
                <a:uFillTx/>
                <a:latin typeface="Google Sans Flex SemiBold"/>
              </a:rPr>
              <a:t>3. Milestone Engine</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Calculates birthdays and anniversary jubilees (&gt;= 1 year).</a:t>
            </a:r>
            <a:endParaRPr lang="en-GB" sz="950" b="0" u="none" strike="noStrike">
              <a:solidFill>
                <a:srgbClr val="000000"/>
              </a:solidFill>
              <a:effectLst/>
              <a:uFillTx/>
              <a:latin typeface="Arial"/>
            </a:endParaRPr>
          </a:p>
        </p:txBody>
      </p:sp>
      <p:sp>
        <p:nvSpPr>
          <p:cNvPr id="89" name="Rounded Rectangle 56"/>
          <p:cNvSpPr/>
          <p:nvPr/>
        </p:nvSpPr>
        <p:spPr>
          <a:xfrm>
            <a:off x="4600080" y="1720080"/>
            <a:ext cx="1309680" cy="1459800"/>
          </a:xfrm>
          <a:prstGeom prst="roundRect">
            <a:avLst>
              <a:gd name="adj" fmla="val 16667"/>
            </a:avLst>
          </a:prstGeom>
          <a:solidFill>
            <a:srgbClr val="F8FAFC"/>
          </a:solidFill>
          <a:ln w="15240">
            <a:solidFill>
              <a:srgbClr val="F43F5E"/>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90" name="TextBox 57"/>
          <p:cNvSpPr/>
          <p:nvPr/>
        </p:nvSpPr>
        <p:spPr>
          <a:xfrm>
            <a:off x="465984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F43F5E"/>
                </a:solidFill>
                <a:effectLst/>
                <a:uFillTx/>
                <a:latin typeface="Google Sans Flex SemiBold"/>
              </a:rPr>
              <a:t>4. Gemini AI Copy</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Gemini 2.5 Flash crafts personalized greetings in native language.</a:t>
            </a:r>
            <a:endParaRPr lang="en-GB" sz="950" b="0" u="none" strike="noStrike">
              <a:solidFill>
                <a:srgbClr val="000000"/>
              </a:solidFill>
              <a:effectLst/>
              <a:uFillTx/>
              <a:latin typeface="Arial"/>
            </a:endParaRPr>
          </a:p>
        </p:txBody>
      </p:sp>
      <p:sp>
        <p:nvSpPr>
          <p:cNvPr id="91" name="Rounded Rectangle 58"/>
          <p:cNvSpPr/>
          <p:nvPr/>
        </p:nvSpPr>
        <p:spPr>
          <a:xfrm>
            <a:off x="5979960" y="1720080"/>
            <a:ext cx="1309680" cy="1459800"/>
          </a:xfrm>
          <a:prstGeom prst="roundRect">
            <a:avLst>
              <a:gd name="adj" fmla="val 16667"/>
            </a:avLst>
          </a:prstGeom>
          <a:solidFill>
            <a:srgbClr val="F8FAFC"/>
          </a:solidFill>
          <a:ln w="15240">
            <a:solidFill>
              <a:srgbClr val="10B981"/>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92" name="TextBox 59"/>
          <p:cNvSpPr/>
          <p:nvPr/>
        </p:nvSpPr>
        <p:spPr>
          <a:xfrm>
            <a:off x="604008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10B981"/>
                </a:solidFill>
                <a:effectLst/>
                <a:uFillTx/>
                <a:latin typeface="Google Sans Flex SemiBold"/>
              </a:rPr>
              <a:t>5. Omnichannel Dispatch</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Sends via SMTP Email, MS Teams Webhook, and Telegram Bot.</a:t>
            </a:r>
            <a:endParaRPr lang="en-GB" sz="950" b="0" u="none" strike="noStrike">
              <a:solidFill>
                <a:srgbClr val="000000"/>
              </a:solidFill>
              <a:effectLst/>
              <a:uFillTx/>
              <a:latin typeface="Arial"/>
            </a:endParaRPr>
          </a:p>
        </p:txBody>
      </p:sp>
      <p:sp>
        <p:nvSpPr>
          <p:cNvPr id="93" name="Rounded Rectangle 60"/>
          <p:cNvSpPr/>
          <p:nvPr/>
        </p:nvSpPr>
        <p:spPr>
          <a:xfrm>
            <a:off x="7359840" y="1720080"/>
            <a:ext cx="1309680" cy="1459800"/>
          </a:xfrm>
          <a:prstGeom prst="roundRect">
            <a:avLst>
              <a:gd name="adj" fmla="val 16667"/>
            </a:avLst>
          </a:prstGeom>
          <a:solidFill>
            <a:srgbClr val="F8FAFC"/>
          </a:solidFill>
          <a:ln w="15240">
            <a:solidFill>
              <a:srgbClr val="0F172A"/>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94" name="TextBox 61"/>
          <p:cNvSpPr/>
          <p:nvPr/>
        </p:nvSpPr>
        <p:spPr>
          <a:xfrm>
            <a:off x="7419960" y="1779840"/>
            <a:ext cx="1189800" cy="1339560"/>
          </a:xfrm>
          <a:prstGeom prst="rect">
            <a:avLst/>
          </a:prstGeom>
          <a:noFill/>
          <a:ln w="0">
            <a:noFill/>
          </a:ln>
        </p:spPr>
        <p:style>
          <a:lnRef idx="0"/>
          <a:fillRef idx="0"/>
          <a:effectRef idx="0"/>
          <a:fontRef idx="minor"/>
        </p:style>
        <p:txBody>
          <a:bodyPr lIns="76320" tIns="76320" rIns="76320" bIns="76320" anchor="t">
            <a:spAutoFit/>
          </a:bodyPr>
          <a:p>
            <a:pPr algn="ctr">
              <a:lnSpc>
                <a:spcPct val="100000"/>
              </a:lnSpc>
              <a:spcAft>
                <a:spcPts val="201"/>
              </a:spcAft>
            </a:pPr>
            <a:r>
              <a:rPr lang="en-GB" sz="1050" b="1" u="none" strike="noStrike">
                <a:solidFill>
                  <a:srgbClr val="0F172A"/>
                </a:solidFill>
                <a:effectLst/>
                <a:uFillTx/>
                <a:latin typeface="Google Sans Flex SemiBold"/>
              </a:rPr>
              <a:t>6. Telemetry Log</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Delivery status logged in Firestore; updates Executive Dashboard.</a:t>
            </a:r>
            <a:endParaRPr lang="en-GB" sz="950" b="0" u="none" strike="noStrike">
              <a:solidFill>
                <a:srgbClr val="000000"/>
              </a:solidFill>
              <a:effectLst/>
              <a:uFillTx/>
              <a:latin typeface="Arial"/>
            </a:endParaRPr>
          </a:p>
        </p:txBody>
      </p:sp>
      <p:sp>
        <p:nvSpPr>
          <p:cNvPr id="95" name="Rounded Rectangle 62"/>
          <p:cNvSpPr/>
          <p:nvPr/>
        </p:nvSpPr>
        <p:spPr>
          <a:xfrm>
            <a:off x="360000" y="3399840"/>
            <a:ext cx="8423640" cy="144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96" name="TextBox 63"/>
          <p:cNvSpPr/>
          <p:nvPr/>
        </p:nvSpPr>
        <p:spPr>
          <a:xfrm>
            <a:off x="460080" y="3459960"/>
            <a:ext cx="8223480" cy="29952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350" b="1" u="none" strike="noStrike">
                <a:solidFill>
                  <a:srgbClr val="0F172A"/>
                </a:solidFill>
                <a:effectLst/>
                <a:uFillTx/>
                <a:latin typeface="Google Sans Flex SemiBold"/>
              </a:rPr>
              <a:t>Secondary Flow: Multi-Currency Plan Upgrade &amp; Client-Side Payment Slip OCR</a:t>
            </a:r>
            <a:endParaRPr lang="en-GB" sz="1350" b="0" u="none" strike="noStrike">
              <a:solidFill>
                <a:srgbClr val="000000"/>
              </a:solidFill>
              <a:effectLst/>
              <a:uFillTx/>
              <a:latin typeface="Arial"/>
            </a:endParaRPr>
          </a:p>
        </p:txBody>
      </p:sp>
      <p:sp>
        <p:nvSpPr>
          <p:cNvPr id="97" name="Rounded Rectangle 64"/>
          <p:cNvSpPr/>
          <p:nvPr/>
        </p:nvSpPr>
        <p:spPr>
          <a:xfrm>
            <a:off x="460080" y="3800160"/>
            <a:ext cx="1989720" cy="959760"/>
          </a:xfrm>
          <a:prstGeom prst="roundRect">
            <a:avLst>
              <a:gd name="adj" fmla="val 16667"/>
            </a:avLst>
          </a:prstGeom>
          <a:solidFill>
            <a:srgbClr val="F8FAFC"/>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98" name="TextBox 65"/>
          <p:cNvSpPr/>
          <p:nvPr/>
        </p:nvSpPr>
        <p:spPr>
          <a:xfrm>
            <a:off x="519840" y="3849840"/>
            <a:ext cx="1869480" cy="8596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050" b="1" u="none" strike="noStrike">
                <a:solidFill>
                  <a:srgbClr val="4F46E5"/>
                </a:solidFill>
                <a:effectLst/>
                <a:uFillTx/>
                <a:latin typeface="Google Sans Flex SemiBold"/>
              </a:rPr>
              <a:t>A. Plan Selection</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User selects Pro/Ultra tier; picks regional currency (USD, MMK, SGD, THB).</a:t>
            </a:r>
            <a:endParaRPr lang="en-GB" sz="950" b="0" u="none" strike="noStrike">
              <a:solidFill>
                <a:srgbClr val="000000"/>
              </a:solidFill>
              <a:effectLst/>
              <a:uFillTx/>
              <a:latin typeface="Arial"/>
            </a:endParaRPr>
          </a:p>
        </p:txBody>
      </p:sp>
      <p:sp>
        <p:nvSpPr>
          <p:cNvPr id="99" name="Rounded Rectangle 66"/>
          <p:cNvSpPr/>
          <p:nvPr/>
        </p:nvSpPr>
        <p:spPr>
          <a:xfrm>
            <a:off x="2530080" y="3800160"/>
            <a:ext cx="1989720" cy="959760"/>
          </a:xfrm>
          <a:prstGeom prst="roundRect">
            <a:avLst>
              <a:gd name="adj" fmla="val 16667"/>
            </a:avLst>
          </a:prstGeom>
          <a:solidFill>
            <a:srgbClr val="F8FAFC"/>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00" name="TextBox 67"/>
          <p:cNvSpPr/>
          <p:nvPr/>
        </p:nvSpPr>
        <p:spPr>
          <a:xfrm>
            <a:off x="2589840" y="3849840"/>
            <a:ext cx="1869480" cy="8596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050" b="1" u="none" strike="noStrike">
                <a:solidFill>
                  <a:srgbClr val="4F46E5"/>
                </a:solidFill>
                <a:effectLst/>
                <a:uFillTx/>
                <a:latin typeface="Google Sans Flex SemiBold"/>
              </a:rPr>
              <a:t>B. Dynamic QR Payment</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System generates local wallet QR code (KBZ Pay, Wave Pay, AYA Pay) with 5-min timer.</a:t>
            </a:r>
            <a:endParaRPr lang="en-GB" sz="950" b="0" u="none" strike="noStrike">
              <a:solidFill>
                <a:srgbClr val="000000"/>
              </a:solidFill>
              <a:effectLst/>
              <a:uFillTx/>
              <a:latin typeface="Arial"/>
            </a:endParaRPr>
          </a:p>
        </p:txBody>
      </p:sp>
      <p:sp>
        <p:nvSpPr>
          <p:cNvPr id="101" name="Rounded Rectangle 68"/>
          <p:cNvSpPr/>
          <p:nvPr/>
        </p:nvSpPr>
        <p:spPr>
          <a:xfrm>
            <a:off x="4600080" y="3800160"/>
            <a:ext cx="1989720" cy="959760"/>
          </a:xfrm>
          <a:prstGeom prst="roundRect">
            <a:avLst>
              <a:gd name="adj" fmla="val 16667"/>
            </a:avLst>
          </a:prstGeom>
          <a:solidFill>
            <a:srgbClr val="F8FAFC"/>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02" name="TextBox 69"/>
          <p:cNvSpPr/>
          <p:nvPr/>
        </p:nvSpPr>
        <p:spPr>
          <a:xfrm>
            <a:off x="4659840" y="3849840"/>
            <a:ext cx="1869480" cy="8596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050" b="1" u="none" strike="noStrike">
                <a:solidFill>
                  <a:srgbClr val="4F46E5"/>
                </a:solidFill>
                <a:effectLst/>
                <a:uFillTx/>
                <a:latin typeface="Google Sans Flex SemiBold"/>
              </a:rPr>
              <a:t>C. Client-Side Slip OCR</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HTML5 Canvas computer vision verifies luminance, text edges, amount &amp; transaction ID.</a:t>
            </a:r>
            <a:endParaRPr lang="en-GB" sz="950" b="0" u="none" strike="noStrike">
              <a:solidFill>
                <a:srgbClr val="000000"/>
              </a:solidFill>
              <a:effectLst/>
              <a:uFillTx/>
              <a:latin typeface="Arial"/>
            </a:endParaRPr>
          </a:p>
        </p:txBody>
      </p:sp>
      <p:sp>
        <p:nvSpPr>
          <p:cNvPr id="103" name="Rounded Rectangle 70"/>
          <p:cNvSpPr/>
          <p:nvPr/>
        </p:nvSpPr>
        <p:spPr>
          <a:xfrm>
            <a:off x="6670080" y="3800160"/>
            <a:ext cx="1989720" cy="959760"/>
          </a:xfrm>
          <a:prstGeom prst="roundRect">
            <a:avLst>
              <a:gd name="adj" fmla="val 16667"/>
            </a:avLst>
          </a:prstGeom>
          <a:solidFill>
            <a:srgbClr val="F8FAFC"/>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04" name="TextBox 71"/>
          <p:cNvSpPr/>
          <p:nvPr/>
        </p:nvSpPr>
        <p:spPr>
          <a:xfrm>
            <a:off x="6729840" y="3849840"/>
            <a:ext cx="1869480" cy="85968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050" b="1" u="none" strike="noStrike">
                <a:solidFill>
                  <a:srgbClr val="4F46E5"/>
                </a:solidFill>
                <a:effectLst/>
                <a:uFillTx/>
                <a:latin typeface="Google Sans Flex SemiBold"/>
              </a:rPr>
              <a:t>D. Instant Activation</a:t>
            </a:r>
            <a:endParaRPr lang="en-GB" sz="1050" b="0" u="none" strike="noStrike">
              <a:solidFill>
                <a:srgbClr val="000000"/>
              </a:solidFill>
              <a:effectLst/>
              <a:uFillTx/>
              <a:latin typeface="Arial"/>
            </a:endParaRPr>
          </a:p>
          <a:p>
            <a:pPr>
              <a:lnSpc>
                <a:spcPct val="100000"/>
              </a:lnSpc>
            </a:pPr>
            <a:r>
              <a:rPr lang="en-GB" sz="950" b="0" u="none" strike="noStrike">
                <a:solidFill>
                  <a:srgbClr val="1E293B"/>
                </a:solidFill>
                <a:effectLst/>
                <a:uFillTx/>
                <a:latin typeface="Google Sans Flex"/>
              </a:rPr>
              <a:t>Zero cloud API fees; instant quota upgrade applied to tenant account in Firestore.</a:t>
            </a:r>
            <a:endParaRPr lang="en-GB"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Google Shape;100;p19"/>
          <p:cNvPicPr/>
          <p:nvPr/>
        </p:nvPicPr>
        <p:blipFill>
          <a:blip r:embed="rId1"/>
          <a:srcRect l="0" t="0" r="0" b="97970"/>
          <a:stretch/>
        </p:blipFill>
        <p:spPr>
          <a:xfrm>
            <a:off x="0" y="5093640"/>
            <a:ext cx="9143280" cy="53640"/>
          </a:xfrm>
          <a:prstGeom prst="rect">
            <a:avLst/>
          </a:prstGeom>
          <a:noFill/>
          <a:ln w="0">
            <a:noFill/>
          </a:ln>
        </p:spPr>
      </p:pic>
      <p:pic>
        <p:nvPicPr>
          <p:cNvPr id="106" name="Google Shape;101;p19"/>
          <p:cNvPicPr/>
          <p:nvPr/>
        </p:nvPicPr>
        <p:blipFill>
          <a:blip r:embed="rId2"/>
          <a:stretch/>
        </p:blipFill>
        <p:spPr>
          <a:xfrm>
            <a:off x="0" y="0"/>
            <a:ext cx="9143280" cy="506520"/>
          </a:xfrm>
          <a:prstGeom prst="rect">
            <a:avLst/>
          </a:prstGeom>
          <a:noFill/>
          <a:ln w="0">
            <a:noFill/>
          </a:ln>
        </p:spPr>
      </p:pic>
      <p:sp>
        <p:nvSpPr>
          <p:cNvPr id="107" name="Google Shape;102;p19"/>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08" name="Google Shape;103;p19"/>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Wireframes/Mock diagrams of the proposed solution (optional)</a:t>
            </a:r>
            <a:endParaRPr lang="en-GB" sz="1600" b="0" u="none" strike="noStrike">
              <a:solidFill>
                <a:srgbClr val="000000"/>
              </a:solidFill>
              <a:effectLst/>
              <a:uFillTx/>
              <a:latin typeface="Arial"/>
            </a:endParaRPr>
          </a:p>
        </p:txBody>
      </p:sp>
      <p:sp>
        <p:nvSpPr>
          <p:cNvPr id="109" name="Rounded Rectangle 52"/>
          <p:cNvSpPr/>
          <p:nvPr/>
        </p:nvSpPr>
        <p:spPr>
          <a:xfrm>
            <a:off x="360000" y="1299960"/>
            <a:ext cx="409968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10" name="TextBox 53"/>
          <p:cNvSpPr/>
          <p:nvPr/>
        </p:nvSpPr>
        <p:spPr>
          <a:xfrm>
            <a:off x="460080" y="1379880"/>
            <a:ext cx="3899520" cy="15195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300" b="1" u="none" strike="noStrike">
                <a:solidFill>
                  <a:srgbClr val="4F46E5"/>
                </a:solidFill>
                <a:effectLst/>
                <a:uFillTx/>
                <a:latin typeface="Google Sans Flex SemiBold"/>
              </a:rPr>
              <a:t>1. 50/50 Cinematic Hero Split (Login)</a:t>
            </a:r>
            <a:endParaRPr lang="en-GB" sz="1300" b="0" u="none" strike="noStrike">
              <a:solidFill>
                <a:srgbClr val="000000"/>
              </a:solidFill>
              <a:effectLst/>
              <a:uFillTx/>
              <a:latin typeface="Arial"/>
            </a:endParaRPr>
          </a:p>
          <a:p>
            <a:pPr>
              <a:lnSpc>
                <a:spcPct val="100000"/>
              </a:lnSpc>
              <a:spcAft>
                <a:spcPts val="201"/>
              </a:spcAft>
            </a:pPr>
            <a:r>
              <a:rPr lang="en-GB" sz="1050" b="1" u="none" strike="noStrike">
                <a:solidFill>
                  <a:srgbClr val="4F46E5"/>
                </a:solidFill>
                <a:effectLst/>
                <a:uFillTx/>
                <a:latin typeface="Google Sans Flex SemiBold"/>
              </a:rPr>
              <a:t>• Visual Earth Viewport: </a:t>
            </a:r>
            <a:r>
              <a:rPr lang="en-GB" sz="1000" b="0" u="none" strike="noStrike">
                <a:solidFill>
                  <a:srgbClr val="1E293B"/>
                </a:solidFill>
                <a:effectLst/>
                <a:uFillTx/>
                <a:latin typeface="Google Sans Flex"/>
              </a:rPr>
              <a:t>Full-height WebGL Earth orienting to Singapore/JAPAC sunrise shader with territory nodes.</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4F46E5"/>
                </a:solidFill>
                <a:effectLst/>
                <a:uFillTx/>
                <a:latin typeface="Google Sans Flex SemiBold"/>
              </a:rPr>
              <a:t>• Glassmorphic Auth Card: </a:t>
            </a:r>
            <a:r>
              <a:rPr lang="en-GB" sz="1000" b="0" u="none" strike="noStrike">
                <a:solidFill>
                  <a:srgbClr val="1E293B"/>
                </a:solidFill>
                <a:effectLst/>
                <a:uFillTx/>
                <a:latin typeface="Google Sans Flex"/>
              </a:rPr>
              <a:t>Google OAuth, passwordless magic links, and 1-Click Judge Demo Mode button.</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4F46E5"/>
                </a:solidFill>
                <a:effectLst/>
                <a:uFillTx/>
                <a:latin typeface="Google Sans Flex SemiBold"/>
              </a:rPr>
              <a:t>• Interactive Language Bar: </a:t>
            </a:r>
            <a:r>
              <a:rPr lang="en-GB" sz="1000" b="0" u="none" strike="noStrike">
                <a:solidFill>
                  <a:srgbClr val="1E293B"/>
                </a:solidFill>
                <a:effectLst/>
                <a:uFillTx/>
                <a:latin typeface="Google Sans Flex"/>
              </a:rPr>
              <a:t>Visible pill navigation to switch across 7 regional languages instantly.</a:t>
            </a:r>
            <a:endParaRPr lang="en-GB" sz="1000" b="0" u="none" strike="noStrike">
              <a:solidFill>
                <a:srgbClr val="000000"/>
              </a:solidFill>
              <a:effectLst/>
              <a:uFillTx/>
              <a:latin typeface="Arial"/>
            </a:endParaRPr>
          </a:p>
        </p:txBody>
      </p:sp>
      <p:sp>
        <p:nvSpPr>
          <p:cNvPr id="111" name="Rounded Rectangle 54"/>
          <p:cNvSpPr/>
          <p:nvPr/>
        </p:nvSpPr>
        <p:spPr>
          <a:xfrm>
            <a:off x="4683960" y="1299960"/>
            <a:ext cx="409968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12" name="TextBox 55"/>
          <p:cNvSpPr/>
          <p:nvPr/>
        </p:nvSpPr>
        <p:spPr>
          <a:xfrm>
            <a:off x="4784040" y="1379880"/>
            <a:ext cx="3899520" cy="15195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300" b="1" u="none" strike="noStrike">
                <a:solidFill>
                  <a:srgbClr val="4285F4"/>
                </a:solidFill>
                <a:effectLst/>
                <a:uFillTx/>
                <a:latin typeface="Google Sans Flex SemiBold"/>
              </a:rPr>
              <a:t>2. Executive Recognition Dashboard</a:t>
            </a:r>
            <a:endParaRPr lang="en-GB" sz="1300" b="0" u="none" strike="noStrike">
              <a:solidFill>
                <a:srgbClr val="000000"/>
              </a:solidFill>
              <a:effectLst/>
              <a:uFillTx/>
              <a:latin typeface="Arial"/>
            </a:endParaRPr>
          </a:p>
          <a:p>
            <a:pPr>
              <a:lnSpc>
                <a:spcPct val="100000"/>
              </a:lnSpc>
              <a:spcAft>
                <a:spcPts val="201"/>
              </a:spcAft>
            </a:pPr>
            <a:r>
              <a:rPr lang="en-GB" sz="1050" b="1" u="none" strike="noStrike">
                <a:solidFill>
                  <a:srgbClr val="4285F4"/>
                </a:solidFill>
                <a:effectLst/>
                <a:uFillTx/>
                <a:latin typeface="Google Sans Flex SemiBold"/>
              </a:rPr>
              <a:t>• KPI Metric Tiles: </a:t>
            </a:r>
            <a:r>
              <a:rPr lang="en-GB" sz="1000" b="0" u="none" strike="noStrike">
                <a:solidFill>
                  <a:srgbClr val="1E293B"/>
                </a:solidFill>
                <a:effectLst/>
                <a:uFillTx/>
                <a:latin typeface="Google Sans Flex"/>
              </a:rPr>
              <a:t>Real-time employee headcount, upcoming 7-day milestones, and delivery success rate.</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4285F4"/>
                </a:solidFill>
                <a:effectLst/>
                <a:uFillTx/>
                <a:latin typeface="Google Sans Flex SemiBold"/>
              </a:rPr>
              <a:t>• Recognition Velocity: </a:t>
            </a:r>
            <a:r>
              <a:rPr lang="en-GB" sz="1000" b="0" u="none" strike="noStrike">
                <a:solidFill>
                  <a:srgbClr val="1E293B"/>
                </a:solidFill>
                <a:effectLst/>
                <a:uFillTx/>
                <a:latin typeface="Google Sans Flex"/>
              </a:rPr>
              <a:t>Recharts multi-series area chart tracking weekly recognition throughput.</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4285F4"/>
                </a:solidFill>
                <a:effectLst/>
                <a:uFillTx/>
                <a:latin typeface="Google Sans Flex SemiBold"/>
              </a:rPr>
              <a:t>• Upcoming Radar: </a:t>
            </a:r>
            <a:r>
              <a:rPr lang="en-GB" sz="1000" b="0" u="none" strike="noStrike">
                <a:solidFill>
                  <a:srgbClr val="1E293B"/>
                </a:solidFill>
                <a:effectLst/>
                <a:uFillTx/>
                <a:latin typeface="Google Sans Flex"/>
              </a:rPr>
              <a:t>Chronological milestone feed with 1-click manual greeting preview and trigger.</a:t>
            </a:r>
            <a:endParaRPr lang="en-GB" sz="1000" b="0" u="none" strike="noStrike">
              <a:solidFill>
                <a:srgbClr val="000000"/>
              </a:solidFill>
              <a:effectLst/>
              <a:uFillTx/>
              <a:latin typeface="Arial"/>
            </a:endParaRPr>
          </a:p>
        </p:txBody>
      </p:sp>
      <p:sp>
        <p:nvSpPr>
          <p:cNvPr id="113" name="Rounded Rectangle 56"/>
          <p:cNvSpPr/>
          <p:nvPr/>
        </p:nvSpPr>
        <p:spPr>
          <a:xfrm>
            <a:off x="360000" y="3080160"/>
            <a:ext cx="409968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14" name="TextBox 57"/>
          <p:cNvSpPr/>
          <p:nvPr/>
        </p:nvSpPr>
        <p:spPr>
          <a:xfrm>
            <a:off x="460080" y="3160080"/>
            <a:ext cx="3899520" cy="15195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300" b="1" u="none" strike="noStrike">
                <a:solidFill>
                  <a:srgbClr val="10B981"/>
                </a:solidFill>
                <a:effectLst/>
                <a:uFillTx/>
                <a:latin typeface="Google Sans Flex SemiBold"/>
              </a:rPr>
              <a:t>3. Employee Roster Management Hub</a:t>
            </a:r>
            <a:endParaRPr lang="en-GB" sz="1300" b="0" u="none" strike="noStrike">
              <a:solidFill>
                <a:srgbClr val="000000"/>
              </a:solidFill>
              <a:effectLst/>
              <a:uFillTx/>
              <a:latin typeface="Arial"/>
            </a:endParaRPr>
          </a:p>
          <a:p>
            <a:pPr>
              <a:lnSpc>
                <a:spcPct val="100000"/>
              </a:lnSpc>
              <a:spcAft>
                <a:spcPts val="201"/>
              </a:spcAft>
            </a:pPr>
            <a:r>
              <a:rPr lang="en-GB" sz="1050" b="1" u="none" strike="noStrike">
                <a:solidFill>
                  <a:srgbClr val="10B981"/>
                </a:solidFill>
                <a:effectLst/>
                <a:uFillTx/>
                <a:latin typeface="Google Sans Flex SemiBold"/>
              </a:rPr>
              <a:t>• Tabular Grid: </a:t>
            </a:r>
            <a:r>
              <a:rPr lang="en-GB" sz="1000" b="0" u="none" strike="noStrike">
                <a:solidFill>
                  <a:srgbClr val="1E293B"/>
                </a:solidFill>
                <a:effectLst/>
                <a:uFillTx/>
                <a:latin typeface="Google Sans Flex"/>
              </a:rPr>
              <a:t>Editable employee roster with instant toggle switches for automated milestone emails.</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10B981"/>
                </a:solidFill>
                <a:effectLst/>
                <a:uFillTx/>
                <a:latin typeface="Google Sans Flex SemiBold"/>
              </a:rPr>
              <a:t>• SheetJS Import: </a:t>
            </a:r>
            <a:r>
              <a:rPr lang="en-GB" sz="1000" b="0" u="none" strike="noStrike">
                <a:solidFill>
                  <a:srgbClr val="1E293B"/>
                </a:solidFill>
                <a:effectLst/>
                <a:uFillTx/>
                <a:latin typeface="Google Sans Flex"/>
              </a:rPr>
              <a:t>Drag-and-drop Excel/CSV importer with automated column header detection and preview.</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10B981"/>
                </a:solidFill>
                <a:effectLst/>
                <a:uFillTx/>
                <a:latin typeface="Google Sans Flex SemiBold"/>
              </a:rPr>
              <a:t>• Metabase DB Connector: </a:t>
            </a:r>
            <a:r>
              <a:rPr lang="en-GB" sz="1000" b="0" u="none" strike="noStrike">
                <a:solidFill>
                  <a:srgbClr val="1E293B"/>
                </a:solidFill>
                <a:effectLst/>
                <a:uFillTx/>
                <a:latin typeface="Google Sans Flex"/>
              </a:rPr>
              <a:t>Wizard connecting external PostgreSQL, MySQL, and BigQuery HR databases.</a:t>
            </a:r>
            <a:endParaRPr lang="en-GB" sz="1000" b="0" u="none" strike="noStrike">
              <a:solidFill>
                <a:srgbClr val="000000"/>
              </a:solidFill>
              <a:effectLst/>
              <a:uFillTx/>
              <a:latin typeface="Arial"/>
            </a:endParaRPr>
          </a:p>
        </p:txBody>
      </p:sp>
      <p:sp>
        <p:nvSpPr>
          <p:cNvPr id="115" name="Rounded Rectangle 58"/>
          <p:cNvSpPr/>
          <p:nvPr/>
        </p:nvSpPr>
        <p:spPr>
          <a:xfrm>
            <a:off x="4683960" y="3080160"/>
            <a:ext cx="409968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16" name="TextBox 59"/>
          <p:cNvSpPr/>
          <p:nvPr/>
        </p:nvSpPr>
        <p:spPr>
          <a:xfrm>
            <a:off x="4784040" y="3160080"/>
            <a:ext cx="3899520" cy="15195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300" b="1" u="none" strike="noStrike">
                <a:solidFill>
                  <a:srgbClr val="F59E0B"/>
                </a:solidFill>
                <a:effectLst/>
                <a:uFillTx/>
                <a:latin typeface="Google Sans Flex SemiBold"/>
              </a:rPr>
              <a:t>4. Omnichannel Settings &amp; Slip OCR</a:t>
            </a:r>
            <a:endParaRPr lang="en-GB" sz="1300" b="0" u="none" strike="noStrike">
              <a:solidFill>
                <a:srgbClr val="000000"/>
              </a:solidFill>
              <a:effectLst/>
              <a:uFillTx/>
              <a:latin typeface="Arial"/>
            </a:endParaRPr>
          </a:p>
          <a:p>
            <a:pPr>
              <a:lnSpc>
                <a:spcPct val="100000"/>
              </a:lnSpc>
              <a:spcAft>
                <a:spcPts val="201"/>
              </a:spcAft>
            </a:pPr>
            <a:r>
              <a:rPr lang="en-GB" sz="1050" b="1" u="none" strike="noStrike">
                <a:solidFill>
                  <a:srgbClr val="F59E0B"/>
                </a:solidFill>
                <a:effectLst/>
                <a:uFillTx/>
                <a:latin typeface="Google Sans Flex SemiBold"/>
              </a:rPr>
              <a:t>• Channel Config: </a:t>
            </a:r>
            <a:r>
              <a:rPr lang="en-GB" sz="1000" b="0" u="none" strike="noStrike">
                <a:solidFill>
                  <a:srgbClr val="1E293B"/>
                </a:solidFill>
                <a:effectLst/>
                <a:uFillTx/>
                <a:latin typeface="Google Sans Flex"/>
              </a:rPr>
              <a:t>Dedicated tabs for Email SMTP (Gmail/Custom), MS Teams Webhooks, and Telegram Bots.</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F59E0B"/>
                </a:solidFill>
                <a:effectLst/>
                <a:uFillTx/>
                <a:latin typeface="Google Sans Flex SemiBold"/>
              </a:rPr>
              <a:t>• Live AI Preview: </a:t>
            </a:r>
            <a:r>
              <a:rPr lang="en-GB" sz="1000" b="0" u="none" strike="noStrike">
                <a:solidFill>
                  <a:srgbClr val="1E293B"/>
                </a:solidFill>
                <a:effectLst/>
                <a:uFillTx/>
                <a:latin typeface="Google Sans Flex"/>
              </a:rPr>
              <a:t>Real-time Gemini greeting card preview rendered in the employee's native language.</a:t>
            </a:r>
            <a:endParaRPr lang="en-GB" sz="1000" b="0" u="none" strike="noStrike">
              <a:solidFill>
                <a:srgbClr val="000000"/>
              </a:solidFill>
              <a:effectLst/>
              <a:uFillTx/>
              <a:latin typeface="Arial"/>
            </a:endParaRPr>
          </a:p>
          <a:p>
            <a:pPr>
              <a:lnSpc>
                <a:spcPct val="100000"/>
              </a:lnSpc>
              <a:spcAft>
                <a:spcPts val="201"/>
              </a:spcAft>
            </a:pPr>
            <a:r>
              <a:rPr lang="en-GB" sz="1050" b="1" u="none" strike="noStrike">
                <a:solidFill>
                  <a:srgbClr val="F59E0B"/>
                </a:solidFill>
                <a:effectLst/>
                <a:uFillTx/>
                <a:latin typeface="Google Sans Flex SemiBold"/>
              </a:rPr>
              <a:t>• Fintech Checkout: </a:t>
            </a:r>
            <a:r>
              <a:rPr lang="en-GB" sz="1000" b="0" u="none" strike="noStrike">
                <a:solidFill>
                  <a:srgbClr val="1E293B"/>
                </a:solidFill>
                <a:effectLst/>
                <a:uFillTx/>
                <a:latin typeface="Google Sans Flex"/>
              </a:rPr>
              <a:t>Dynamic payment QR code with on-device canvas OCR receipt scanning.</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Google Shape;108;p20"/>
          <p:cNvPicPr/>
          <p:nvPr/>
        </p:nvPicPr>
        <p:blipFill>
          <a:blip r:embed="rId1"/>
          <a:srcRect l="0" t="0" r="0" b="97970"/>
          <a:stretch/>
        </p:blipFill>
        <p:spPr>
          <a:xfrm>
            <a:off x="0" y="5093640"/>
            <a:ext cx="9143280" cy="53640"/>
          </a:xfrm>
          <a:prstGeom prst="rect">
            <a:avLst/>
          </a:prstGeom>
          <a:noFill/>
          <a:ln w="0">
            <a:noFill/>
          </a:ln>
        </p:spPr>
      </p:pic>
      <p:pic>
        <p:nvPicPr>
          <p:cNvPr id="118" name="Google Shape;109;p20"/>
          <p:cNvPicPr/>
          <p:nvPr/>
        </p:nvPicPr>
        <p:blipFill>
          <a:blip r:embed="rId2"/>
          <a:stretch/>
        </p:blipFill>
        <p:spPr>
          <a:xfrm>
            <a:off x="0" y="0"/>
            <a:ext cx="9143280" cy="506520"/>
          </a:xfrm>
          <a:prstGeom prst="rect">
            <a:avLst/>
          </a:prstGeom>
          <a:noFill/>
          <a:ln w="0">
            <a:noFill/>
          </a:ln>
        </p:spPr>
      </p:pic>
      <p:sp>
        <p:nvSpPr>
          <p:cNvPr id="119" name="Google Shape;110;p20"/>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20" name="Google Shape;111;p20"/>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Architecture diagram of the proposed solution</a:t>
            </a:r>
            <a:endParaRPr lang="en-GB" sz="1600" b="0" u="none" strike="noStrike">
              <a:solidFill>
                <a:srgbClr val="000000"/>
              </a:solidFill>
              <a:effectLst/>
              <a:uFillTx/>
              <a:latin typeface="Arial"/>
            </a:endParaRPr>
          </a:p>
        </p:txBody>
      </p:sp>
      <p:sp>
        <p:nvSpPr>
          <p:cNvPr id="121" name="Rounded Rectangle 56"/>
          <p:cNvSpPr/>
          <p:nvPr/>
        </p:nvSpPr>
        <p:spPr>
          <a:xfrm>
            <a:off x="360000" y="1299960"/>
            <a:ext cx="8423640" cy="85968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22" name="TextBox 57"/>
          <p:cNvSpPr/>
          <p:nvPr/>
        </p:nvSpPr>
        <p:spPr>
          <a:xfrm>
            <a:off x="479880" y="1360080"/>
            <a:ext cx="8183520" cy="73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200" b="1" u="none" strike="noStrike">
                <a:solidFill>
                  <a:srgbClr val="4F46E5"/>
                </a:solidFill>
                <a:effectLst/>
                <a:uFillTx/>
                <a:latin typeface="Google Sans Flex SemiBold"/>
              </a:rPr>
              <a:t>Layer 1: Presentation &amp; Client Layer (React 19 + Three.js WebGL)</a:t>
            </a:r>
            <a:endParaRPr lang="en-GB" sz="1200" b="0" u="none" strike="noStrike">
              <a:solidFill>
                <a:srgbClr val="000000"/>
              </a:solidFill>
              <a:effectLst/>
              <a:uFillTx/>
              <a:latin typeface="Arial"/>
            </a:endParaRPr>
          </a:p>
          <a:p>
            <a:pPr>
              <a:lnSpc>
                <a:spcPct val="100000"/>
              </a:lnSpc>
            </a:pPr>
            <a:r>
              <a:rPr lang="en-GB" sz="1000" b="1" u="none" strike="noStrike">
                <a:solidFill>
                  <a:srgbClr val="1E293B"/>
                </a:solidFill>
                <a:effectLst/>
                <a:uFillTx/>
                <a:latin typeface="Google Sans Flex SemiBold"/>
              </a:rPr>
              <a:t>Core UI Stack: </a:t>
            </a:r>
            <a:r>
              <a:rPr lang="en-GB" sz="1000" b="0" u="none" strike="noStrike">
                <a:solidFill>
                  <a:srgbClr val="64748B"/>
                </a:solidFill>
                <a:effectLst/>
                <a:uFillTx/>
                <a:latin typeface="Google Sans Flex"/>
              </a:rPr>
              <a:t>React 19.0, TypeScript 5.8, Vite 6.4, Tailwind CSS v4, Lucide React icons.</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3D JAPAC Globe: </a:t>
            </a:r>
            <a:r>
              <a:rPr lang="en-GB" sz="1000" b="0" u="none" strike="noStrike">
                <a:solidFill>
                  <a:srgbClr val="64748B"/>
                </a:solidFill>
                <a:effectLst/>
                <a:uFillTx/>
                <a:latin typeface="Google Sans Flex"/>
              </a:rPr>
              <a:t>Three.js r160 WebGL Earth with GeoJSON border mapping, front-facing lighting, and SLERP arcs.</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Enterprise UX: </a:t>
            </a:r>
            <a:r>
              <a:rPr lang="en-GB" sz="1000" b="0" u="none" strike="noStrike">
                <a:solidFill>
                  <a:srgbClr val="64748B"/>
                </a:solidFill>
                <a:effectLst/>
                <a:uFillTx/>
                <a:latin typeface="Google Sans Flex"/>
              </a:rPr>
              <a:t>Recharts 2.15 analytics, i18next supporting 7 native JAPAC locales with script-safe typography.</a:t>
            </a:r>
            <a:endParaRPr lang="en-GB" sz="1000" b="0" u="none" strike="noStrike">
              <a:solidFill>
                <a:srgbClr val="000000"/>
              </a:solidFill>
              <a:effectLst/>
              <a:uFillTx/>
              <a:latin typeface="Arial"/>
            </a:endParaRPr>
          </a:p>
        </p:txBody>
      </p:sp>
      <p:sp>
        <p:nvSpPr>
          <p:cNvPr id="123" name="Rounded Rectangle 58"/>
          <p:cNvSpPr/>
          <p:nvPr/>
        </p:nvSpPr>
        <p:spPr>
          <a:xfrm>
            <a:off x="360000" y="2220120"/>
            <a:ext cx="8423640" cy="85968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24" name="TextBox 59"/>
          <p:cNvSpPr/>
          <p:nvPr/>
        </p:nvSpPr>
        <p:spPr>
          <a:xfrm>
            <a:off x="479880" y="2279880"/>
            <a:ext cx="8183520" cy="73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200" b="1" u="none" strike="noStrike">
                <a:solidFill>
                  <a:srgbClr val="4285F4"/>
                </a:solidFill>
                <a:effectLst/>
                <a:uFillTx/>
                <a:latin typeface="Google Sans Flex SemiBold"/>
              </a:rPr>
              <a:t>Layer 2: Intelligence &amp; Client-Side Processing Layer</a:t>
            </a:r>
            <a:endParaRPr lang="en-GB" sz="1200" b="0" u="none" strike="noStrike">
              <a:solidFill>
                <a:srgbClr val="000000"/>
              </a:solidFill>
              <a:effectLst/>
              <a:uFillTx/>
              <a:latin typeface="Arial"/>
            </a:endParaRPr>
          </a:p>
          <a:p>
            <a:pPr>
              <a:lnSpc>
                <a:spcPct val="100000"/>
              </a:lnSpc>
            </a:pPr>
            <a:r>
              <a:rPr lang="en-GB" sz="1000" b="1" u="none" strike="noStrike">
                <a:solidFill>
                  <a:srgbClr val="1E293B"/>
                </a:solidFill>
                <a:effectLst/>
                <a:uFillTx/>
                <a:latin typeface="Google Sans Flex SemiBold"/>
              </a:rPr>
              <a:t>Generative AI: </a:t>
            </a:r>
            <a:r>
              <a:rPr lang="en-GB" sz="1000" b="0" u="none" strike="noStrike">
                <a:solidFill>
                  <a:srgbClr val="64748B"/>
                </a:solidFill>
                <a:effectLst/>
                <a:uFillTx/>
                <a:latin typeface="Google Sans Flex"/>
              </a:rPr>
              <a:t>Google Gemini (gemini-2.5-flash) synthesizing personalized, culture-aware celebration copy.</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Client-Side Slip OCR: </a:t>
            </a:r>
            <a:r>
              <a:rPr lang="en-GB" sz="1000" b="0" u="none" strike="noStrike">
                <a:solidFill>
                  <a:srgbClr val="64748B"/>
                </a:solidFill>
                <a:effectLst/>
                <a:uFillTx/>
                <a:latin typeface="Google Sans Flex"/>
              </a:rPr>
              <a:t>HTML5 Canvas luminance and edge-density computer vision scanner verifying payment receipts.</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Data Parsing: </a:t>
            </a:r>
            <a:r>
              <a:rPr lang="en-GB" sz="1000" b="0" u="none" strike="noStrike">
                <a:solidFill>
                  <a:srgbClr val="64748B"/>
                </a:solidFill>
                <a:effectLst/>
                <a:uFillTx/>
                <a:latin typeface="Google Sans Flex"/>
              </a:rPr>
              <a:t>SheetJS (xlsx 0.18.5) client-side Excel/CSV parsing, column schema mapping, and export.</a:t>
            </a:r>
            <a:endParaRPr lang="en-GB" sz="1000" b="0" u="none" strike="noStrike">
              <a:solidFill>
                <a:srgbClr val="000000"/>
              </a:solidFill>
              <a:effectLst/>
              <a:uFillTx/>
              <a:latin typeface="Arial"/>
            </a:endParaRPr>
          </a:p>
        </p:txBody>
      </p:sp>
      <p:sp>
        <p:nvSpPr>
          <p:cNvPr id="125" name="Rounded Rectangle 60"/>
          <p:cNvSpPr/>
          <p:nvPr/>
        </p:nvSpPr>
        <p:spPr>
          <a:xfrm>
            <a:off x="360000" y="3139920"/>
            <a:ext cx="8423640" cy="85968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26" name="TextBox 61"/>
          <p:cNvSpPr/>
          <p:nvPr/>
        </p:nvSpPr>
        <p:spPr>
          <a:xfrm>
            <a:off x="479880" y="3200040"/>
            <a:ext cx="8183520" cy="73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200" b="1" u="none" strike="noStrike">
                <a:solidFill>
                  <a:srgbClr val="10B981"/>
                </a:solidFill>
                <a:effectLst/>
                <a:uFillTx/>
                <a:latin typeface="Google Sans Flex SemiBold"/>
              </a:rPr>
              <a:t>Layer 3: Backend &amp; Serverless Automation Layer</a:t>
            </a:r>
            <a:endParaRPr lang="en-GB" sz="1200" b="0" u="none" strike="noStrike">
              <a:solidFill>
                <a:srgbClr val="000000"/>
              </a:solidFill>
              <a:effectLst/>
              <a:uFillTx/>
              <a:latin typeface="Arial"/>
            </a:endParaRPr>
          </a:p>
          <a:p>
            <a:pPr>
              <a:lnSpc>
                <a:spcPct val="100000"/>
              </a:lnSpc>
            </a:pPr>
            <a:r>
              <a:rPr lang="en-GB" sz="1000" b="1" u="none" strike="noStrike">
                <a:solidFill>
                  <a:srgbClr val="1E293B"/>
                </a:solidFill>
                <a:effectLst/>
                <a:uFillTx/>
                <a:latin typeface="Google Sans Flex SemiBold"/>
              </a:rPr>
              <a:t>Cloud Functions: </a:t>
            </a:r>
            <a:r>
              <a:rPr lang="en-GB" sz="1000" b="0" u="none" strike="noStrike">
                <a:solidFill>
                  <a:srgbClr val="64748B"/>
                </a:solidFill>
                <a:effectLst/>
                <a:uFillTx/>
                <a:latin typeface="Google Sans Flex"/>
              </a:rPr>
              <a:t>Firebase Cloud Functions (Node 20 runtime) executing scheduled milestone evaluation.</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Cloud Scheduler: </a:t>
            </a:r>
            <a:r>
              <a:rPr lang="en-GB" sz="1000" b="0" u="none" strike="noStrike">
                <a:solidFill>
                  <a:srgbClr val="64748B"/>
                </a:solidFill>
                <a:effectLst/>
                <a:uFillTx/>
                <a:latin typeface="Google Sans Flex"/>
              </a:rPr>
              <a:t>Daily cron trigger firing at 09:00 AM (Asia/Rangoon) for zero-touch recognition dispatch.</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Omnichannel Dispatcher: </a:t>
            </a:r>
            <a:r>
              <a:rPr lang="en-GB" sz="1000" b="0" u="none" strike="noStrike">
                <a:solidFill>
                  <a:srgbClr val="64748B"/>
                </a:solidFill>
                <a:effectLst/>
                <a:uFillTx/>
                <a:latin typeface="Google Sans Flex"/>
              </a:rPr>
              <a:t>Nodemailer SMTP (Gmail/Custom), MS Teams Adaptive Cards, Telegram Bot API.</a:t>
            </a:r>
            <a:endParaRPr lang="en-GB" sz="1000" b="0" u="none" strike="noStrike">
              <a:solidFill>
                <a:srgbClr val="000000"/>
              </a:solidFill>
              <a:effectLst/>
              <a:uFillTx/>
              <a:latin typeface="Arial"/>
            </a:endParaRPr>
          </a:p>
        </p:txBody>
      </p:sp>
      <p:sp>
        <p:nvSpPr>
          <p:cNvPr id="127" name="Rounded Rectangle 62"/>
          <p:cNvSpPr/>
          <p:nvPr/>
        </p:nvSpPr>
        <p:spPr>
          <a:xfrm>
            <a:off x="360000" y="4060080"/>
            <a:ext cx="8423640" cy="85968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28" name="TextBox 63"/>
          <p:cNvSpPr/>
          <p:nvPr/>
        </p:nvSpPr>
        <p:spPr>
          <a:xfrm>
            <a:off x="479880" y="4119840"/>
            <a:ext cx="8183520" cy="73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200" b="1" u="none" strike="noStrike">
                <a:solidFill>
                  <a:srgbClr val="0F172A"/>
                </a:solidFill>
                <a:effectLst/>
                <a:uFillTx/>
                <a:latin typeface="Google Sans Flex SemiBold"/>
              </a:rPr>
              <a:t>Layer 4: Persistence, Security &amp; Identity Layer</a:t>
            </a:r>
            <a:endParaRPr lang="en-GB" sz="1200" b="0" u="none" strike="noStrike">
              <a:solidFill>
                <a:srgbClr val="000000"/>
              </a:solidFill>
              <a:effectLst/>
              <a:uFillTx/>
              <a:latin typeface="Arial"/>
            </a:endParaRPr>
          </a:p>
          <a:p>
            <a:pPr>
              <a:lnSpc>
                <a:spcPct val="100000"/>
              </a:lnSpc>
            </a:pPr>
            <a:r>
              <a:rPr lang="en-GB" sz="1000" b="1" u="none" strike="noStrike">
                <a:solidFill>
                  <a:srgbClr val="1E293B"/>
                </a:solidFill>
                <a:effectLst/>
                <a:uFillTx/>
                <a:latin typeface="Google Sans Flex SemiBold"/>
              </a:rPr>
              <a:t>Multi-Tenant DB: </a:t>
            </a:r>
            <a:r>
              <a:rPr lang="en-GB" sz="1000" b="0" u="none" strike="noStrike">
                <a:solidFill>
                  <a:srgbClr val="64748B"/>
                </a:solidFill>
                <a:effectLst/>
                <a:uFillTx/>
                <a:latin typeface="Google Sans Flex"/>
              </a:rPr>
              <a:t>Firebase Firestore with strict collection-level role-based security rules (firestore.rules).</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Identity &amp; RBAC: </a:t>
            </a:r>
            <a:r>
              <a:rPr lang="en-GB" sz="1000" b="0" u="none" strike="noStrike">
                <a:solidFill>
                  <a:srgbClr val="64748B"/>
                </a:solidFill>
                <a:effectLst/>
                <a:uFillTx/>
                <a:latin typeface="Google Sans Flex"/>
              </a:rPr>
              <a:t>Firebase Authentication (Google OAuth, passwordless) + instant Demo Session Store.</a:t>
            </a:r>
            <a:r>
              <a:rPr lang="en-GB" sz="1800" b="0" u="none" strike="noStrike">
                <a:solidFill>
                  <a:srgbClr val="E2E8F0"/>
                </a:solidFill>
                <a:effectLst/>
                <a:uFillTx/>
                <a:latin typeface="Google Sans Flex"/>
              </a:rPr>
              <a:t>   |   </a:t>
            </a:r>
            <a:r>
              <a:rPr lang="en-GB" sz="1000" b="1" u="none" strike="noStrike">
                <a:solidFill>
                  <a:srgbClr val="1E293B"/>
                </a:solidFill>
                <a:effectLst/>
                <a:uFillTx/>
                <a:latin typeface="Google Sans Flex SemiBold"/>
              </a:rPr>
              <a:t>Cloud Run Ready: </a:t>
            </a:r>
            <a:r>
              <a:rPr lang="en-GB" sz="1000" b="0" u="none" strike="noStrike">
                <a:solidFill>
                  <a:srgbClr val="64748B"/>
                </a:solidFill>
                <a:effectLst/>
                <a:uFillTx/>
                <a:latin typeface="Google Sans Flex"/>
              </a:rPr>
              <a:t>Containerized microservice architecture ready for Google Cloud Run deployment.</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Google Shape;116;p21"/>
          <p:cNvPicPr/>
          <p:nvPr/>
        </p:nvPicPr>
        <p:blipFill>
          <a:blip r:embed="rId1"/>
          <a:srcRect l="0" t="0" r="0" b="97970"/>
          <a:stretch/>
        </p:blipFill>
        <p:spPr>
          <a:xfrm>
            <a:off x="0" y="5093640"/>
            <a:ext cx="9143280" cy="53640"/>
          </a:xfrm>
          <a:prstGeom prst="rect">
            <a:avLst/>
          </a:prstGeom>
          <a:noFill/>
          <a:ln w="0">
            <a:noFill/>
          </a:ln>
        </p:spPr>
      </p:pic>
      <p:pic>
        <p:nvPicPr>
          <p:cNvPr id="130" name="Google Shape;117;p21"/>
          <p:cNvPicPr/>
          <p:nvPr/>
        </p:nvPicPr>
        <p:blipFill>
          <a:blip r:embed="rId2"/>
          <a:stretch/>
        </p:blipFill>
        <p:spPr>
          <a:xfrm>
            <a:off x="0" y="0"/>
            <a:ext cx="9143280" cy="506520"/>
          </a:xfrm>
          <a:prstGeom prst="rect">
            <a:avLst/>
          </a:prstGeom>
          <a:noFill/>
          <a:ln w="0">
            <a:noFill/>
          </a:ln>
        </p:spPr>
      </p:pic>
      <p:sp>
        <p:nvSpPr>
          <p:cNvPr id="131" name="Google Shape;118;p21"/>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32" name="Google Shape;119;p21"/>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Technologies to be used in the solution</a:t>
            </a:r>
            <a:endParaRPr lang="en-GB" sz="1600" b="0" u="none" strike="noStrike">
              <a:solidFill>
                <a:srgbClr val="000000"/>
              </a:solidFill>
              <a:effectLst/>
              <a:uFillTx/>
              <a:latin typeface="Arial"/>
            </a:endParaRPr>
          </a:p>
        </p:txBody>
      </p:sp>
      <p:sp>
        <p:nvSpPr>
          <p:cNvPr id="133" name="Rounded Rectangle 60"/>
          <p:cNvSpPr/>
          <p:nvPr/>
        </p:nvSpPr>
        <p:spPr>
          <a:xfrm>
            <a:off x="36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34" name="TextBox 61"/>
          <p:cNvSpPr/>
          <p:nvPr/>
        </p:nvSpPr>
        <p:spPr>
          <a:xfrm>
            <a:off x="43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4F46E5"/>
                </a:solidFill>
                <a:effectLst/>
                <a:uFillTx/>
                <a:latin typeface="Google Sans Flex SemiBold"/>
              </a:rPr>
              <a:t>Frontend &amp; Reactive UI</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4F46E5"/>
                </a:solidFill>
                <a:effectLst/>
                <a:uFillTx/>
                <a:latin typeface="Google Sans Flex SemiBold"/>
              </a:rPr>
              <a:t>• React 19.0: </a:t>
            </a:r>
            <a:r>
              <a:rPr lang="en-GB" sz="900" b="0" u="none" strike="noStrike">
                <a:solidFill>
                  <a:srgbClr val="1E293B"/>
                </a:solidFill>
                <a:effectLst/>
                <a:uFillTx/>
                <a:latin typeface="Google Sans Flex"/>
              </a:rPr>
              <a:t>Concurrent rendering and component architecture.</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F46E5"/>
                </a:solidFill>
                <a:effectLst/>
                <a:uFillTx/>
                <a:latin typeface="Google Sans Flex SemiBold"/>
              </a:rPr>
              <a:t>• TypeScript 5.8: </a:t>
            </a:r>
            <a:r>
              <a:rPr lang="en-GB" sz="900" b="0" u="none" strike="noStrike">
                <a:solidFill>
                  <a:srgbClr val="1E293B"/>
                </a:solidFill>
                <a:effectLst/>
                <a:uFillTx/>
                <a:latin typeface="Google Sans Flex"/>
              </a:rPr>
              <a:t>Strict enterprise typing and schema models.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F46E5"/>
                </a:solidFill>
                <a:effectLst/>
                <a:uFillTx/>
                <a:latin typeface="Google Sans Flex SemiBold"/>
              </a:rPr>
              <a:t>• Vite 6.4: </a:t>
            </a:r>
            <a:r>
              <a:rPr lang="en-GB" sz="900" b="0" u="none" strike="noStrike">
                <a:solidFill>
                  <a:srgbClr val="1E293B"/>
                </a:solidFill>
                <a:effectLst/>
                <a:uFillTx/>
                <a:latin typeface="Google Sans Flex"/>
              </a:rPr>
              <a:t>Lightning-fast HMR and Rollup vendor code-splitting.</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F46E5"/>
                </a:solidFill>
                <a:effectLst/>
                <a:uFillTx/>
                <a:latin typeface="Google Sans Flex SemiBold"/>
              </a:rPr>
              <a:t>• Tailwind CSS v4: </a:t>
            </a:r>
            <a:r>
              <a:rPr lang="en-GB" sz="900" b="0" u="none" strike="noStrike">
                <a:solidFill>
                  <a:srgbClr val="1E293B"/>
                </a:solidFill>
                <a:effectLst/>
                <a:uFillTx/>
                <a:latin typeface="Google Sans Flex"/>
              </a:rPr>
              <a:t>CSS-first modern styling with dark/light themes.</a:t>
            </a:r>
            <a:endParaRPr lang="en-GB" sz="900" b="0" u="none" strike="noStrike">
              <a:solidFill>
                <a:srgbClr val="000000"/>
              </a:solidFill>
              <a:effectLst/>
              <a:uFillTx/>
              <a:latin typeface="Arial"/>
            </a:endParaRPr>
          </a:p>
        </p:txBody>
      </p:sp>
      <p:sp>
        <p:nvSpPr>
          <p:cNvPr id="135" name="Rounded Rectangle 62"/>
          <p:cNvSpPr/>
          <p:nvPr/>
        </p:nvSpPr>
        <p:spPr>
          <a:xfrm>
            <a:off x="324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36" name="TextBox 63"/>
          <p:cNvSpPr/>
          <p:nvPr/>
        </p:nvSpPr>
        <p:spPr>
          <a:xfrm>
            <a:off x="331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4285F4"/>
                </a:solidFill>
                <a:effectLst/>
                <a:uFillTx/>
                <a:latin typeface="Google Sans Flex SemiBold"/>
              </a:rPr>
              <a:t>3D Graphics &amp; Spatial Math</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4285F4"/>
                </a:solidFill>
                <a:effectLst/>
                <a:uFillTx/>
                <a:latin typeface="Google Sans Flex SemiBold"/>
              </a:rPr>
              <a:t>• Three.js r160: </a:t>
            </a:r>
            <a:r>
              <a:rPr lang="en-GB" sz="900" b="0" u="none" strike="noStrike">
                <a:solidFill>
                  <a:srgbClr val="1E293B"/>
                </a:solidFill>
                <a:effectLst/>
                <a:uFillTx/>
                <a:latin typeface="Google Sans Flex"/>
              </a:rPr>
              <a:t>WebGL interactive 3D Earth planet visualization.</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285F4"/>
                </a:solidFill>
                <a:effectLst/>
                <a:uFillTx/>
                <a:latin typeface="Google Sans Flex SemiBold"/>
              </a:rPr>
              <a:t>• GeoJSON Cartography: </a:t>
            </a:r>
            <a:r>
              <a:rPr lang="en-GB" sz="900" b="0" u="none" strike="noStrike">
                <a:solidFill>
                  <a:srgbClr val="1E293B"/>
                </a:solidFill>
                <a:effectLst/>
                <a:uFillTx/>
                <a:latin typeface="Google Sans Flex"/>
              </a:rPr>
              <a:t>Precise country borders for 34 JAPAC territories.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285F4"/>
                </a:solidFill>
                <a:effectLst/>
                <a:uFillTx/>
                <a:latin typeface="Google Sans Flex SemiBold"/>
              </a:rPr>
              <a:t>• SLERP Mathematics: </a:t>
            </a:r>
            <a:r>
              <a:rPr lang="en-GB" sz="900" b="0" u="none" strike="noStrike">
                <a:solidFill>
                  <a:srgbClr val="1E293B"/>
                </a:solidFill>
                <a:effectLst/>
                <a:uFillTx/>
                <a:latin typeface="Google Sans Flex"/>
              </a:rPr>
              <a:t>Spherical linear interpolation for flight arc trajectories.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4285F4"/>
                </a:solidFill>
                <a:effectLst/>
                <a:uFillTx/>
                <a:latin typeface="Google Sans Flex SemiBold"/>
              </a:rPr>
              <a:t>• Front-Facing Lighting: </a:t>
            </a:r>
            <a:r>
              <a:rPr lang="en-GB" sz="900" b="0" u="none" strike="noStrike">
                <a:solidFill>
                  <a:srgbClr val="1E293B"/>
                </a:solidFill>
                <a:effectLst/>
                <a:uFillTx/>
                <a:latin typeface="Google Sans Flex"/>
              </a:rPr>
              <a:t>Camera-anchored lighting preventing dark voids.</a:t>
            </a:r>
            <a:endParaRPr lang="en-GB" sz="900" b="0" u="none" strike="noStrike">
              <a:solidFill>
                <a:srgbClr val="000000"/>
              </a:solidFill>
              <a:effectLst/>
              <a:uFillTx/>
              <a:latin typeface="Arial"/>
            </a:endParaRPr>
          </a:p>
        </p:txBody>
      </p:sp>
      <p:sp>
        <p:nvSpPr>
          <p:cNvPr id="137" name="Rounded Rectangle 64"/>
          <p:cNvSpPr/>
          <p:nvPr/>
        </p:nvSpPr>
        <p:spPr>
          <a:xfrm>
            <a:off x="612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38" name="TextBox 65"/>
          <p:cNvSpPr/>
          <p:nvPr/>
        </p:nvSpPr>
        <p:spPr>
          <a:xfrm>
            <a:off x="619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10B981"/>
                </a:solidFill>
                <a:effectLst/>
                <a:uFillTx/>
                <a:latin typeface="Google Sans Flex SemiBold"/>
              </a:rPr>
              <a:t>Artificial Intelligence &amp; ML</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10B981"/>
                </a:solidFill>
                <a:effectLst/>
                <a:uFillTx/>
                <a:latin typeface="Google Sans Flex SemiBold"/>
              </a:rPr>
              <a:t>• Google Gemini 2.5 Flash: </a:t>
            </a:r>
            <a:r>
              <a:rPr lang="en-GB" sz="900" b="0" u="none" strike="noStrike">
                <a:solidFill>
                  <a:srgbClr val="1E293B"/>
                </a:solidFill>
                <a:effectLst/>
                <a:uFillTx/>
                <a:latin typeface="Google Sans Flex"/>
              </a:rPr>
              <a:t>Multilingual contextual celebration copywriter.</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10B981"/>
                </a:solidFill>
                <a:effectLst/>
                <a:uFillTx/>
                <a:latin typeface="Google Sans Flex SemiBold"/>
              </a:rPr>
              <a:t>• Multimodal Vision OCR: </a:t>
            </a:r>
            <a:r>
              <a:rPr lang="en-GB" sz="900" b="0" u="none" strike="noStrike">
                <a:solidFill>
                  <a:srgbClr val="1E293B"/>
                </a:solidFill>
                <a:effectLst/>
                <a:uFillTx/>
                <a:latin typeface="Google Sans Flex"/>
              </a:rPr>
              <a:t>Automated payment slip and document analysis.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10B981"/>
                </a:solidFill>
                <a:effectLst/>
                <a:uFillTx/>
                <a:latin typeface="Google Sans Flex SemiBold"/>
              </a:rPr>
              <a:t>• Structured JSON Output: </a:t>
            </a:r>
            <a:r>
              <a:rPr lang="en-GB" sz="900" b="0" u="none" strike="noStrike">
                <a:solidFill>
                  <a:srgbClr val="1E293B"/>
                </a:solidFill>
                <a:effectLst/>
                <a:uFillTx/>
                <a:latin typeface="Google Sans Flex"/>
              </a:rPr>
              <a:t>Predictable schema generation for notification payloads.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10B981"/>
                </a:solidFill>
                <a:effectLst/>
                <a:uFillTx/>
                <a:latin typeface="Google Sans Flex SemiBold"/>
              </a:rPr>
              <a:t>• Offline Fallbacks: </a:t>
            </a:r>
            <a:r>
              <a:rPr lang="en-GB" sz="900" b="0" u="none" strike="noStrike">
                <a:solidFill>
                  <a:srgbClr val="1E293B"/>
                </a:solidFill>
                <a:effectLst/>
                <a:uFillTx/>
                <a:latin typeface="Google Sans Flex"/>
              </a:rPr>
              <a:t>Deterministic templates ensuring 100% demo uptime.</a:t>
            </a:r>
            <a:endParaRPr lang="en-GB" sz="900" b="0" u="none" strike="noStrike">
              <a:solidFill>
                <a:srgbClr val="000000"/>
              </a:solidFill>
              <a:effectLst/>
              <a:uFillTx/>
              <a:latin typeface="Arial"/>
            </a:endParaRPr>
          </a:p>
        </p:txBody>
      </p:sp>
      <p:sp>
        <p:nvSpPr>
          <p:cNvPr id="139" name="Rounded Rectangle 66"/>
          <p:cNvSpPr/>
          <p:nvPr/>
        </p:nvSpPr>
        <p:spPr>
          <a:xfrm>
            <a:off x="36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40" name="TextBox 67"/>
          <p:cNvSpPr/>
          <p:nvPr/>
        </p:nvSpPr>
        <p:spPr>
          <a:xfrm>
            <a:off x="43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F43F5E"/>
                </a:solidFill>
                <a:effectLst/>
                <a:uFillTx/>
                <a:latin typeface="Google Sans Flex SemiBold"/>
              </a:rPr>
              <a:t>Cloud &amp; Serverless Backend</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F43F5E"/>
                </a:solidFill>
                <a:effectLst/>
                <a:uFillTx/>
                <a:latin typeface="Google Sans Flex SemiBold"/>
              </a:rPr>
              <a:t>• Firebase Cloud Functions: </a:t>
            </a:r>
            <a:r>
              <a:rPr lang="en-GB" sz="900" b="0" u="none" strike="noStrike">
                <a:solidFill>
                  <a:srgbClr val="1E293B"/>
                </a:solidFill>
                <a:effectLst/>
                <a:uFillTx/>
                <a:latin typeface="Google Sans Flex"/>
              </a:rPr>
              <a:t>Node 20 serverless milestone cron engine.</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43F5E"/>
                </a:solidFill>
                <a:effectLst/>
                <a:uFillTx/>
                <a:latin typeface="Google Sans Flex SemiBold"/>
              </a:rPr>
              <a:t>• Google Cloud Scheduler: </a:t>
            </a:r>
            <a:r>
              <a:rPr lang="en-GB" sz="900" b="0" u="none" strike="noStrike">
                <a:solidFill>
                  <a:srgbClr val="1E293B"/>
                </a:solidFill>
                <a:effectLst/>
                <a:uFillTx/>
                <a:latin typeface="Google Sans Flex"/>
              </a:rPr>
              <a:t>Daily cron trigger at 09:00 AM (Asia/Rangoon).</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43F5E"/>
                </a:solidFill>
                <a:effectLst/>
                <a:uFillTx/>
                <a:latin typeface="Google Sans Flex SemiBold"/>
              </a:rPr>
              <a:t>• Firebase Firestore: </a:t>
            </a:r>
            <a:r>
              <a:rPr lang="en-GB" sz="900" b="0" u="none" strike="noStrike">
                <a:solidFill>
                  <a:srgbClr val="1E293B"/>
                </a:solidFill>
                <a:effectLst/>
                <a:uFillTx/>
                <a:latin typeface="Google Sans Flex"/>
              </a:rPr>
              <a:t>Real-time multi-tenant NoSQL persistence.</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43F5E"/>
                </a:solidFill>
                <a:effectLst/>
                <a:uFillTx/>
                <a:latin typeface="Google Sans Flex SemiBold"/>
              </a:rPr>
              <a:t>• Firebase Authentication: </a:t>
            </a:r>
            <a:r>
              <a:rPr lang="en-GB" sz="900" b="0" u="none" strike="noStrike">
                <a:solidFill>
                  <a:srgbClr val="1E293B"/>
                </a:solidFill>
                <a:effectLst/>
                <a:uFillTx/>
                <a:latin typeface="Google Sans Flex"/>
              </a:rPr>
              <a:t>Google OAuth, passwordless login, and RBAC.</a:t>
            </a:r>
            <a:endParaRPr lang="en-GB" sz="900" b="0" u="none" strike="noStrike">
              <a:solidFill>
                <a:srgbClr val="000000"/>
              </a:solidFill>
              <a:effectLst/>
              <a:uFillTx/>
              <a:latin typeface="Arial"/>
            </a:endParaRPr>
          </a:p>
        </p:txBody>
      </p:sp>
      <p:sp>
        <p:nvSpPr>
          <p:cNvPr id="141" name="Rounded Rectangle 68"/>
          <p:cNvSpPr/>
          <p:nvPr/>
        </p:nvSpPr>
        <p:spPr>
          <a:xfrm>
            <a:off x="324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42" name="TextBox 69"/>
          <p:cNvSpPr/>
          <p:nvPr/>
        </p:nvSpPr>
        <p:spPr>
          <a:xfrm>
            <a:off x="331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F59E0B"/>
                </a:solidFill>
                <a:effectLst/>
                <a:uFillTx/>
                <a:latin typeface="Google Sans Flex SemiBold"/>
              </a:rPr>
              <a:t>Data Processing &amp; Utilities</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F59E0B"/>
                </a:solidFill>
                <a:effectLst/>
                <a:uFillTx/>
                <a:latin typeface="Google Sans Flex SemiBold"/>
              </a:rPr>
              <a:t>• SheetJS (xlsx): </a:t>
            </a:r>
            <a:r>
              <a:rPr lang="en-GB" sz="900" b="0" u="none" strike="noStrike">
                <a:solidFill>
                  <a:srgbClr val="1E293B"/>
                </a:solidFill>
                <a:effectLst/>
                <a:uFillTx/>
                <a:latin typeface="Google Sans Flex"/>
              </a:rPr>
              <a:t>Client-side Excel/CSV parsing and template generation.</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59E0B"/>
                </a:solidFill>
                <a:effectLst/>
                <a:uFillTx/>
                <a:latin typeface="Google Sans Flex SemiBold"/>
              </a:rPr>
              <a:t>• HTML5 Canvas OCR: </a:t>
            </a:r>
            <a:r>
              <a:rPr lang="en-GB" sz="900" b="0" u="none" strike="noStrike">
                <a:solidFill>
                  <a:srgbClr val="1E293B"/>
                </a:solidFill>
                <a:effectLst/>
                <a:uFillTx/>
                <a:latin typeface="Google Sans Flex"/>
              </a:rPr>
              <a:t>Luminance and text-edge computer vision algorithm.</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59E0B"/>
                </a:solidFill>
                <a:effectLst/>
                <a:uFillTx/>
                <a:latin typeface="Google Sans Flex SemiBold"/>
              </a:rPr>
              <a:t>• Recharts 2.15: </a:t>
            </a:r>
            <a:r>
              <a:rPr lang="en-GB" sz="900" b="0" u="none" strike="noStrike">
                <a:solidFill>
                  <a:srgbClr val="1E293B"/>
                </a:solidFill>
                <a:effectLst/>
                <a:uFillTx/>
                <a:latin typeface="Google Sans Flex"/>
              </a:rPr>
              <a:t>Recognition velocity and headcount distribution charts.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F59E0B"/>
                </a:solidFill>
                <a:effectLst/>
                <a:uFillTx/>
                <a:latin typeface="Google Sans Flex SemiBold"/>
              </a:rPr>
              <a:t>• i18next: </a:t>
            </a:r>
            <a:r>
              <a:rPr lang="en-GB" sz="900" b="0" u="none" strike="noStrike">
                <a:solidFill>
                  <a:srgbClr val="1E293B"/>
                </a:solidFill>
                <a:effectLst/>
                <a:uFillTx/>
                <a:latin typeface="Google Sans Flex"/>
              </a:rPr>
              <a:t>Modular per-locale translation bundles for 7 languages.</a:t>
            </a:r>
            <a:endParaRPr lang="en-GB" sz="900" b="0" u="none" strike="noStrike">
              <a:solidFill>
                <a:srgbClr val="000000"/>
              </a:solidFill>
              <a:effectLst/>
              <a:uFillTx/>
              <a:latin typeface="Arial"/>
            </a:endParaRPr>
          </a:p>
        </p:txBody>
      </p:sp>
      <p:sp>
        <p:nvSpPr>
          <p:cNvPr id="143" name="Rounded Rectangle 70"/>
          <p:cNvSpPr/>
          <p:nvPr/>
        </p:nvSpPr>
        <p:spPr>
          <a:xfrm>
            <a:off x="612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44" name="TextBox 71"/>
          <p:cNvSpPr/>
          <p:nvPr/>
        </p:nvSpPr>
        <p:spPr>
          <a:xfrm>
            <a:off x="619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150" b="1" u="none" strike="noStrike">
                <a:solidFill>
                  <a:srgbClr val="0F172A"/>
                </a:solidFill>
                <a:effectLst/>
                <a:uFillTx/>
                <a:latin typeface="Google Sans Flex SemiBold"/>
              </a:rPr>
              <a:t>DevOps &amp; Integrations</a:t>
            </a:r>
            <a:endParaRPr lang="en-GB" sz="1150" b="0" u="none" strike="noStrike">
              <a:solidFill>
                <a:srgbClr val="000000"/>
              </a:solidFill>
              <a:effectLst/>
              <a:uFillTx/>
              <a:latin typeface="Arial"/>
            </a:endParaRPr>
          </a:p>
          <a:p>
            <a:pPr>
              <a:lnSpc>
                <a:spcPct val="100000"/>
              </a:lnSpc>
              <a:spcAft>
                <a:spcPts val="201"/>
              </a:spcAft>
            </a:pPr>
            <a:r>
              <a:rPr lang="en-GB" sz="950" b="1" u="none" strike="noStrike">
                <a:solidFill>
                  <a:srgbClr val="0F172A"/>
                </a:solidFill>
                <a:effectLst/>
                <a:uFillTx/>
                <a:latin typeface="Google Sans Flex SemiBold"/>
              </a:rPr>
              <a:t>• Nodemailer SMTP: </a:t>
            </a:r>
            <a:r>
              <a:rPr lang="en-GB" sz="900" b="0" u="none" strike="noStrike">
                <a:solidFill>
                  <a:srgbClr val="1E293B"/>
                </a:solidFill>
                <a:effectLst/>
                <a:uFillTx/>
                <a:latin typeface="Google Sans Flex"/>
              </a:rPr>
              <a:t>Omnichannel email delivery (Gmail, custom hosts).</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0F172A"/>
                </a:solidFill>
                <a:effectLst/>
                <a:uFillTx/>
                <a:latin typeface="Google Sans Flex SemiBold"/>
              </a:rPr>
              <a:t>• Teams &amp; Telegram: </a:t>
            </a:r>
            <a:r>
              <a:rPr lang="en-GB" sz="900" b="0" u="none" strike="noStrike">
                <a:solidFill>
                  <a:srgbClr val="1E293B"/>
                </a:solidFill>
                <a:effectLst/>
                <a:uFillTx/>
                <a:latin typeface="Google Sans Flex"/>
              </a:rPr>
              <a:t>Adaptive Cards webhooks and Telegram Bot API.</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0F172A"/>
                </a:solidFill>
                <a:effectLst/>
                <a:uFillTx/>
                <a:latin typeface="Google Sans Flex SemiBold"/>
              </a:rPr>
              <a:t>• GitHub Actions: </a:t>
            </a:r>
            <a:r>
              <a:rPr lang="en-GB" sz="900" b="0" u="none" strike="noStrike">
                <a:solidFill>
                  <a:srgbClr val="1E293B"/>
                </a:solidFill>
                <a:effectLst/>
                <a:uFillTx/>
                <a:latin typeface="Google Sans Flex"/>
              </a:rPr>
              <a:t>Automated PR validation, linting, and build verification.</a:t>
            </a:r>
            <a:endParaRPr lang="en-GB" sz="900" b="0" u="none" strike="noStrike">
              <a:solidFill>
                <a:srgbClr val="000000"/>
              </a:solidFill>
              <a:effectLst/>
              <a:uFillTx/>
              <a:latin typeface="Arial"/>
            </a:endParaRPr>
          </a:p>
          <a:p>
            <a:pPr>
              <a:lnSpc>
                <a:spcPct val="100000"/>
              </a:lnSpc>
              <a:spcAft>
                <a:spcPts val="201"/>
              </a:spcAft>
            </a:pPr>
            <a:r>
              <a:rPr lang="en-GB" sz="950" b="1" u="none" strike="noStrike">
                <a:solidFill>
                  <a:srgbClr val="0F172A"/>
                </a:solidFill>
                <a:effectLst/>
                <a:uFillTx/>
                <a:latin typeface="Google Sans Flex SemiBold"/>
              </a:rPr>
              <a:t>• PWA &amp; Offline: </a:t>
            </a:r>
            <a:r>
              <a:rPr lang="en-GB" sz="900" b="0" u="none" strike="noStrike">
                <a:solidFill>
                  <a:srgbClr val="1E293B"/>
                </a:solidFill>
                <a:effectLst/>
                <a:uFillTx/>
                <a:latin typeface="Google Sans Flex"/>
              </a:rPr>
              <a:t>Service Worker and manifest for desktop/mobile install.</a:t>
            </a:r>
            <a:endParaRPr lang="en-GB"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Google Shape;124;p22"/>
          <p:cNvPicPr/>
          <p:nvPr/>
        </p:nvPicPr>
        <p:blipFill>
          <a:blip r:embed="rId1"/>
          <a:srcRect l="0" t="0" r="0" b="97970"/>
          <a:stretch/>
        </p:blipFill>
        <p:spPr>
          <a:xfrm>
            <a:off x="0" y="5093640"/>
            <a:ext cx="9143280" cy="53640"/>
          </a:xfrm>
          <a:prstGeom prst="rect">
            <a:avLst/>
          </a:prstGeom>
          <a:noFill/>
          <a:ln w="0">
            <a:noFill/>
          </a:ln>
        </p:spPr>
      </p:pic>
      <p:pic>
        <p:nvPicPr>
          <p:cNvPr id="146" name="Google Shape;125;p22"/>
          <p:cNvPicPr/>
          <p:nvPr/>
        </p:nvPicPr>
        <p:blipFill>
          <a:blip r:embed="rId2"/>
          <a:stretch/>
        </p:blipFill>
        <p:spPr>
          <a:xfrm>
            <a:off x="0" y="0"/>
            <a:ext cx="9143280" cy="506520"/>
          </a:xfrm>
          <a:prstGeom prst="rect">
            <a:avLst/>
          </a:prstGeom>
          <a:noFill/>
          <a:ln w="0">
            <a:noFill/>
          </a:ln>
        </p:spPr>
      </p:pic>
      <p:sp>
        <p:nvSpPr>
          <p:cNvPr id="147" name="Google Shape;126;p22"/>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48" name="Google Shape;127;p22"/>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Estimated implementation cost (optional)</a:t>
            </a:r>
            <a:endParaRPr lang="en-GB" sz="1600" b="0" u="none" strike="noStrike">
              <a:solidFill>
                <a:srgbClr val="000000"/>
              </a:solidFill>
              <a:effectLst/>
              <a:uFillTx/>
              <a:latin typeface="Arial"/>
            </a:endParaRPr>
          </a:p>
        </p:txBody>
      </p:sp>
      <p:sp>
        <p:nvSpPr>
          <p:cNvPr id="149" name="Rounded Rectangle 64"/>
          <p:cNvSpPr/>
          <p:nvPr/>
        </p:nvSpPr>
        <p:spPr>
          <a:xfrm>
            <a:off x="360000" y="1299960"/>
            <a:ext cx="8423640" cy="234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50" name="TextBox 65"/>
          <p:cNvSpPr/>
          <p:nvPr/>
        </p:nvSpPr>
        <p:spPr>
          <a:xfrm>
            <a:off x="460080" y="1379880"/>
            <a:ext cx="8223480" cy="29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400" b="1" u="none" strike="noStrike">
                <a:solidFill>
                  <a:srgbClr val="0F172A"/>
                </a:solidFill>
                <a:effectLst/>
                <a:uFillTx/>
                <a:latin typeface="Google Sans Flex SemiBold"/>
              </a:rPr>
              <a:t>Google Cloud &amp; Operational Cost Analysis (1,000 Active Employees)</a:t>
            </a:r>
            <a:endParaRPr lang="en-GB" sz="1400" b="0" u="none" strike="noStrike">
              <a:solidFill>
                <a:srgbClr val="000000"/>
              </a:solidFill>
              <a:effectLst/>
              <a:uFillTx/>
              <a:latin typeface="Arial"/>
            </a:endParaRPr>
          </a:p>
        </p:txBody>
      </p:sp>
      <p:sp>
        <p:nvSpPr>
          <p:cNvPr id="151" name="Rounded Rectangle 66"/>
          <p:cNvSpPr/>
          <p:nvPr/>
        </p:nvSpPr>
        <p:spPr>
          <a:xfrm>
            <a:off x="460080" y="1749960"/>
            <a:ext cx="8223480" cy="289800"/>
          </a:xfrm>
          <a:prstGeom prst="roundRect">
            <a:avLst>
              <a:gd name="adj" fmla="val 16667"/>
            </a:avLst>
          </a:prstGeom>
          <a:solidFill>
            <a:srgbClr val="F8FAFC"/>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52" name="TextBox 67"/>
          <p:cNvSpPr/>
          <p:nvPr/>
        </p:nvSpPr>
        <p:spPr>
          <a:xfrm>
            <a:off x="479880" y="177012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Firebase Hosting &amp; Auth        </a:t>
            </a:r>
            <a:r>
              <a:rPr lang="en-GB" sz="950" b="0" u="none" strike="noStrike">
                <a:solidFill>
                  <a:srgbClr val="64748B"/>
                </a:solidFill>
                <a:effectLst/>
                <a:uFillTx/>
                <a:latin typeface="Google Sans Flex"/>
              </a:rPr>
              <a:t>Free Spark Tier                  </a:t>
            </a:r>
            <a:r>
              <a:rPr lang="en-GB" sz="950" b="0" u="none" strike="noStrike">
                <a:solidFill>
                  <a:srgbClr val="1E293B"/>
                </a:solidFill>
                <a:effectLst/>
                <a:uFillTx/>
                <a:latin typeface="Google Sans Flex"/>
              </a:rPr>
              <a:t>Unlimited SSL hosting + Auth identity    </a:t>
            </a:r>
            <a:r>
              <a:rPr lang="en-GB" sz="1000" b="1" u="none" strike="noStrike">
                <a:solidFill>
                  <a:srgbClr val="10B981"/>
                </a:solidFill>
                <a:effectLst/>
                <a:uFillTx/>
                <a:latin typeface="Google Sans Flex SemiBold"/>
              </a:rPr>
              <a:t>$0.00 / month</a:t>
            </a:r>
            <a:endParaRPr lang="en-GB" sz="1000" b="0" u="none" strike="noStrike">
              <a:solidFill>
                <a:srgbClr val="000000"/>
              </a:solidFill>
              <a:effectLst/>
              <a:uFillTx/>
              <a:latin typeface="Arial"/>
            </a:endParaRPr>
          </a:p>
        </p:txBody>
      </p:sp>
      <p:sp>
        <p:nvSpPr>
          <p:cNvPr id="153" name="Rounded Rectangle 68"/>
          <p:cNvSpPr/>
          <p:nvPr/>
        </p:nvSpPr>
        <p:spPr>
          <a:xfrm>
            <a:off x="460080" y="2049840"/>
            <a:ext cx="8223480" cy="289800"/>
          </a:xfrm>
          <a:prstGeom prst="roundRect">
            <a:avLst>
              <a:gd name="adj" fmla="val 16667"/>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54" name="TextBox 69"/>
          <p:cNvSpPr/>
          <p:nvPr/>
        </p:nvSpPr>
        <p:spPr>
          <a:xfrm>
            <a:off x="479880" y="207000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Firebase Cloud Functions       </a:t>
            </a:r>
            <a:r>
              <a:rPr lang="en-GB" sz="950" b="0" u="none" strike="noStrike">
                <a:solidFill>
                  <a:srgbClr val="64748B"/>
                </a:solidFill>
                <a:effectLst/>
                <a:uFillTx/>
                <a:latin typeface="Google Sans Flex"/>
              </a:rPr>
              <a:t>Free Tier (2M invocations/mo)    </a:t>
            </a:r>
            <a:r>
              <a:rPr lang="en-GB" sz="950" b="0" u="none" strike="noStrike">
                <a:solidFill>
                  <a:srgbClr val="1E293B"/>
                </a:solidFill>
                <a:effectLst/>
                <a:uFillTx/>
                <a:latin typeface="Google Sans Flex"/>
              </a:rPr>
              <a:t>30 daily cron executions = 900 runs/mo   </a:t>
            </a:r>
            <a:r>
              <a:rPr lang="en-GB" sz="1000" b="1" u="none" strike="noStrike">
                <a:solidFill>
                  <a:srgbClr val="10B981"/>
                </a:solidFill>
                <a:effectLst/>
                <a:uFillTx/>
                <a:latin typeface="Google Sans Flex SemiBold"/>
              </a:rPr>
              <a:t>$0.00 / month</a:t>
            </a:r>
            <a:endParaRPr lang="en-GB" sz="1000" b="0" u="none" strike="noStrike">
              <a:solidFill>
                <a:srgbClr val="000000"/>
              </a:solidFill>
              <a:effectLst/>
              <a:uFillTx/>
              <a:latin typeface="Arial"/>
            </a:endParaRPr>
          </a:p>
        </p:txBody>
      </p:sp>
      <p:sp>
        <p:nvSpPr>
          <p:cNvPr id="155" name="Rounded Rectangle 70"/>
          <p:cNvSpPr/>
          <p:nvPr/>
        </p:nvSpPr>
        <p:spPr>
          <a:xfrm>
            <a:off x="460080" y="2350080"/>
            <a:ext cx="8223480" cy="289800"/>
          </a:xfrm>
          <a:prstGeom prst="roundRect">
            <a:avLst>
              <a:gd name="adj" fmla="val 16667"/>
            </a:avLst>
          </a:prstGeom>
          <a:solidFill>
            <a:srgbClr val="F8FAFC"/>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56" name="TextBox 71"/>
          <p:cNvSpPr/>
          <p:nvPr/>
        </p:nvSpPr>
        <p:spPr>
          <a:xfrm>
            <a:off x="479880" y="236988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Firebase Firestore Database    </a:t>
            </a:r>
            <a:r>
              <a:rPr lang="en-GB" sz="950" b="0" u="none" strike="noStrike">
                <a:solidFill>
                  <a:srgbClr val="64748B"/>
                </a:solidFill>
                <a:effectLst/>
                <a:uFillTx/>
                <a:latin typeface="Google Sans Flex"/>
              </a:rPr>
              <a:t>Free Tier (50k reads, 20k writes/day) </a:t>
            </a:r>
            <a:r>
              <a:rPr lang="en-GB" sz="950" b="0" u="none" strike="noStrike">
                <a:solidFill>
                  <a:srgbClr val="1E293B"/>
                </a:solidFill>
                <a:effectLst/>
                <a:uFillTx/>
                <a:latin typeface="Google Sans Flex"/>
              </a:rPr>
              <a:t>~3,000 monthly operations                </a:t>
            </a:r>
            <a:r>
              <a:rPr lang="en-GB" sz="1000" b="1" u="none" strike="noStrike">
                <a:solidFill>
                  <a:srgbClr val="10B981"/>
                </a:solidFill>
                <a:effectLst/>
                <a:uFillTx/>
                <a:latin typeface="Google Sans Flex SemiBold"/>
              </a:rPr>
              <a:t>$0.00 / month</a:t>
            </a:r>
            <a:endParaRPr lang="en-GB" sz="1000" b="0" u="none" strike="noStrike">
              <a:solidFill>
                <a:srgbClr val="000000"/>
              </a:solidFill>
              <a:effectLst/>
              <a:uFillTx/>
              <a:latin typeface="Arial"/>
            </a:endParaRPr>
          </a:p>
        </p:txBody>
      </p:sp>
      <p:sp>
        <p:nvSpPr>
          <p:cNvPr id="157" name="Rounded Rectangle 72"/>
          <p:cNvSpPr/>
          <p:nvPr/>
        </p:nvSpPr>
        <p:spPr>
          <a:xfrm>
            <a:off x="460080" y="2649960"/>
            <a:ext cx="8223480" cy="289800"/>
          </a:xfrm>
          <a:prstGeom prst="roundRect">
            <a:avLst>
              <a:gd name="adj" fmla="val 16667"/>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58" name="TextBox 73"/>
          <p:cNvSpPr/>
          <p:nvPr/>
        </p:nvSpPr>
        <p:spPr>
          <a:xfrm>
            <a:off x="479880" y="267012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Google Gemini 2.5 Flash        </a:t>
            </a:r>
            <a:r>
              <a:rPr lang="en-GB" sz="950" b="0" u="none" strike="noStrike">
                <a:solidFill>
                  <a:srgbClr val="64748B"/>
                </a:solidFill>
                <a:effectLst/>
                <a:uFillTx/>
                <a:latin typeface="Google Sans Flex"/>
              </a:rPr>
              <a:t>$0.075 / 1M input, $0.30 / 1M output </a:t>
            </a:r>
            <a:r>
              <a:rPr lang="en-GB" sz="950" b="0" u="none" strike="noStrike">
                <a:solidFill>
                  <a:srgbClr val="1E293B"/>
                </a:solidFill>
                <a:effectLst/>
                <a:uFillTx/>
                <a:latin typeface="Google Sans Flex"/>
              </a:rPr>
              <a:t>~1,000 milestone greetings @ 150 tokens  </a:t>
            </a:r>
            <a:r>
              <a:rPr lang="en-GB" sz="1000" b="1" u="none" strike="noStrike">
                <a:solidFill>
                  <a:srgbClr val="4F46E5"/>
                </a:solidFill>
                <a:effectLst/>
                <a:uFillTx/>
                <a:latin typeface="Google Sans Flex SemiBold"/>
              </a:rPr>
              <a:t>~$0.05 / month</a:t>
            </a:r>
            <a:endParaRPr lang="en-GB" sz="1000" b="0" u="none" strike="noStrike">
              <a:solidFill>
                <a:srgbClr val="000000"/>
              </a:solidFill>
              <a:effectLst/>
              <a:uFillTx/>
              <a:latin typeface="Arial"/>
            </a:endParaRPr>
          </a:p>
        </p:txBody>
      </p:sp>
      <p:sp>
        <p:nvSpPr>
          <p:cNvPr id="159" name="Rounded Rectangle 74"/>
          <p:cNvSpPr/>
          <p:nvPr/>
        </p:nvSpPr>
        <p:spPr>
          <a:xfrm>
            <a:off x="460080" y="2949840"/>
            <a:ext cx="8223480" cy="289800"/>
          </a:xfrm>
          <a:prstGeom prst="roundRect">
            <a:avLst>
              <a:gd name="adj" fmla="val 16667"/>
            </a:avLst>
          </a:prstGeom>
          <a:solidFill>
            <a:srgbClr val="F8FAFC"/>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60" name="TextBox 75"/>
          <p:cNvSpPr/>
          <p:nvPr/>
        </p:nvSpPr>
        <p:spPr>
          <a:xfrm>
            <a:off x="479880" y="297000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Client-Side Slip OCR           </a:t>
            </a:r>
            <a:r>
              <a:rPr lang="en-GB" sz="950" b="0" u="none" strike="noStrike">
                <a:solidFill>
                  <a:srgbClr val="64748B"/>
                </a:solidFill>
                <a:effectLst/>
                <a:uFillTx/>
                <a:latin typeface="Google Sans Flex"/>
              </a:rPr>
              <a:t>Client Browser Execution (Canvas) </a:t>
            </a:r>
            <a:r>
              <a:rPr lang="en-GB" sz="950" b="0" u="none" strike="noStrike">
                <a:solidFill>
                  <a:srgbClr val="1E293B"/>
                </a:solidFill>
                <a:effectLst/>
                <a:uFillTx/>
                <a:latin typeface="Google Sans Flex"/>
              </a:rPr>
              <a:t>Zero external cloud vision API calls     </a:t>
            </a:r>
            <a:r>
              <a:rPr lang="en-GB" sz="1000" b="1" u="none" strike="noStrike">
                <a:solidFill>
                  <a:srgbClr val="10B981"/>
                </a:solidFill>
                <a:effectLst/>
                <a:uFillTx/>
                <a:latin typeface="Google Sans Flex SemiBold"/>
              </a:rPr>
              <a:t>$0.00 / month</a:t>
            </a:r>
            <a:endParaRPr lang="en-GB" sz="1000" b="0" u="none" strike="noStrike">
              <a:solidFill>
                <a:srgbClr val="000000"/>
              </a:solidFill>
              <a:effectLst/>
              <a:uFillTx/>
              <a:latin typeface="Arial"/>
            </a:endParaRPr>
          </a:p>
        </p:txBody>
      </p:sp>
      <p:sp>
        <p:nvSpPr>
          <p:cNvPr id="161" name="Rounded Rectangle 76"/>
          <p:cNvSpPr/>
          <p:nvPr/>
        </p:nvSpPr>
        <p:spPr>
          <a:xfrm>
            <a:off x="460080" y="3250080"/>
            <a:ext cx="8223480" cy="289800"/>
          </a:xfrm>
          <a:prstGeom prst="roundRect">
            <a:avLst>
              <a:gd name="adj" fmla="val 16667"/>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62" name="TextBox 77"/>
          <p:cNvSpPr/>
          <p:nvPr/>
        </p:nvSpPr>
        <p:spPr>
          <a:xfrm>
            <a:off x="479880" y="3269880"/>
            <a:ext cx="8183520" cy="259560"/>
          </a:xfrm>
          <a:prstGeom prst="rect">
            <a:avLst/>
          </a:prstGeom>
          <a:noFill/>
          <a:ln w="0">
            <a:noFill/>
          </a:ln>
        </p:spPr>
        <p:style>
          <a:lnRef idx="0"/>
          <a:fillRef idx="0"/>
          <a:effectRef idx="0"/>
          <a:fontRef idx="minor"/>
        </p:style>
        <p:txBody>
          <a:bodyPr lIns="76320" tIns="76320" rIns="76320" bIns="76320" anchor="t">
            <a:spAutoFit/>
          </a:bodyPr>
          <a:p>
            <a:pPr>
              <a:lnSpc>
                <a:spcPct val="100000"/>
              </a:lnSpc>
            </a:pPr>
            <a:r>
              <a:rPr lang="en-GB" sz="1000" b="1" u="none" strike="noStrike">
                <a:solidFill>
                  <a:srgbClr val="0F172A"/>
                </a:solidFill>
                <a:effectLst/>
                <a:uFillTx/>
                <a:latin typeface="Google Sans Flex SemiBold"/>
              </a:rPr>
              <a:t>Google Cloud Run (Scale Option) </a:t>
            </a:r>
            <a:r>
              <a:rPr lang="en-GB" sz="950" b="0" u="none" strike="noStrike">
                <a:solidFill>
                  <a:srgbClr val="64748B"/>
                </a:solidFill>
                <a:effectLst/>
                <a:uFillTx/>
                <a:latin typeface="Google Sans Flex"/>
              </a:rPr>
              <a:t>Serverless scale-to-zero container </a:t>
            </a:r>
            <a:r>
              <a:rPr lang="en-GB" sz="950" b="0" u="none" strike="noStrike">
                <a:solidFill>
                  <a:srgbClr val="1E293B"/>
                </a:solidFill>
                <a:effectLst/>
                <a:uFillTx/>
                <a:latin typeface="Google Sans Flex"/>
              </a:rPr>
              <a:t>Micro-container for high concurrency     </a:t>
            </a:r>
            <a:r>
              <a:rPr lang="en-GB" sz="1000" b="1" u="none" strike="noStrike">
                <a:solidFill>
                  <a:srgbClr val="4F46E5"/>
                </a:solidFill>
                <a:effectLst/>
                <a:uFillTx/>
                <a:latin typeface="Google Sans Flex SemiBold"/>
              </a:rPr>
              <a:t>$3.00 - $8.00 / mo</a:t>
            </a:r>
            <a:endParaRPr lang="en-GB" sz="1000" b="0" u="none" strike="noStrike">
              <a:solidFill>
                <a:srgbClr val="000000"/>
              </a:solidFill>
              <a:effectLst/>
              <a:uFillTx/>
              <a:latin typeface="Arial"/>
            </a:endParaRPr>
          </a:p>
        </p:txBody>
      </p:sp>
      <p:sp>
        <p:nvSpPr>
          <p:cNvPr id="163" name="Rounded Rectangle 78"/>
          <p:cNvSpPr/>
          <p:nvPr/>
        </p:nvSpPr>
        <p:spPr>
          <a:xfrm>
            <a:off x="360000" y="3750120"/>
            <a:ext cx="8423640" cy="1099800"/>
          </a:xfrm>
          <a:prstGeom prst="roundRect">
            <a:avLst>
              <a:gd name="adj" fmla="val 16667"/>
            </a:avLst>
          </a:prstGeom>
          <a:solidFill>
            <a:srgbClr val="FFFFFF"/>
          </a:solidFill>
          <a:ln w="15240">
            <a:solidFill>
              <a:srgbClr val="C7D2FE"/>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64" name="TextBox 79"/>
          <p:cNvSpPr/>
          <p:nvPr/>
        </p:nvSpPr>
        <p:spPr>
          <a:xfrm>
            <a:off x="460080" y="3819960"/>
            <a:ext cx="8223480" cy="9597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300"/>
              </a:spcAft>
            </a:pPr>
            <a:r>
              <a:rPr lang="en-GB" sz="1350" b="1" u="none" strike="noStrike">
                <a:solidFill>
                  <a:srgbClr val="10B981"/>
                </a:solidFill>
                <a:effectLst/>
                <a:uFillTx/>
                <a:latin typeface="Google Sans Flex SemiBold"/>
              </a:rPr>
              <a:t>Total Estimated Monthly TCO: &lt; $10.00 / month</a:t>
            </a:r>
            <a:endParaRPr lang="en-GB" sz="1350" b="0" u="none" strike="noStrike">
              <a:solidFill>
                <a:srgbClr val="000000"/>
              </a:solidFill>
              <a:effectLst/>
              <a:uFillTx/>
              <a:latin typeface="Arial"/>
            </a:endParaRPr>
          </a:p>
          <a:p>
            <a:pPr>
              <a:lnSpc>
                <a:spcPct val="100000"/>
              </a:lnSpc>
            </a:pPr>
            <a:r>
              <a:rPr lang="en-GB" sz="1050" b="0" u="none" strike="noStrike">
                <a:solidFill>
                  <a:srgbClr val="1E293B"/>
                </a:solidFill>
                <a:effectLst/>
                <a:uFillTx/>
                <a:latin typeface="Google Sans Flex"/>
              </a:rPr>
              <a:t>Key Economic Moat: By leveraging client-side Canvas computer vision for mobile wallet slip validation, Milestone eliminates expensive third-party vision API fees. Combined with Gemini 2.5 Flash's ultra-efficient token pricing, enterprises can automate workforce recognition across thousands of employees for mere pennies per month.</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Google Shape;132;p23"/>
          <p:cNvPicPr/>
          <p:nvPr/>
        </p:nvPicPr>
        <p:blipFill>
          <a:blip r:embed="rId1"/>
          <a:srcRect l="0" t="0" r="0" b="97970"/>
          <a:stretch/>
        </p:blipFill>
        <p:spPr>
          <a:xfrm>
            <a:off x="0" y="5093640"/>
            <a:ext cx="9143280" cy="53640"/>
          </a:xfrm>
          <a:prstGeom prst="rect">
            <a:avLst/>
          </a:prstGeom>
          <a:noFill/>
          <a:ln w="0">
            <a:noFill/>
          </a:ln>
        </p:spPr>
      </p:pic>
      <p:pic>
        <p:nvPicPr>
          <p:cNvPr id="166" name="Google Shape;133;p23"/>
          <p:cNvPicPr/>
          <p:nvPr/>
        </p:nvPicPr>
        <p:blipFill>
          <a:blip r:embed="rId2"/>
          <a:stretch/>
        </p:blipFill>
        <p:spPr>
          <a:xfrm>
            <a:off x="0" y="0"/>
            <a:ext cx="9143280" cy="506520"/>
          </a:xfrm>
          <a:prstGeom prst="rect">
            <a:avLst/>
          </a:prstGeom>
          <a:noFill/>
          <a:ln w="0">
            <a:noFill/>
          </a:ln>
        </p:spPr>
      </p:pic>
      <p:sp>
        <p:nvSpPr>
          <p:cNvPr id="167" name="Google Shape;134;p23"/>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68" name="Google Shape;135;p23"/>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Snapshots of the prototype</a:t>
            </a:r>
            <a:endParaRPr lang="en-GB" sz="1600" b="0" u="none" strike="noStrike">
              <a:solidFill>
                <a:srgbClr val="000000"/>
              </a:solidFill>
              <a:effectLst/>
              <a:uFillTx/>
              <a:latin typeface="Arial"/>
            </a:endParaRPr>
          </a:p>
        </p:txBody>
      </p:sp>
      <p:sp>
        <p:nvSpPr>
          <p:cNvPr id="169" name="Rounded Rectangle 69"/>
          <p:cNvSpPr/>
          <p:nvPr/>
        </p:nvSpPr>
        <p:spPr>
          <a:xfrm>
            <a:off x="4759920" y="1299960"/>
            <a:ext cx="402372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70" name="TextBox 70"/>
          <p:cNvSpPr/>
          <p:nvPr/>
        </p:nvSpPr>
        <p:spPr>
          <a:xfrm>
            <a:off x="4860000" y="1379880"/>
            <a:ext cx="3823560" cy="338976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400"/>
              </a:spcAft>
            </a:pPr>
            <a:r>
              <a:rPr lang="en-GB" sz="1400" b="1" u="none" strike="noStrike">
                <a:solidFill>
                  <a:srgbClr val="0F172A"/>
                </a:solidFill>
                <a:effectLst/>
                <a:uFillTx/>
                <a:latin typeface="Google Sans Flex SemiBold"/>
              </a:rPr>
              <a:t>Key Prototype Views &amp; Capabilities</a:t>
            </a:r>
            <a:endParaRPr lang="en-GB" sz="1400" b="0" u="none" strike="noStrike">
              <a:solidFill>
                <a:srgbClr val="000000"/>
              </a:solidFill>
              <a:effectLst/>
              <a:uFillTx/>
              <a:latin typeface="Arial"/>
            </a:endParaRPr>
          </a:p>
          <a:p>
            <a:pPr>
              <a:lnSpc>
                <a:spcPct val="100000"/>
              </a:lnSpc>
              <a:spcAft>
                <a:spcPts val="400"/>
              </a:spcAft>
            </a:pPr>
            <a:r>
              <a:rPr lang="en-GB" sz="1050" b="1" u="none" strike="noStrike">
                <a:solidFill>
                  <a:srgbClr val="4F46E5"/>
                </a:solidFill>
                <a:effectLst/>
                <a:uFillTx/>
                <a:latin typeface="Google Sans Flex SemiBold"/>
              </a:rPr>
              <a:t>• Cinematic 50/50 Hero Split Login: </a:t>
            </a:r>
            <a:r>
              <a:rPr lang="en-GB" sz="1000" b="0" u="none" strike="noStrike">
                <a:solidFill>
                  <a:srgbClr val="1E293B"/>
                </a:solidFill>
                <a:effectLst/>
                <a:uFillTx/>
                <a:latin typeface="Google Sans Flex"/>
              </a:rPr>
              <a:t>Features 3D WebGL Earth orienting to Singapore/JAPAC sunrise shader, Google OAuth, and 1-Click Judge Demo Mode.</a:t>
            </a:r>
            <a:endParaRPr lang="en-GB" sz="1000" b="0" u="none" strike="noStrike">
              <a:solidFill>
                <a:srgbClr val="000000"/>
              </a:solidFill>
              <a:effectLst/>
              <a:uFillTx/>
              <a:latin typeface="Arial"/>
            </a:endParaRPr>
          </a:p>
          <a:p>
            <a:pPr>
              <a:lnSpc>
                <a:spcPct val="100000"/>
              </a:lnSpc>
              <a:spcAft>
                <a:spcPts val="400"/>
              </a:spcAft>
            </a:pPr>
            <a:r>
              <a:rPr lang="en-GB" sz="1050" b="1" u="none" strike="noStrike">
                <a:solidFill>
                  <a:srgbClr val="4F46E5"/>
                </a:solidFill>
                <a:effectLst/>
                <a:uFillTx/>
                <a:latin typeface="Google Sans Flex SemiBold"/>
              </a:rPr>
              <a:t>• Executive Recognition Dashboard: </a:t>
            </a:r>
            <a:r>
              <a:rPr lang="en-GB" sz="1000" b="0" u="none" strike="noStrike">
                <a:solidFill>
                  <a:srgbClr val="1E293B"/>
                </a:solidFill>
                <a:effectLst/>
                <a:uFillTx/>
                <a:latin typeface="Google Sans Flex"/>
              </a:rPr>
              <a:t>Real-time recognition velocity area charts, 7-day upcoming celebration radar, and department distribution.</a:t>
            </a:r>
            <a:endParaRPr lang="en-GB" sz="1000" b="0" u="none" strike="noStrike">
              <a:solidFill>
                <a:srgbClr val="000000"/>
              </a:solidFill>
              <a:effectLst/>
              <a:uFillTx/>
              <a:latin typeface="Arial"/>
            </a:endParaRPr>
          </a:p>
          <a:p>
            <a:pPr>
              <a:lnSpc>
                <a:spcPct val="100000"/>
              </a:lnSpc>
              <a:spcAft>
                <a:spcPts val="400"/>
              </a:spcAft>
            </a:pPr>
            <a:r>
              <a:rPr lang="en-GB" sz="1050" b="1" u="none" strike="noStrike">
                <a:solidFill>
                  <a:srgbClr val="4F46E5"/>
                </a:solidFill>
                <a:effectLst/>
                <a:uFillTx/>
                <a:latin typeface="Google Sans Flex SemiBold"/>
              </a:rPr>
              <a:t>• Employee Roster Hub: </a:t>
            </a:r>
            <a:r>
              <a:rPr lang="en-GB" sz="1000" b="0" u="none" strike="noStrike">
                <a:solidFill>
                  <a:srgbClr val="1E293B"/>
                </a:solidFill>
                <a:effectLst/>
                <a:uFillTx/>
                <a:latin typeface="Google Sans Flex"/>
              </a:rPr>
              <a:t>Instant SheetJS Excel drag-and-drop parsing, automated column detection, and 1-click toggle switches for auto-emails.</a:t>
            </a:r>
            <a:endParaRPr lang="en-GB" sz="1000" b="0" u="none" strike="noStrike">
              <a:solidFill>
                <a:srgbClr val="000000"/>
              </a:solidFill>
              <a:effectLst/>
              <a:uFillTx/>
              <a:latin typeface="Arial"/>
            </a:endParaRPr>
          </a:p>
          <a:p>
            <a:pPr>
              <a:lnSpc>
                <a:spcPct val="100000"/>
              </a:lnSpc>
              <a:spcAft>
                <a:spcPts val="400"/>
              </a:spcAft>
            </a:pPr>
            <a:r>
              <a:rPr lang="en-GB" sz="1050" b="1" u="none" strike="noStrike">
                <a:solidFill>
                  <a:srgbClr val="4F46E5"/>
                </a:solidFill>
                <a:effectLst/>
                <a:uFillTx/>
                <a:latin typeface="Google Sans Flex SemiBold"/>
              </a:rPr>
              <a:t>• Omnichannel Settings &amp; AI Preview: </a:t>
            </a:r>
            <a:r>
              <a:rPr lang="en-GB" sz="1000" b="0" u="none" strike="noStrike">
                <a:solidFill>
                  <a:srgbClr val="1E293B"/>
                </a:solidFill>
                <a:effectLst/>
                <a:uFillTx/>
                <a:latin typeface="Google Sans Flex"/>
              </a:rPr>
              <a:t>Live preview of Gemini AI personalized greetings across 7 languages, test dispatch via SMTP, Teams, Telegram.</a:t>
            </a:r>
            <a:endParaRPr lang="en-GB" sz="1000" b="0" u="none" strike="noStrike">
              <a:solidFill>
                <a:srgbClr val="000000"/>
              </a:solidFill>
              <a:effectLst/>
              <a:uFillTx/>
              <a:latin typeface="Arial"/>
            </a:endParaRPr>
          </a:p>
          <a:p>
            <a:pPr>
              <a:lnSpc>
                <a:spcPct val="100000"/>
              </a:lnSpc>
              <a:spcAft>
                <a:spcPts val="400"/>
              </a:spcAft>
            </a:pPr>
            <a:r>
              <a:rPr lang="en-GB" sz="1050" b="1" u="none" strike="noStrike">
                <a:solidFill>
                  <a:srgbClr val="4F46E5"/>
                </a:solidFill>
                <a:effectLst/>
                <a:uFillTx/>
                <a:latin typeface="Google Sans Flex SemiBold"/>
              </a:rPr>
              <a:t>• Client-Side Slip OCR Checkout: </a:t>
            </a:r>
            <a:r>
              <a:rPr lang="en-GB" sz="1000" b="0" u="none" strike="noStrike">
                <a:solidFill>
                  <a:srgbClr val="1E293B"/>
                </a:solidFill>
                <a:effectLst/>
                <a:uFillTx/>
                <a:latin typeface="Google Sans Flex"/>
              </a:rPr>
              <a:t>Instant computer vision scanning of Southeast Asian mobile wallet receipts (KBZ Pay, Wave Pay) with 5-min order timer.</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1" name="Google Shape;140;p24"/>
          <p:cNvPicPr/>
          <p:nvPr/>
        </p:nvPicPr>
        <p:blipFill>
          <a:blip r:embed="rId1"/>
          <a:srcRect l="0" t="0" r="0" b="97970"/>
          <a:stretch/>
        </p:blipFill>
        <p:spPr>
          <a:xfrm>
            <a:off x="0" y="5093640"/>
            <a:ext cx="9143280" cy="53640"/>
          </a:xfrm>
          <a:prstGeom prst="rect">
            <a:avLst/>
          </a:prstGeom>
          <a:noFill/>
          <a:ln w="0">
            <a:noFill/>
          </a:ln>
        </p:spPr>
      </p:pic>
      <p:pic>
        <p:nvPicPr>
          <p:cNvPr id="172" name="Google Shape;141;p24"/>
          <p:cNvPicPr/>
          <p:nvPr/>
        </p:nvPicPr>
        <p:blipFill>
          <a:blip r:embed="rId2"/>
          <a:stretch/>
        </p:blipFill>
        <p:spPr>
          <a:xfrm>
            <a:off x="0" y="0"/>
            <a:ext cx="9143280" cy="506520"/>
          </a:xfrm>
          <a:prstGeom prst="rect">
            <a:avLst/>
          </a:prstGeom>
          <a:noFill/>
          <a:ln w="0">
            <a:noFill/>
          </a:ln>
        </p:spPr>
      </p:pic>
      <p:sp>
        <p:nvSpPr>
          <p:cNvPr id="173" name="Google Shape;142;p24"/>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74" name="Google Shape;143;p24"/>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Prototype Performance report/Benchmarking</a:t>
            </a:r>
            <a:endParaRPr lang="en-GB" sz="1600" b="0" u="none" strike="noStrike">
              <a:solidFill>
                <a:srgbClr val="000000"/>
              </a:solidFill>
              <a:effectLst/>
              <a:uFillTx/>
              <a:latin typeface="Arial"/>
            </a:endParaRPr>
          </a:p>
        </p:txBody>
      </p:sp>
      <p:sp>
        <p:nvSpPr>
          <p:cNvPr id="175" name="Rounded Rectangle 72"/>
          <p:cNvSpPr/>
          <p:nvPr/>
        </p:nvSpPr>
        <p:spPr>
          <a:xfrm>
            <a:off x="36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76" name="TextBox 73"/>
          <p:cNvSpPr/>
          <p:nvPr/>
        </p:nvSpPr>
        <p:spPr>
          <a:xfrm>
            <a:off x="43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4F46E5"/>
                </a:solidFill>
                <a:effectLst/>
                <a:uFillTx/>
                <a:latin typeface="Google Sans Flex SemiBold"/>
              </a:rPr>
              <a:t>366 kB</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Lean Entry Bundle</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Reduced from 1,820 kB via Rollup vendor chunking (vendor-firebase, vendor-xlsx, vendor-recharts) and route lazy loading.</a:t>
            </a:r>
            <a:endParaRPr lang="en-GB" sz="950" b="0" u="none" strike="noStrike">
              <a:solidFill>
                <a:srgbClr val="000000"/>
              </a:solidFill>
              <a:effectLst/>
              <a:uFillTx/>
              <a:latin typeface="Arial"/>
            </a:endParaRPr>
          </a:p>
        </p:txBody>
      </p:sp>
      <p:sp>
        <p:nvSpPr>
          <p:cNvPr id="177" name="Rounded Rectangle 74"/>
          <p:cNvSpPr/>
          <p:nvPr/>
        </p:nvSpPr>
        <p:spPr>
          <a:xfrm>
            <a:off x="324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78" name="TextBox 75"/>
          <p:cNvSpPr/>
          <p:nvPr/>
        </p:nvSpPr>
        <p:spPr>
          <a:xfrm>
            <a:off x="331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4285F4"/>
                </a:solidFill>
                <a:effectLst/>
                <a:uFillTx/>
                <a:latin typeface="Google Sans Flex SemiBold"/>
              </a:rPr>
              <a:t>60 FPS</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3D WebGL Earth</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Silky smooth 60 FPS animation with 34 JAPAC territory nodes, front-facing camera illumination, and zero compositor lag.</a:t>
            </a:r>
            <a:endParaRPr lang="en-GB" sz="950" b="0" u="none" strike="noStrike">
              <a:solidFill>
                <a:srgbClr val="000000"/>
              </a:solidFill>
              <a:effectLst/>
              <a:uFillTx/>
              <a:latin typeface="Arial"/>
            </a:endParaRPr>
          </a:p>
        </p:txBody>
      </p:sp>
      <p:sp>
        <p:nvSpPr>
          <p:cNvPr id="179" name="Rounded Rectangle 76"/>
          <p:cNvSpPr/>
          <p:nvPr/>
        </p:nvSpPr>
        <p:spPr>
          <a:xfrm>
            <a:off x="6120000" y="12999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80" name="TextBox 77"/>
          <p:cNvSpPr/>
          <p:nvPr/>
        </p:nvSpPr>
        <p:spPr>
          <a:xfrm>
            <a:off x="6199920" y="136008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10B981"/>
                </a:solidFill>
                <a:effectLst/>
                <a:uFillTx/>
                <a:latin typeface="Google Sans Flex SemiBold"/>
              </a:rPr>
              <a:t>&lt; 1.2s</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AI Copy Latency</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Average response time for Google Gemini 2.5 Flash to synthesize culturally tailored greetings in 7 regional languages.</a:t>
            </a:r>
            <a:endParaRPr lang="en-GB" sz="950" b="0" u="none" strike="noStrike">
              <a:solidFill>
                <a:srgbClr val="000000"/>
              </a:solidFill>
              <a:effectLst/>
              <a:uFillTx/>
              <a:latin typeface="Arial"/>
            </a:endParaRPr>
          </a:p>
        </p:txBody>
      </p:sp>
      <p:sp>
        <p:nvSpPr>
          <p:cNvPr id="181" name="Rounded Rectangle 78"/>
          <p:cNvSpPr/>
          <p:nvPr/>
        </p:nvSpPr>
        <p:spPr>
          <a:xfrm>
            <a:off x="36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82" name="TextBox 79"/>
          <p:cNvSpPr/>
          <p:nvPr/>
        </p:nvSpPr>
        <p:spPr>
          <a:xfrm>
            <a:off x="43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F59E0B"/>
                </a:solidFill>
                <a:effectLst/>
                <a:uFillTx/>
                <a:latin typeface="Google Sans Flex SemiBold"/>
              </a:rPr>
              <a:t>&lt; 250ms</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Client-Side OCR</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Instant receipt verification using in-browser luminance and text-edge density analysis on mobile &amp; desktop.</a:t>
            </a:r>
            <a:endParaRPr lang="en-GB" sz="950" b="0" u="none" strike="noStrike">
              <a:solidFill>
                <a:srgbClr val="000000"/>
              </a:solidFill>
              <a:effectLst/>
              <a:uFillTx/>
              <a:latin typeface="Arial"/>
            </a:endParaRPr>
          </a:p>
        </p:txBody>
      </p:sp>
      <p:sp>
        <p:nvSpPr>
          <p:cNvPr id="183" name="Rounded Rectangle 80"/>
          <p:cNvSpPr/>
          <p:nvPr/>
        </p:nvSpPr>
        <p:spPr>
          <a:xfrm>
            <a:off x="324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84" name="TextBox 81"/>
          <p:cNvSpPr/>
          <p:nvPr/>
        </p:nvSpPr>
        <p:spPr>
          <a:xfrm>
            <a:off x="331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F43F5E"/>
                </a:solidFill>
                <a:effectLst/>
                <a:uFillTx/>
                <a:latin typeface="Google Sans Flex SemiBold"/>
              </a:rPr>
              <a:t>5.3s</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Production Build</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Fast Vite + strict TypeScript (tsc -b) build time verifying complete type safety and modular chunk outputs.</a:t>
            </a:r>
            <a:endParaRPr lang="en-GB" sz="950" b="0" u="none" strike="noStrike">
              <a:solidFill>
                <a:srgbClr val="000000"/>
              </a:solidFill>
              <a:effectLst/>
              <a:uFillTx/>
              <a:latin typeface="Arial"/>
            </a:endParaRPr>
          </a:p>
        </p:txBody>
      </p:sp>
      <p:sp>
        <p:nvSpPr>
          <p:cNvPr id="185" name="Rounded Rectangle 82"/>
          <p:cNvSpPr/>
          <p:nvPr/>
        </p:nvSpPr>
        <p:spPr>
          <a:xfrm>
            <a:off x="6120000" y="3080160"/>
            <a:ext cx="2739600" cy="167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86" name="TextBox 83"/>
          <p:cNvSpPr/>
          <p:nvPr/>
        </p:nvSpPr>
        <p:spPr>
          <a:xfrm>
            <a:off x="6199920" y="3139920"/>
            <a:ext cx="2579760" cy="155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99"/>
              </a:spcAft>
            </a:pPr>
            <a:r>
              <a:rPr lang="en-GB" sz="2200" b="1" u="none" strike="noStrike">
                <a:solidFill>
                  <a:srgbClr val="0F172A"/>
                </a:solidFill>
                <a:effectLst/>
                <a:uFillTx/>
                <a:latin typeface="Google Sans Flex SemiBold"/>
              </a:rPr>
              <a:t>100%</a:t>
            </a:r>
            <a:endParaRPr lang="en-GB" sz="2200" b="0" u="none" strike="noStrike">
              <a:solidFill>
                <a:srgbClr val="000000"/>
              </a:solidFill>
              <a:effectLst/>
              <a:uFillTx/>
              <a:latin typeface="Arial"/>
            </a:endParaRPr>
          </a:p>
          <a:p>
            <a:pPr>
              <a:lnSpc>
                <a:spcPct val="100000"/>
              </a:lnSpc>
              <a:spcAft>
                <a:spcPts val="300"/>
              </a:spcAft>
            </a:pPr>
            <a:r>
              <a:rPr lang="en-GB" sz="1100" b="1" u="none" strike="noStrike">
                <a:solidFill>
                  <a:srgbClr val="0F172A"/>
                </a:solidFill>
                <a:effectLst/>
                <a:uFillTx/>
                <a:latin typeface="Google Sans Flex SemiBold"/>
              </a:rPr>
              <a:t>Demo Resilience</a:t>
            </a:r>
            <a:endParaRPr lang="en-GB" sz="1100" b="0" u="none" strike="noStrike">
              <a:solidFill>
                <a:srgbClr val="000000"/>
              </a:solidFill>
              <a:effectLst/>
              <a:uFillTx/>
              <a:latin typeface="Arial"/>
            </a:endParaRPr>
          </a:p>
          <a:p>
            <a:pPr>
              <a:lnSpc>
                <a:spcPct val="100000"/>
              </a:lnSpc>
            </a:pPr>
            <a:r>
              <a:rPr lang="en-GB" sz="950" b="0" u="none" strike="noStrike">
                <a:solidFill>
                  <a:srgbClr val="64748B"/>
                </a:solidFill>
                <a:effectLst/>
                <a:uFillTx/>
                <a:latin typeface="Google Sans Flex"/>
              </a:rPr>
              <a:t>Zero cloud credential requirement for hackathon evaluation; persistent local storage fallback prevents any demo failure.</a:t>
            </a:r>
            <a:endParaRPr lang="en-GB"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Google Shape;148;p25"/>
          <p:cNvPicPr/>
          <p:nvPr/>
        </p:nvPicPr>
        <p:blipFill>
          <a:blip r:embed="rId1"/>
          <a:srcRect l="0" t="0" r="0" b="97970"/>
          <a:stretch/>
        </p:blipFill>
        <p:spPr>
          <a:xfrm>
            <a:off x="0" y="5093640"/>
            <a:ext cx="9143280" cy="53640"/>
          </a:xfrm>
          <a:prstGeom prst="rect">
            <a:avLst/>
          </a:prstGeom>
          <a:noFill/>
          <a:ln w="0">
            <a:noFill/>
          </a:ln>
        </p:spPr>
      </p:pic>
      <p:pic>
        <p:nvPicPr>
          <p:cNvPr id="188" name="Google Shape;149;p25"/>
          <p:cNvPicPr/>
          <p:nvPr/>
        </p:nvPicPr>
        <p:blipFill>
          <a:blip r:embed="rId2"/>
          <a:stretch/>
        </p:blipFill>
        <p:spPr>
          <a:xfrm>
            <a:off x="0" y="0"/>
            <a:ext cx="9143280" cy="506520"/>
          </a:xfrm>
          <a:prstGeom prst="rect">
            <a:avLst/>
          </a:prstGeom>
          <a:noFill/>
          <a:ln w="0">
            <a:noFill/>
          </a:ln>
        </p:spPr>
      </p:pic>
      <p:sp>
        <p:nvSpPr>
          <p:cNvPr id="189" name="Google Shape;150;p25"/>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190" name="Google Shape;151;p25"/>
          <p:cNvSpPr/>
          <p:nvPr/>
        </p:nvSpPr>
        <p:spPr>
          <a:xfrm>
            <a:off x="265320" y="663840"/>
            <a:ext cx="8942400" cy="5612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600" b="0" u="none" strike="noStrike">
                <a:solidFill>
                  <a:srgbClr val="000000"/>
                </a:solidFill>
                <a:effectLst/>
                <a:uFillTx/>
                <a:latin typeface="Google Sans Flex Medium"/>
                <a:ea typeface="Google Sans Flex Medium"/>
              </a:rPr>
              <a:t>Additional Details/Future Development (if any)</a:t>
            </a:r>
            <a:endParaRPr lang="en-GB" sz="1600" b="0" u="none" strike="noStrike">
              <a:solidFill>
                <a:srgbClr val="000000"/>
              </a:solidFill>
              <a:effectLst/>
              <a:uFillTx/>
              <a:latin typeface="Arial"/>
            </a:endParaRPr>
          </a:p>
        </p:txBody>
      </p:sp>
      <p:sp>
        <p:nvSpPr>
          <p:cNvPr id="191" name="Rounded Rectangle 76"/>
          <p:cNvSpPr/>
          <p:nvPr/>
        </p:nvSpPr>
        <p:spPr>
          <a:xfrm>
            <a:off x="360000" y="1299960"/>
            <a:ext cx="842364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92" name="TextBox 77"/>
          <p:cNvSpPr/>
          <p:nvPr/>
        </p:nvSpPr>
        <p:spPr>
          <a:xfrm>
            <a:off x="479880" y="1350000"/>
            <a:ext cx="8183520" cy="71964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F46E5"/>
                </a:solidFill>
                <a:effectLst/>
                <a:uFillTx/>
                <a:latin typeface="Google Sans Flex SemiBold"/>
              </a:rPr>
              <a:t>Phase 1 (Q1 2027): Autonomous HR Agent Engine</a:t>
            </a:r>
            <a:endParaRPr lang="en-GB" sz="1150" b="0" u="none" strike="noStrike">
              <a:solidFill>
                <a:srgbClr val="000000"/>
              </a:solidFill>
              <a:effectLst/>
              <a:uFillTx/>
              <a:latin typeface="Arial"/>
            </a:endParaRPr>
          </a:p>
          <a:p>
            <a:pPr>
              <a:lnSpc>
                <a:spcPct val="100000"/>
              </a:lnSpc>
            </a:pPr>
            <a:r>
              <a:rPr lang="en-GB" sz="950" b="1" u="none" strike="noStrike">
                <a:solidFill>
                  <a:srgbClr val="1E293B"/>
                </a:solidFill>
                <a:effectLst/>
                <a:uFillTx/>
                <a:latin typeface="Google Sans Flex SemiBold"/>
              </a:rPr>
              <a:t>Vertex AI Agent Engine: </a:t>
            </a:r>
            <a:r>
              <a:rPr lang="en-GB" sz="950" b="0" u="none" strike="noStrike">
                <a:solidFill>
                  <a:srgbClr val="64748B"/>
                </a:solidFill>
                <a:effectLst/>
                <a:uFillTx/>
                <a:latin typeface="Google Sans Flex"/>
              </a:rPr>
              <a:t>Transition from scheduled cron to autonomous agent monitoring employee engagement.</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Retention Health Scoring: </a:t>
            </a:r>
            <a:r>
              <a:rPr lang="en-GB" sz="950" b="0" u="none" strike="noStrike">
                <a:solidFill>
                  <a:srgbClr val="64748B"/>
                </a:solidFill>
                <a:effectLst/>
                <a:uFillTx/>
                <a:latin typeface="Google Sans Flex"/>
              </a:rPr>
              <a:t>Machine learning model predicting employee flight and burnout risk based on recognition intervals.</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HR Policy RAG: </a:t>
            </a:r>
            <a:r>
              <a:rPr lang="en-GB" sz="950" b="0" u="none" strike="noStrike">
                <a:solidFill>
                  <a:srgbClr val="64748B"/>
                </a:solidFill>
                <a:effectLst/>
                <a:uFillTx/>
                <a:latin typeface="Google Sans Flex"/>
              </a:rPr>
              <a:t>Grounded retrieval for company benefits, tenure awards, and milestone policies.</a:t>
            </a:r>
            <a:endParaRPr lang="en-GB" sz="950" b="0" u="none" strike="noStrike">
              <a:solidFill>
                <a:srgbClr val="000000"/>
              </a:solidFill>
              <a:effectLst/>
              <a:uFillTx/>
              <a:latin typeface="Arial"/>
            </a:endParaRPr>
          </a:p>
        </p:txBody>
      </p:sp>
      <p:sp>
        <p:nvSpPr>
          <p:cNvPr id="193" name="Rounded Rectangle 78"/>
          <p:cNvSpPr/>
          <p:nvPr/>
        </p:nvSpPr>
        <p:spPr>
          <a:xfrm>
            <a:off x="360000" y="2180160"/>
            <a:ext cx="842364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94" name="TextBox 79"/>
          <p:cNvSpPr/>
          <p:nvPr/>
        </p:nvSpPr>
        <p:spPr>
          <a:xfrm>
            <a:off x="479880" y="2229840"/>
            <a:ext cx="8183520" cy="71964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4285F4"/>
                </a:solidFill>
                <a:effectLst/>
                <a:uFillTx/>
                <a:latin typeface="Google Sans Flex SemiBold"/>
              </a:rPr>
              <a:t>Phase 2 (Q2 2027): Voice-First Multimodal Experience</a:t>
            </a:r>
            <a:endParaRPr lang="en-GB" sz="1150" b="0" u="none" strike="noStrike">
              <a:solidFill>
                <a:srgbClr val="000000"/>
              </a:solidFill>
              <a:effectLst/>
              <a:uFillTx/>
              <a:latin typeface="Arial"/>
            </a:endParaRPr>
          </a:p>
          <a:p>
            <a:pPr>
              <a:lnSpc>
                <a:spcPct val="100000"/>
              </a:lnSpc>
            </a:pPr>
            <a:r>
              <a:rPr lang="en-GB" sz="950" b="1" u="none" strike="noStrike">
                <a:solidFill>
                  <a:srgbClr val="1E293B"/>
                </a:solidFill>
                <a:effectLst/>
                <a:uFillTx/>
                <a:latin typeface="Google Sans Flex SemiBold"/>
              </a:rPr>
              <a:t>Google Cloud Speech-to-Text: </a:t>
            </a:r>
            <a:r>
              <a:rPr lang="en-GB" sz="950" b="0" u="none" strike="noStrike">
                <a:solidFill>
                  <a:srgbClr val="64748B"/>
                </a:solidFill>
                <a:effectLst/>
                <a:uFillTx/>
                <a:latin typeface="Google Sans Flex"/>
              </a:rPr>
              <a:t>Hands-free voice search and milestone queries across all 7 regional languages.</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Google Cloud Text-to-Speech: </a:t>
            </a:r>
            <a:r>
              <a:rPr lang="en-GB" sz="950" b="0" u="none" strike="noStrike">
                <a:solidFill>
                  <a:srgbClr val="64748B"/>
                </a:solidFill>
                <a:effectLst/>
                <a:uFillTx/>
                <a:latin typeface="Google Sans Flex"/>
              </a:rPr>
              <a:t>AI-synthesized spoken milestone celebration greetings in authentic native accents.</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PWA Voice Bar: </a:t>
            </a:r>
            <a:r>
              <a:rPr lang="en-GB" sz="950" b="0" u="none" strike="noStrike">
                <a:solidFill>
                  <a:srgbClr val="64748B"/>
                </a:solidFill>
                <a:effectLst/>
                <a:uFillTx/>
                <a:latin typeface="Google Sans Flex"/>
              </a:rPr>
              <a:t>Pulsing voice command orb for instant voice-activated workforce management.</a:t>
            </a:r>
            <a:endParaRPr lang="en-GB" sz="950" b="0" u="none" strike="noStrike">
              <a:solidFill>
                <a:srgbClr val="000000"/>
              </a:solidFill>
              <a:effectLst/>
              <a:uFillTx/>
              <a:latin typeface="Arial"/>
            </a:endParaRPr>
          </a:p>
        </p:txBody>
      </p:sp>
      <p:sp>
        <p:nvSpPr>
          <p:cNvPr id="195" name="Rounded Rectangle 80"/>
          <p:cNvSpPr/>
          <p:nvPr/>
        </p:nvSpPr>
        <p:spPr>
          <a:xfrm>
            <a:off x="360000" y="3060000"/>
            <a:ext cx="842364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96" name="TextBox 81"/>
          <p:cNvSpPr/>
          <p:nvPr/>
        </p:nvSpPr>
        <p:spPr>
          <a:xfrm>
            <a:off x="479880" y="3110040"/>
            <a:ext cx="8183520" cy="71964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10B981"/>
                </a:solidFill>
                <a:effectLst/>
                <a:uFillTx/>
                <a:latin typeface="Google Sans Flex SemiBold"/>
              </a:rPr>
              <a:t>Phase 3 (Q3 2027): Enterprise HCM &amp; Cloud ERP Connectors</a:t>
            </a:r>
            <a:endParaRPr lang="en-GB" sz="1150" b="0" u="none" strike="noStrike">
              <a:solidFill>
                <a:srgbClr val="000000"/>
              </a:solidFill>
              <a:effectLst/>
              <a:uFillTx/>
              <a:latin typeface="Arial"/>
            </a:endParaRPr>
          </a:p>
          <a:p>
            <a:pPr>
              <a:lnSpc>
                <a:spcPct val="100000"/>
              </a:lnSpc>
            </a:pPr>
            <a:r>
              <a:rPr lang="en-GB" sz="950" b="1" u="none" strike="noStrike">
                <a:solidFill>
                  <a:srgbClr val="1E293B"/>
                </a:solidFill>
                <a:effectLst/>
                <a:uFillTx/>
                <a:latin typeface="Google Sans Flex SemiBold"/>
              </a:rPr>
              <a:t>Turnkey HCM Connectors: </a:t>
            </a:r>
            <a:r>
              <a:rPr lang="en-GB" sz="950" b="0" u="none" strike="noStrike">
                <a:solidFill>
                  <a:srgbClr val="64748B"/>
                </a:solidFill>
                <a:effectLst/>
                <a:uFillTx/>
                <a:latin typeface="Google Sans Flex"/>
              </a:rPr>
              <a:t>Direct bidirectional sync with Workday, SAP SuccessFactors, BambooHR, and Darwinbox.</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Google Workspace Add-On: </a:t>
            </a:r>
            <a:r>
              <a:rPr lang="en-GB" sz="950" b="0" u="none" strike="noStrike">
                <a:solidFill>
                  <a:srgbClr val="64748B"/>
                </a:solidFill>
                <a:effectLst/>
                <a:uFillTx/>
                <a:latin typeface="Google Sans Flex"/>
              </a:rPr>
              <a:t>1-click Google Calendar integration and Gmail celebration draft assistant.</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Enterprise Single Sign-On: </a:t>
            </a:r>
            <a:r>
              <a:rPr lang="en-GB" sz="950" b="0" u="none" strike="noStrike">
                <a:solidFill>
                  <a:srgbClr val="64748B"/>
                </a:solidFill>
                <a:effectLst/>
                <a:uFillTx/>
                <a:latin typeface="Google Sans Flex"/>
              </a:rPr>
              <a:t>SAML 2.0 / Okta / Azure AD enterprise directory synchronization.</a:t>
            </a:r>
            <a:endParaRPr lang="en-GB" sz="950" b="0" u="none" strike="noStrike">
              <a:solidFill>
                <a:srgbClr val="000000"/>
              </a:solidFill>
              <a:effectLst/>
              <a:uFillTx/>
              <a:latin typeface="Arial"/>
            </a:endParaRPr>
          </a:p>
        </p:txBody>
      </p:sp>
      <p:sp>
        <p:nvSpPr>
          <p:cNvPr id="197" name="Rounded Rectangle 82"/>
          <p:cNvSpPr/>
          <p:nvPr/>
        </p:nvSpPr>
        <p:spPr>
          <a:xfrm>
            <a:off x="360000" y="3939840"/>
            <a:ext cx="8423640" cy="81972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198" name="TextBox 83"/>
          <p:cNvSpPr/>
          <p:nvPr/>
        </p:nvSpPr>
        <p:spPr>
          <a:xfrm>
            <a:off x="479880" y="3989880"/>
            <a:ext cx="8183520" cy="71964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150" b="1" u="none" strike="noStrike">
                <a:solidFill>
                  <a:srgbClr val="F59E0B"/>
                </a:solidFill>
                <a:effectLst/>
                <a:uFillTx/>
                <a:latin typeface="Google Sans Flex SemiBold"/>
              </a:rPr>
              <a:t>Phase 4 (Q4 2027): Automated Physical Gift &amp; Voucher Delivery</a:t>
            </a:r>
            <a:endParaRPr lang="en-GB" sz="1150" b="0" u="none" strike="noStrike">
              <a:solidFill>
                <a:srgbClr val="000000"/>
              </a:solidFill>
              <a:effectLst/>
              <a:uFillTx/>
              <a:latin typeface="Arial"/>
            </a:endParaRPr>
          </a:p>
          <a:p>
            <a:pPr>
              <a:lnSpc>
                <a:spcPct val="100000"/>
              </a:lnSpc>
            </a:pPr>
            <a:r>
              <a:rPr lang="en-GB" sz="950" b="1" u="none" strike="noStrike">
                <a:solidFill>
                  <a:srgbClr val="1E293B"/>
                </a:solidFill>
                <a:effectLst/>
                <a:uFillTx/>
                <a:latin typeface="Google Sans Flex SemiBold"/>
              </a:rPr>
              <a:t>Regional Logistics Hub: </a:t>
            </a:r>
            <a:r>
              <a:rPr lang="en-GB" sz="950" b="0" u="none" strike="noStrike">
                <a:solidFill>
                  <a:srgbClr val="64748B"/>
                </a:solidFill>
                <a:effectLst/>
                <a:uFillTx/>
                <a:latin typeface="Google Sans Flex"/>
              </a:rPr>
              <a:t>Integration with ASEAN e-commerce &amp; delivery partners for automated physical gift hamper dispatch.</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Digital Gift Cards: </a:t>
            </a:r>
            <a:r>
              <a:rPr lang="en-GB" sz="950" b="0" u="none" strike="noStrike">
                <a:solidFill>
                  <a:srgbClr val="64748B"/>
                </a:solidFill>
                <a:effectLst/>
                <a:uFillTx/>
                <a:latin typeface="Google Sans Flex"/>
              </a:rPr>
              <a:t>Instant digital gift voucher distribution (Grab, Shopee, Lazada, Central) tied to milestone awards.</a:t>
            </a:r>
            <a:r>
              <a:rPr lang="en-GB" sz="1800" b="0" u="none" strike="noStrike">
                <a:solidFill>
                  <a:srgbClr val="E2E8F0"/>
                </a:solidFill>
                <a:effectLst/>
                <a:uFillTx/>
                <a:latin typeface="Google Sans Flex"/>
              </a:rPr>
              <a:t>   |   </a:t>
            </a:r>
            <a:r>
              <a:rPr lang="en-GB" sz="950" b="1" u="none" strike="noStrike">
                <a:solidFill>
                  <a:srgbClr val="1E293B"/>
                </a:solidFill>
                <a:effectLst/>
                <a:uFillTx/>
                <a:latin typeface="Google Sans Flex SemiBold"/>
              </a:rPr>
              <a:t>Culture Box Subscriptions: </a:t>
            </a:r>
            <a:r>
              <a:rPr lang="en-GB" sz="950" b="0" u="none" strike="noStrike">
                <a:solidFill>
                  <a:srgbClr val="64748B"/>
                </a:solidFill>
                <a:effectLst/>
                <a:uFillTx/>
                <a:latin typeface="Google Sans Flex"/>
              </a:rPr>
              <a:t>Customized regional celebration gift boxes celebrating national cultural festivals.</a:t>
            </a:r>
            <a:endParaRPr lang="en-GB"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156;p26"/>
          <p:cNvPicPr/>
          <p:nvPr/>
        </p:nvPicPr>
        <p:blipFill>
          <a:blip r:embed="rId1"/>
          <a:srcRect l="0" t="0" r="0" b="97970"/>
          <a:stretch/>
        </p:blipFill>
        <p:spPr>
          <a:xfrm>
            <a:off x="0" y="5093640"/>
            <a:ext cx="9143280" cy="53640"/>
          </a:xfrm>
          <a:prstGeom prst="rect">
            <a:avLst/>
          </a:prstGeom>
          <a:noFill/>
          <a:ln w="0">
            <a:noFill/>
          </a:ln>
        </p:spPr>
      </p:pic>
      <p:pic>
        <p:nvPicPr>
          <p:cNvPr id="200" name="Google Shape;157;p26"/>
          <p:cNvPicPr/>
          <p:nvPr/>
        </p:nvPicPr>
        <p:blipFill>
          <a:blip r:embed="rId2"/>
          <a:stretch/>
        </p:blipFill>
        <p:spPr>
          <a:xfrm>
            <a:off x="0" y="0"/>
            <a:ext cx="9143280" cy="506520"/>
          </a:xfrm>
          <a:prstGeom prst="rect">
            <a:avLst/>
          </a:prstGeom>
          <a:noFill/>
          <a:ln w="0">
            <a:noFill/>
          </a:ln>
        </p:spPr>
      </p:pic>
      <p:sp>
        <p:nvSpPr>
          <p:cNvPr id="201" name="Google Shape;158;p26"/>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202" name="Google Shape;159;p26"/>
          <p:cNvSpPr/>
          <p:nvPr/>
        </p:nvSpPr>
        <p:spPr>
          <a:xfrm>
            <a:off x="265320" y="663840"/>
            <a:ext cx="8942400" cy="1333080"/>
          </a:xfrm>
          <a:prstGeom prst="rect">
            <a:avLst/>
          </a:prstGeom>
          <a:noFill/>
          <a:ln w="0">
            <a:noFill/>
          </a:ln>
        </p:spPr>
        <p:style>
          <a:lnRef idx="0"/>
          <a:fillRef idx="0"/>
          <a:effectRef idx="0"/>
          <a:fontRef idx="minor"/>
        </p:style>
        <p:txBody>
          <a:bodyPr lIns="90000" tIns="91440" rIns="90000" bIns="91440" anchor="t">
            <a:noAutofit/>
          </a:bodyPr>
          <a:p>
            <a:endParaRPr lang="en-GB" sz="1800" b="0" u="none" strike="noStrike">
              <a:solidFill>
                <a:srgbClr val="000000"/>
              </a:solidFill>
              <a:effectLst/>
              <a:uFillTx/>
              <a:latin typeface="Arial"/>
            </a:endParaRPr>
          </a:p>
        </p:txBody>
      </p:sp>
      <p:sp>
        <p:nvSpPr>
          <p:cNvPr id="203" name="Rounded Rectangle 80"/>
          <p:cNvSpPr/>
          <p:nvPr/>
        </p:nvSpPr>
        <p:spPr>
          <a:xfrm>
            <a:off x="360000" y="1299960"/>
            <a:ext cx="8423640" cy="104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204" name="TextBox 81"/>
          <p:cNvSpPr/>
          <p:nvPr/>
        </p:nvSpPr>
        <p:spPr>
          <a:xfrm>
            <a:off x="500040" y="1360080"/>
            <a:ext cx="8143560" cy="92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300" b="1" u="none" strike="noStrike">
                <a:solidFill>
                  <a:srgbClr val="0F172A"/>
                </a:solidFill>
                <a:effectLst/>
                <a:uFillTx/>
                <a:latin typeface="Google Sans Flex SemiBold"/>
              </a:rPr>
              <a:t>GitHub Public Repository</a:t>
            </a:r>
            <a:endParaRPr lang="en-GB" sz="1300" b="0" u="none" strike="noStrike">
              <a:solidFill>
                <a:srgbClr val="000000"/>
              </a:solidFill>
              <a:effectLst/>
              <a:uFillTx/>
              <a:latin typeface="Arial"/>
            </a:endParaRPr>
          </a:p>
          <a:p>
            <a:pPr>
              <a:lnSpc>
                <a:spcPct val="100000"/>
              </a:lnSpc>
              <a:spcAft>
                <a:spcPts val="201"/>
              </a:spcAft>
            </a:pPr>
            <a:r>
              <a:rPr lang="en-GB" sz="1150" b="1" u="none" strike="noStrike">
                <a:solidFill>
                  <a:srgbClr val="4285F4"/>
                </a:solidFill>
                <a:effectLst/>
                <a:uFillTx/>
                <a:latin typeface="Google Sans Flex SemiBold"/>
              </a:rPr>
              <a:t>https://github.com/vibecode-ting/employee-milestone-notifications-ai</a:t>
            </a:r>
            <a:endParaRPr lang="en-GB" sz="1150" b="0" u="none" strike="noStrike">
              <a:solidFill>
                <a:srgbClr val="000000"/>
              </a:solidFill>
              <a:effectLst/>
              <a:uFillTx/>
              <a:latin typeface="Arial"/>
            </a:endParaRPr>
          </a:p>
          <a:p>
            <a:pPr>
              <a:lnSpc>
                <a:spcPct val="100000"/>
              </a:lnSpc>
            </a:pPr>
            <a:r>
              <a:rPr lang="en-GB" sz="1000" b="0" u="none" strike="noStrike">
                <a:solidFill>
                  <a:srgbClr val="64748B"/>
                </a:solidFill>
                <a:effectLst/>
                <a:uFillTx/>
                <a:latin typeface="Google Sans Flex"/>
              </a:rPr>
              <a:t>Access full source code, CI/CD GitHub Actions workflows, Cloud Functions backend, Firestore security rules, and technical documentation.</a:t>
            </a:r>
            <a:endParaRPr lang="en-GB" sz="1000" b="0" u="none" strike="noStrike">
              <a:solidFill>
                <a:srgbClr val="000000"/>
              </a:solidFill>
              <a:effectLst/>
              <a:uFillTx/>
              <a:latin typeface="Arial"/>
            </a:endParaRPr>
          </a:p>
        </p:txBody>
      </p:sp>
      <p:sp>
        <p:nvSpPr>
          <p:cNvPr id="205" name="Rounded Rectangle 82"/>
          <p:cNvSpPr/>
          <p:nvPr/>
        </p:nvSpPr>
        <p:spPr>
          <a:xfrm>
            <a:off x="360000" y="2469960"/>
            <a:ext cx="8423640" cy="104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206" name="TextBox 83"/>
          <p:cNvSpPr/>
          <p:nvPr/>
        </p:nvSpPr>
        <p:spPr>
          <a:xfrm>
            <a:off x="500040" y="2530080"/>
            <a:ext cx="8143560" cy="92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300" b="1" u="none" strike="noStrike">
                <a:solidFill>
                  <a:srgbClr val="F43F5E"/>
                </a:solidFill>
                <a:effectLst/>
                <a:uFillTx/>
                <a:latin typeface="Google Sans Flex SemiBold"/>
              </a:rPr>
              <a:t>Demo Video Link (3 Minutes)</a:t>
            </a:r>
            <a:endParaRPr lang="en-GB" sz="1300" b="0" u="none" strike="noStrike">
              <a:solidFill>
                <a:srgbClr val="000000"/>
              </a:solidFill>
              <a:effectLst/>
              <a:uFillTx/>
              <a:latin typeface="Arial"/>
            </a:endParaRPr>
          </a:p>
          <a:p>
            <a:pPr>
              <a:lnSpc>
                <a:spcPct val="100000"/>
              </a:lnSpc>
              <a:spcAft>
                <a:spcPts val="201"/>
              </a:spcAft>
            </a:pPr>
            <a:r>
              <a:rPr lang="en-GB" sz="1150" b="1" u="none" strike="noStrike">
                <a:solidFill>
                  <a:srgbClr val="4285F4"/>
                </a:solidFill>
                <a:effectLst/>
                <a:uFillTx/>
                <a:latin typeface="Google Sans Flex SemiBold"/>
              </a:rPr>
              <a:t>https://youtu.be/placeholder-demo-video</a:t>
            </a:r>
            <a:endParaRPr lang="en-GB" sz="1150" b="0" u="none" strike="noStrike">
              <a:solidFill>
                <a:srgbClr val="000000"/>
              </a:solidFill>
              <a:effectLst/>
              <a:uFillTx/>
              <a:latin typeface="Arial"/>
            </a:endParaRPr>
          </a:p>
          <a:p>
            <a:pPr>
              <a:lnSpc>
                <a:spcPct val="100000"/>
              </a:lnSpc>
            </a:pPr>
            <a:r>
              <a:rPr lang="en-GB" sz="1000" b="0" u="none" strike="noStrike">
                <a:solidFill>
                  <a:srgbClr val="64748B"/>
                </a:solidFill>
                <a:effectLst/>
                <a:uFillTx/>
                <a:latin typeface="Google Sans Flex"/>
              </a:rPr>
              <a:t>3-minute comprehensive walkthrough of 3D Earth WebGL, Gemini AI copywriter, Excel roster ingestion, and client-side payment slip OCR checkout.</a:t>
            </a:r>
            <a:endParaRPr lang="en-GB" sz="1000" b="0" u="none" strike="noStrike">
              <a:solidFill>
                <a:srgbClr val="000000"/>
              </a:solidFill>
              <a:effectLst/>
              <a:uFillTx/>
              <a:latin typeface="Arial"/>
            </a:endParaRPr>
          </a:p>
        </p:txBody>
      </p:sp>
      <p:sp>
        <p:nvSpPr>
          <p:cNvPr id="207" name="Rounded Rectangle 84"/>
          <p:cNvSpPr/>
          <p:nvPr/>
        </p:nvSpPr>
        <p:spPr>
          <a:xfrm>
            <a:off x="360000" y="3639960"/>
            <a:ext cx="8423640" cy="104976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208" name="TextBox 85"/>
          <p:cNvSpPr/>
          <p:nvPr/>
        </p:nvSpPr>
        <p:spPr>
          <a:xfrm>
            <a:off x="500040" y="3700080"/>
            <a:ext cx="8143560" cy="92952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201"/>
              </a:spcAft>
            </a:pPr>
            <a:r>
              <a:rPr lang="en-GB" sz="1300" b="1" u="none" strike="noStrike">
                <a:solidFill>
                  <a:srgbClr val="4285F4"/>
                </a:solidFill>
                <a:effectLst/>
                <a:uFillTx/>
                <a:latin typeface="Google Sans Flex SemiBold"/>
              </a:rPr>
              <a:t>Final Product Link</a:t>
            </a:r>
            <a:endParaRPr lang="en-GB" sz="1300" b="0" u="none" strike="noStrike">
              <a:solidFill>
                <a:srgbClr val="000000"/>
              </a:solidFill>
              <a:effectLst/>
              <a:uFillTx/>
              <a:latin typeface="Arial"/>
            </a:endParaRPr>
          </a:p>
          <a:p>
            <a:pPr>
              <a:lnSpc>
                <a:spcPct val="100000"/>
              </a:lnSpc>
              <a:spcAft>
                <a:spcPts val="201"/>
              </a:spcAft>
            </a:pPr>
            <a:r>
              <a:rPr lang="en-GB" sz="1150" b="1" u="none" strike="noStrike">
                <a:solidFill>
                  <a:srgbClr val="4285F4"/>
                </a:solidFill>
                <a:effectLst/>
                <a:uFillTx/>
                <a:latin typeface="Google Sans Flex SemiBold"/>
              </a:rPr>
              <a:t>https://milestone-app.web.app</a:t>
            </a:r>
            <a:endParaRPr lang="en-GB" sz="1150" b="0" u="none" strike="noStrike">
              <a:solidFill>
                <a:srgbClr val="000000"/>
              </a:solidFill>
              <a:effectLst/>
              <a:uFillTx/>
              <a:latin typeface="Arial"/>
            </a:endParaRPr>
          </a:p>
          <a:p>
            <a:pPr>
              <a:lnSpc>
                <a:spcPct val="100000"/>
              </a:lnSpc>
            </a:pPr>
            <a:r>
              <a:rPr lang="en-GB" sz="1000" b="0" u="none" strike="noStrike">
                <a:solidFill>
                  <a:srgbClr val="64748B"/>
                </a:solidFill>
                <a:effectLst/>
                <a:uFillTx/>
                <a:latin typeface="Google Sans Flex"/>
              </a:rPr>
              <a:t>Live production web deployment with 1-Click Instant Demo Mode for immediate hackathon judge evaluation with zero setup.</a:t>
            </a:r>
            <a:endParaRPr lang="en-GB"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9" name="Google Shape;164;p27"/>
          <p:cNvPicPr/>
          <p:nvPr/>
        </p:nvPicPr>
        <p:blipFill>
          <a:blip r:embed="rId1"/>
          <a:srcRect l="0" t="0" r="0" b="97970"/>
          <a:stretch/>
        </p:blipFill>
        <p:spPr>
          <a:xfrm>
            <a:off x="0" y="5093640"/>
            <a:ext cx="9143280" cy="53640"/>
          </a:xfrm>
          <a:prstGeom prst="rect">
            <a:avLst/>
          </a:prstGeom>
          <a:noFill/>
          <a:ln w="0">
            <a:noFill/>
          </a:ln>
        </p:spPr>
      </p:pic>
      <p:pic>
        <p:nvPicPr>
          <p:cNvPr id="210" name="Google Shape;165;p27"/>
          <p:cNvPicPr/>
          <p:nvPr/>
        </p:nvPicPr>
        <p:blipFill>
          <a:blip r:embed="rId2"/>
          <a:stretch/>
        </p:blipFill>
        <p:spPr>
          <a:xfrm>
            <a:off x="0" y="0"/>
            <a:ext cx="9143280" cy="506520"/>
          </a:xfrm>
          <a:prstGeom prst="rect">
            <a:avLst/>
          </a:prstGeom>
          <a:noFill/>
          <a:ln w="0">
            <a:noFill/>
          </a:ln>
        </p:spPr>
      </p:pic>
      <p:sp>
        <p:nvSpPr>
          <p:cNvPr id="211" name="Google Shape;166;p27"/>
          <p:cNvSpPr/>
          <p:nvPr/>
        </p:nvSpPr>
        <p:spPr>
          <a:xfrm>
            <a:off x="-29160" y="5072040"/>
            <a:ext cx="9172800" cy="97200"/>
          </a:xfrm>
          <a:prstGeom prst="rect">
            <a:avLst/>
          </a:prstGeom>
          <a:solidFill>
            <a:schemeClr val="dk1"/>
          </a:solidFill>
          <a:ln w="0">
            <a:noFill/>
          </a:ln>
        </p:spPr>
        <p:style>
          <a:lnRef idx="0"/>
          <a:fillRef idx="0"/>
          <a:effectRef idx="0"/>
          <a:fontRef idx="minor"/>
        </p:style>
        <p:txBody>
          <a:bodyPr lIns="90000" tIns="48600" rIns="90000" bIns="48600" anchor="ctr">
            <a:noAutofit/>
          </a:bodyPr>
          <a:p>
            <a:endParaRPr lang="en-GB" sz="1400" b="0" u="none" strike="noStrike">
              <a:solidFill>
                <a:srgbClr val="FFFFFF"/>
              </a:solidFill>
              <a:effectLst/>
              <a:uFillTx/>
              <a:latin typeface="Arial"/>
            </a:endParaRPr>
          </a:p>
        </p:txBody>
      </p:sp>
      <p:sp>
        <p:nvSpPr>
          <p:cNvPr id="212" name="Rounded Rectangle 83"/>
          <p:cNvSpPr/>
          <p:nvPr/>
        </p:nvSpPr>
        <p:spPr>
          <a:xfrm>
            <a:off x="360000" y="1299960"/>
            <a:ext cx="4099680" cy="3549600"/>
          </a:xfrm>
          <a:prstGeom prst="roundRect">
            <a:avLst>
              <a:gd name="adj" fmla="val 16667"/>
            </a:avLst>
          </a:prstGeom>
          <a:solidFill>
            <a:srgbClr val="FFFFFF"/>
          </a:solidFill>
          <a:ln w="15240">
            <a:solidFill>
              <a:srgbClr val="C7D2FE"/>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213" name="TextBox 84"/>
          <p:cNvSpPr/>
          <p:nvPr/>
        </p:nvSpPr>
        <p:spPr>
          <a:xfrm>
            <a:off x="460080" y="1400040"/>
            <a:ext cx="3899520" cy="334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500" b="1" u="none" strike="noStrike">
                <a:solidFill>
                  <a:srgbClr val="0F172A"/>
                </a:solidFill>
                <a:effectLst/>
                <a:uFillTx/>
                <a:latin typeface="Google Sans Flex SemiBold"/>
              </a:rPr>
              <a:t>Project Impact &amp; Vision</a:t>
            </a:r>
            <a:endParaRPr lang="en-GB" sz="1500" b="0" u="none" strike="noStrike">
              <a:solidFill>
                <a:srgbClr val="000000"/>
              </a:solidFill>
              <a:effectLst/>
              <a:uFillTx/>
              <a:latin typeface="Arial"/>
            </a:endParaRPr>
          </a:p>
          <a:p>
            <a:pPr>
              <a:lnSpc>
                <a:spcPct val="100000"/>
              </a:lnSpc>
              <a:spcAft>
                <a:spcPts val="499"/>
              </a:spcAft>
            </a:pPr>
            <a:r>
              <a:rPr lang="en-GB" sz="1100" b="1" u="none" strike="noStrike">
                <a:solidFill>
                  <a:srgbClr val="4F46E5"/>
                </a:solidFill>
                <a:effectLst/>
                <a:uFillTx/>
                <a:latin typeface="Google Sans Flex SemiBold"/>
              </a:rPr>
              <a:t>• Redefining Regional HR: </a:t>
            </a:r>
            <a:r>
              <a:rPr lang="en-GB" sz="1050" b="0" u="none" strike="noStrike">
                <a:solidFill>
                  <a:srgbClr val="1E293B"/>
                </a:solidFill>
                <a:effectLst/>
                <a:uFillTx/>
                <a:latin typeface="Google Sans Flex"/>
              </a:rPr>
              <a:t>Milestone bridges the cultural, linguistic, and operational divide across distributed Asia-Pacific teams.</a:t>
            </a:r>
            <a:endParaRPr lang="en-GB" sz="1050" b="0" u="none" strike="noStrike">
              <a:solidFill>
                <a:srgbClr val="000000"/>
              </a:solidFill>
              <a:effectLst/>
              <a:uFillTx/>
              <a:latin typeface="Arial"/>
            </a:endParaRPr>
          </a:p>
          <a:p>
            <a:pPr>
              <a:lnSpc>
                <a:spcPct val="100000"/>
              </a:lnSpc>
              <a:spcAft>
                <a:spcPts val="499"/>
              </a:spcAft>
            </a:pPr>
            <a:r>
              <a:rPr lang="en-GB" sz="1100" b="1" u="none" strike="noStrike">
                <a:solidFill>
                  <a:srgbClr val="4F46E5"/>
                </a:solidFill>
                <a:effectLst/>
                <a:uFillTx/>
                <a:latin typeface="Google Sans Flex SemiBold"/>
              </a:rPr>
              <a:t>• Zero-Touch Autonomous Execution: </a:t>
            </a:r>
            <a:r>
              <a:rPr lang="en-GB" sz="1050" b="0" u="none" strike="noStrike">
                <a:solidFill>
                  <a:srgbClr val="1E293B"/>
                </a:solidFill>
                <a:effectLst/>
                <a:uFillTx/>
                <a:latin typeface="Google Sans Flex"/>
              </a:rPr>
              <a:t>Combines Google Gemini 2.5 Flash intelligence with daily serverless cron to eliminate manual administrative friction.</a:t>
            </a:r>
            <a:endParaRPr lang="en-GB" sz="1050" b="0" u="none" strike="noStrike">
              <a:solidFill>
                <a:srgbClr val="000000"/>
              </a:solidFill>
              <a:effectLst/>
              <a:uFillTx/>
              <a:latin typeface="Arial"/>
            </a:endParaRPr>
          </a:p>
          <a:p>
            <a:pPr>
              <a:lnSpc>
                <a:spcPct val="100000"/>
              </a:lnSpc>
              <a:spcAft>
                <a:spcPts val="499"/>
              </a:spcAft>
            </a:pPr>
            <a:r>
              <a:rPr lang="en-GB" sz="1100" b="1" u="none" strike="noStrike">
                <a:solidFill>
                  <a:srgbClr val="4F46E5"/>
                </a:solidFill>
                <a:effectLst/>
                <a:uFillTx/>
                <a:latin typeface="Google Sans Flex SemiBold"/>
              </a:rPr>
              <a:t>• Regional Fintech Innovation: </a:t>
            </a:r>
            <a:r>
              <a:rPr lang="en-GB" sz="1050" b="0" u="none" strike="noStrike">
                <a:solidFill>
                  <a:srgbClr val="1E293B"/>
                </a:solidFill>
                <a:effectLst/>
                <a:uFillTx/>
                <a:latin typeface="Google Sans Flex"/>
              </a:rPr>
              <a:t>Pioneers on-device computer vision OCR for Southeast Asian mobile wallets, enabling instant self-service upgrades at $0 API cost.</a:t>
            </a:r>
            <a:endParaRPr lang="en-GB" sz="1050" b="0" u="none" strike="noStrike">
              <a:solidFill>
                <a:srgbClr val="000000"/>
              </a:solidFill>
              <a:effectLst/>
              <a:uFillTx/>
              <a:latin typeface="Arial"/>
            </a:endParaRPr>
          </a:p>
          <a:p>
            <a:pPr>
              <a:lnSpc>
                <a:spcPct val="100000"/>
              </a:lnSpc>
              <a:spcAft>
                <a:spcPts val="499"/>
              </a:spcAft>
            </a:pPr>
            <a:r>
              <a:rPr lang="en-GB" sz="1100" b="1" u="none" strike="noStrike">
                <a:solidFill>
                  <a:srgbClr val="4F46E5"/>
                </a:solidFill>
                <a:effectLst/>
                <a:uFillTx/>
                <a:latin typeface="Google Sans Flex SemiBold"/>
              </a:rPr>
              <a:t>• Production-Ready Performance: </a:t>
            </a:r>
            <a:r>
              <a:rPr lang="en-GB" sz="1050" b="0" u="none" strike="noStrike">
                <a:solidFill>
                  <a:srgbClr val="1E293B"/>
                </a:solidFill>
                <a:effectLst/>
                <a:uFillTx/>
                <a:latin typeface="Google Sans Flex"/>
              </a:rPr>
              <a:t>Optimized 366 kB entry bundle, 60 FPS WebGL 3D globe, and 100% offline-resilient demo architecture.</a:t>
            </a:r>
            <a:endParaRPr lang="en-GB" sz="1050" b="0" u="none" strike="noStrike">
              <a:solidFill>
                <a:srgbClr val="000000"/>
              </a:solidFill>
              <a:effectLst/>
              <a:uFillTx/>
              <a:latin typeface="Arial"/>
            </a:endParaRPr>
          </a:p>
        </p:txBody>
      </p:sp>
      <p:sp>
        <p:nvSpPr>
          <p:cNvPr id="214" name="Rounded Rectangle 85"/>
          <p:cNvSpPr/>
          <p:nvPr/>
        </p:nvSpPr>
        <p:spPr>
          <a:xfrm>
            <a:off x="4683960" y="1299960"/>
            <a:ext cx="4099680" cy="3549600"/>
          </a:xfrm>
          <a:prstGeom prst="roundRect">
            <a:avLst>
              <a:gd name="adj" fmla="val 16667"/>
            </a:avLst>
          </a:prstGeom>
          <a:solidFill>
            <a:srgbClr val="FFFFFF"/>
          </a:solidFill>
          <a:ln w="15240">
            <a:solidFill>
              <a:srgbClr val="E2E8F0"/>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GB" sz="1800" b="0" u="none" strike="noStrike">
              <a:solidFill>
                <a:schemeClr val="lt1"/>
              </a:solidFill>
              <a:effectLst/>
              <a:uFillTx/>
              <a:latin typeface="Arial"/>
            </a:endParaRPr>
          </a:p>
        </p:txBody>
      </p:sp>
      <p:sp>
        <p:nvSpPr>
          <p:cNvPr id="215" name="TextBox 86"/>
          <p:cNvSpPr/>
          <p:nvPr/>
        </p:nvSpPr>
        <p:spPr>
          <a:xfrm>
            <a:off x="4784040" y="1400040"/>
            <a:ext cx="3899520" cy="3349800"/>
          </a:xfrm>
          <a:prstGeom prst="rect">
            <a:avLst/>
          </a:prstGeom>
          <a:noFill/>
          <a:ln w="0">
            <a:noFill/>
          </a:ln>
        </p:spPr>
        <p:style>
          <a:lnRef idx="0"/>
          <a:fillRef idx="0"/>
          <a:effectRef idx="0"/>
          <a:fontRef idx="minor"/>
        </p:style>
        <p:txBody>
          <a:bodyPr lIns="76320" tIns="76320" rIns="76320" bIns="76320" anchor="t">
            <a:spAutoFit/>
          </a:bodyPr>
          <a:p>
            <a:pPr>
              <a:lnSpc>
                <a:spcPct val="100000"/>
              </a:lnSpc>
              <a:spcAft>
                <a:spcPts val="601"/>
              </a:spcAft>
            </a:pPr>
            <a:r>
              <a:rPr lang="en-GB" sz="1500" b="1" u="none" strike="noStrike">
                <a:solidFill>
                  <a:srgbClr val="0F172A"/>
                </a:solidFill>
                <a:effectLst/>
                <a:uFillTx/>
                <a:latin typeface="Google Sans Flex SemiBold"/>
              </a:rPr>
              <a:t>Core Contributors &amp; AI Collaborator</a:t>
            </a:r>
            <a:endParaRPr lang="en-GB" sz="1500" b="0" u="none" strike="noStrike">
              <a:solidFill>
                <a:srgbClr val="000000"/>
              </a:solidFill>
              <a:effectLst/>
              <a:uFillTx/>
              <a:latin typeface="Arial"/>
            </a:endParaRPr>
          </a:p>
          <a:p>
            <a:pPr>
              <a:lnSpc>
                <a:spcPct val="100000"/>
              </a:lnSpc>
              <a:spcAft>
                <a:spcPts val="400"/>
              </a:spcAft>
            </a:pPr>
            <a:r>
              <a:rPr lang="en-GB" sz="1100" b="1" u="none" strike="noStrike">
                <a:solidFill>
                  <a:srgbClr val="0F172A"/>
                </a:solidFill>
                <a:effectLst/>
                <a:uFillTx/>
                <a:latin typeface="Google Sans Flex SemiBold"/>
              </a:rPr>
              <a:t>👤 Htet Aung Hlaing — </a:t>
            </a:r>
            <a:r>
              <a:rPr lang="en-GB" sz="1000" b="0" u="none" strike="noStrike">
                <a:solidFill>
                  <a:srgbClr val="64748B"/>
                </a:solidFill>
                <a:effectLst/>
                <a:uFillTx/>
                <a:latin typeface="Google Sans Flex"/>
              </a:rPr>
              <a:t>Lead Architect &amp; Full-Stack Developer (@vibecode-ting)</a:t>
            </a:r>
            <a:endParaRPr lang="en-GB" sz="1000" b="0" u="none" strike="noStrike">
              <a:solidFill>
                <a:srgbClr val="000000"/>
              </a:solidFill>
              <a:effectLst/>
              <a:uFillTx/>
              <a:latin typeface="Arial"/>
            </a:endParaRPr>
          </a:p>
          <a:p>
            <a:pPr>
              <a:lnSpc>
                <a:spcPct val="100000"/>
              </a:lnSpc>
              <a:spcAft>
                <a:spcPts val="400"/>
              </a:spcAft>
            </a:pPr>
            <a:r>
              <a:rPr lang="en-GB" sz="1100" b="1" u="none" strike="noStrike">
                <a:solidFill>
                  <a:srgbClr val="0F172A"/>
                </a:solidFill>
                <a:effectLst/>
                <a:uFillTx/>
                <a:latin typeface="Google Sans Flex SemiBold"/>
              </a:rPr>
              <a:t>👤 Myo Set Paing — </a:t>
            </a:r>
            <a:r>
              <a:rPr lang="en-GB" sz="1000" b="0" u="none" strike="noStrike">
                <a:solidFill>
                  <a:srgbClr val="64748B"/>
                </a:solidFill>
                <a:effectLst/>
                <a:uFillTx/>
                <a:latin typeface="Google Sans Flex"/>
              </a:rPr>
              <a:t>Core Contributor &amp; UI/UX Specialist (@Mark3172)</a:t>
            </a:r>
            <a:endParaRPr lang="en-GB" sz="1000" b="0" u="none" strike="noStrike">
              <a:solidFill>
                <a:srgbClr val="000000"/>
              </a:solidFill>
              <a:effectLst/>
              <a:uFillTx/>
              <a:latin typeface="Arial"/>
            </a:endParaRPr>
          </a:p>
          <a:p>
            <a:pPr>
              <a:lnSpc>
                <a:spcPct val="100000"/>
              </a:lnSpc>
              <a:spcAft>
                <a:spcPts val="400"/>
              </a:spcAft>
            </a:pPr>
            <a:r>
              <a:rPr lang="en-GB" sz="1100" b="1" u="none" strike="noStrike">
                <a:solidFill>
                  <a:srgbClr val="0F172A"/>
                </a:solidFill>
                <a:effectLst/>
                <a:uFillTx/>
                <a:latin typeface="Google Sans Flex SemiBold"/>
              </a:rPr>
              <a:t>👤 Ko Htun — </a:t>
            </a:r>
            <a:r>
              <a:rPr lang="en-GB" sz="1000" b="0" u="none" strike="noStrike">
                <a:solidFill>
                  <a:srgbClr val="64748B"/>
                </a:solidFill>
                <a:effectLst/>
                <a:uFillTx/>
                <a:latin typeface="Google Sans Flex"/>
              </a:rPr>
              <a:t>DevOps &amp; Cloud Emulator Lead (@kohtun386)</a:t>
            </a:r>
            <a:endParaRPr lang="en-GB" sz="1000" b="0" u="none" strike="noStrike">
              <a:solidFill>
                <a:srgbClr val="000000"/>
              </a:solidFill>
              <a:effectLst/>
              <a:uFillTx/>
              <a:latin typeface="Arial"/>
            </a:endParaRPr>
          </a:p>
          <a:p>
            <a:pPr>
              <a:lnSpc>
                <a:spcPct val="100000"/>
              </a:lnSpc>
              <a:spcAft>
                <a:spcPts val="400"/>
              </a:spcAft>
            </a:pPr>
            <a:r>
              <a:rPr lang="en-GB" sz="1100" b="1" u="none" strike="noStrike">
                <a:solidFill>
                  <a:srgbClr val="0F172A"/>
                </a:solidFill>
                <a:effectLst/>
                <a:uFillTx/>
                <a:latin typeface="Google Sans Flex SemiBold"/>
              </a:rPr>
              <a:t>👤 Google Gemini — </a:t>
            </a:r>
            <a:r>
              <a:rPr lang="en-GB" sz="1000" b="0" u="none" strike="noStrike">
                <a:solidFill>
                  <a:srgbClr val="64748B"/>
                </a:solidFill>
                <a:effectLst/>
                <a:uFillTx/>
                <a:latin typeface="Google Sans Flex"/>
              </a:rPr>
              <a:t>AI Co-Author &amp; Multimodal Copilot (DeepMind / Google Cloud)</a:t>
            </a:r>
            <a:endParaRPr lang="en-GB" sz="1000" b="0" u="none" strike="noStrike">
              <a:solidFill>
                <a:srgbClr val="000000"/>
              </a:solidFill>
              <a:effectLst/>
              <a:uFillTx/>
              <a:latin typeface="Arial"/>
            </a:endParaRPr>
          </a:p>
          <a:p>
            <a:pPr>
              <a:lnSpc>
                <a:spcPct val="100000"/>
              </a:lnSpc>
              <a:spcBef>
                <a:spcPts val="799"/>
              </a:spcBef>
            </a:pPr>
            <a:r>
              <a:rPr lang="en-GB" sz="1050" b="0" u="none" strike="noStrike">
                <a:solidFill>
                  <a:srgbClr val="4F46E5"/>
                </a:solidFill>
                <a:effectLst/>
                <a:uFillTx/>
                <a:latin typeface="Google Sans Flex"/>
              </a:rPr>
              <a:t>Special thanks to the Google Cloud AI Builder Cup 2026 organizers, mentors, and judges for the opportunity to build the future of enterprise recognition!</a:t>
            </a:r>
            <a:endParaRPr lang="en-GB"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Google Shape;171;p28"/>
          <p:cNvPicPr/>
          <p:nvPr/>
        </p:nvPicPr>
        <p:blipFill>
          <a:blip r:embed="rId1"/>
          <a:srcRect l="0" t="0" r="0" b="97970"/>
          <a:stretch/>
        </p:blipFill>
        <p:spPr>
          <a:xfrm>
            <a:off x="0" y="5093640"/>
            <a:ext cx="9143280" cy="53640"/>
          </a:xfrm>
          <a:prstGeom prst="rect">
            <a:avLst/>
          </a:prstGeom>
          <a:noFill/>
          <a:ln w="0">
            <a:noFill/>
          </a:ln>
        </p:spPr>
      </p:pic>
      <p:pic>
        <p:nvPicPr>
          <p:cNvPr id="217" name="Google Shape;172;p28"/>
          <p:cNvPicPr/>
          <p:nvPr/>
        </p:nvPicPr>
        <p:blipFill>
          <a:blip r:embed="rId2"/>
          <a:stretch/>
        </p:blipFill>
        <p:spPr>
          <a:xfrm>
            <a:off x="0" y="0"/>
            <a:ext cx="9143280" cy="51429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LibreOffice/26.2.6.3$Windows_X86_64 LibreOffice_project/8221e31b3ac356a1623c672912a3d2b492f7e3d1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dcterms:modified xsi:type="dcterms:W3CDTF">2026-10-18T17:07:18Z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